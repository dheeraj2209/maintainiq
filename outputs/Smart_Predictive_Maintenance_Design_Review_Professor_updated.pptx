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39e2183065a46d3" /><Relationship Type="http://schemas.openxmlformats.org/officeDocument/2006/relationships/extended-properties" Target="/docProps/app.xml" Id="Rf64238cfa32d426a" /><Relationship Type="http://schemas.openxmlformats.org/officeDocument/2006/relationships/officeDocument" Target="/ppt/presentation.xml" Id="R17b914adc7174d2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3a97a38015c4c40"/>
  </p:sldMasterIdLst>
  <p:notesMasterIdLst>
    <p:notesMasterId xmlns:r="http://schemas.openxmlformats.org/officeDocument/2006/relationships" r:id="R453789a3e7154063"/>
  </p:notesMasterIdLst>
  <p:sldIdLst>
    <p:sldId xmlns:r="http://schemas.openxmlformats.org/officeDocument/2006/relationships" id="256" r:id="R9b33ac944a4247c9"/>
    <p:sldId xmlns:r="http://schemas.openxmlformats.org/officeDocument/2006/relationships" id="257" r:id="Rdecc84e2e65448eb"/>
    <p:sldId xmlns:r="http://schemas.openxmlformats.org/officeDocument/2006/relationships" id="258" r:id="Ra94faca765ae4e1b"/>
    <p:sldId xmlns:r="http://schemas.openxmlformats.org/officeDocument/2006/relationships" id="259" r:id="R45c0cc789fdd45cf"/>
    <p:sldId xmlns:r="http://schemas.openxmlformats.org/officeDocument/2006/relationships" id="260" r:id="R65ad757f0b1e4cec"/>
    <p:sldId xmlns:r="http://schemas.openxmlformats.org/officeDocument/2006/relationships" id="261" r:id="R34a2ef949f4946ae"/>
    <p:sldId xmlns:r="http://schemas.openxmlformats.org/officeDocument/2006/relationships" id="262" r:id="R7a550a3235f649ee"/>
    <p:sldId xmlns:r="http://schemas.openxmlformats.org/officeDocument/2006/relationships" id="263" r:id="R405db02d3a4a4eb6"/>
    <p:sldId xmlns:r="http://schemas.openxmlformats.org/officeDocument/2006/relationships" id="264" r:id="R23174a29aeb0444b"/>
    <p:sldId xmlns:r="http://schemas.openxmlformats.org/officeDocument/2006/relationships" id="265" r:id="R8d35a03169ba4ac9"/>
    <p:sldId xmlns:r="http://schemas.openxmlformats.org/officeDocument/2006/relationships" id="266" r:id="R32c6f4b240924e6f"/>
    <p:sldId xmlns:r="http://schemas.openxmlformats.org/officeDocument/2006/relationships" id="267" r:id="Rf25689bad9554069"/>
    <p:sldId xmlns:r="http://schemas.openxmlformats.org/officeDocument/2006/relationships" id="268" r:id="Rcb58564c278942d9"/>
    <p:sldId xmlns:r="http://schemas.openxmlformats.org/officeDocument/2006/relationships" id="269" r:id="Re9815dd562e7463a"/>
    <p:sldId xmlns:r="http://schemas.openxmlformats.org/officeDocument/2006/relationships" id="270" r:id="Rfdfde36e523c4caf"/>
    <p:sldId xmlns:r="http://schemas.openxmlformats.org/officeDocument/2006/relationships" id="271" r:id="R0d0f397d12c14a21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73f84b4b2524e65" /><Relationship Type="http://schemas.openxmlformats.org/officeDocument/2006/relationships/slideMaster" Target="/ppt/slideMasters/slideMaster1.xml" Id="Re3a97a38015c4c40" /><Relationship Type="http://schemas.openxmlformats.org/officeDocument/2006/relationships/notesMaster" Target="/ppt/notesMasters/notesMaster1.xml" Id="R453789a3e7154063" /><Relationship Type="http://schemas.openxmlformats.org/officeDocument/2006/relationships/presProps" Target="/ppt/presProps.xml" Id="Rdfb9923375994eb2" /><Relationship Type="http://schemas.openxmlformats.org/officeDocument/2006/relationships/tableStyles" Target="/ppt/tableStyles.xml" Id="R4a3d6a3911cf4bc2" /><Relationship Type="http://schemas.openxmlformats.org/officeDocument/2006/relationships/slide" Target="/ppt/slides/slide1.xml" Id="R9b33ac944a4247c9" /><Relationship Type="http://schemas.openxmlformats.org/officeDocument/2006/relationships/slide" Target="/ppt/slides/slide2.xml" Id="Rdecc84e2e65448eb" /><Relationship Type="http://schemas.openxmlformats.org/officeDocument/2006/relationships/slide" Target="/ppt/slides/slide3.xml" Id="Ra94faca765ae4e1b" /><Relationship Type="http://schemas.openxmlformats.org/officeDocument/2006/relationships/slide" Target="/ppt/slides/slide4.xml" Id="R45c0cc789fdd45cf" /><Relationship Type="http://schemas.openxmlformats.org/officeDocument/2006/relationships/slide" Target="/ppt/slides/slide5.xml" Id="R65ad757f0b1e4cec" /><Relationship Type="http://schemas.openxmlformats.org/officeDocument/2006/relationships/slide" Target="/ppt/slides/slide6.xml" Id="R34a2ef949f4946ae" /><Relationship Type="http://schemas.openxmlformats.org/officeDocument/2006/relationships/slide" Target="/ppt/slides/slide7.xml" Id="R7a550a3235f649ee" /><Relationship Type="http://schemas.openxmlformats.org/officeDocument/2006/relationships/slide" Target="/ppt/slides/slide8.xml" Id="R405db02d3a4a4eb6" /><Relationship Type="http://schemas.openxmlformats.org/officeDocument/2006/relationships/slide" Target="/ppt/slides/slide9.xml" Id="R23174a29aeb0444b" /><Relationship Type="http://schemas.openxmlformats.org/officeDocument/2006/relationships/slide" Target="/ppt/slides/slide10.xml" Id="R8d35a03169ba4ac9" /><Relationship Type="http://schemas.openxmlformats.org/officeDocument/2006/relationships/slide" Target="/ppt/slides/slide11.xml" Id="R32c6f4b240924e6f" /><Relationship Type="http://schemas.openxmlformats.org/officeDocument/2006/relationships/slide" Target="/ppt/slides/slide12.xml" Id="Rf25689bad9554069" /><Relationship Type="http://schemas.openxmlformats.org/officeDocument/2006/relationships/slide" Target="/ppt/slides/slide13.xml" Id="Rcb58564c278942d9" /><Relationship Type="http://schemas.openxmlformats.org/officeDocument/2006/relationships/slide" Target="/ppt/slides/slide14.xml" Id="Re9815dd562e7463a" /><Relationship Type="http://schemas.openxmlformats.org/officeDocument/2006/relationships/slide" Target="/ppt/slides/slide15.xml" Id="Rfdfde36e523c4caf" /><Relationship Type="http://schemas.openxmlformats.org/officeDocument/2006/relationships/slide" Target="/ppt/slides/slide16.xml" Id="R0d0f397d12c14a2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69f879029f842c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68b9293c5044d15" /><Relationship Type="http://schemas.openxmlformats.org/officeDocument/2006/relationships/notesMaster" Target="/ppt/notesMasters/notesMaster1.xml" Id="R2f1ae6c137264a0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3d14b938c8346c6" /><Relationship Type="http://schemas.openxmlformats.org/officeDocument/2006/relationships/notesMaster" Target="/ppt/notesMasters/notesMaster1.xml" Id="R9607116f52ab4ec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da0053ce5774afe" /><Relationship Type="http://schemas.openxmlformats.org/officeDocument/2006/relationships/notesMaster" Target="/ppt/notesMasters/notesMaster1.xml" Id="Rd811d871460f466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b5959c801d5415a" /><Relationship Type="http://schemas.openxmlformats.org/officeDocument/2006/relationships/notesMaster" Target="/ppt/notesMasters/notesMaster1.xml" Id="Re287780534f3413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06c2f7757ab411c" /><Relationship Type="http://schemas.openxmlformats.org/officeDocument/2006/relationships/notesMaster" Target="/ppt/notesMasters/notesMaster1.xml" Id="R0c256bdef34a424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bf9397ac9ea4a1e" /><Relationship Type="http://schemas.openxmlformats.org/officeDocument/2006/relationships/notesMaster" Target="/ppt/notesMasters/notesMaster1.xml" Id="Ref4366118f5c44c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71603e971924e75" /><Relationship Type="http://schemas.openxmlformats.org/officeDocument/2006/relationships/notesMaster" Target="/ppt/notesMasters/notesMaster1.xml" Id="Rd4fe6ba1a56d41d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362cd4167f64fc4" /><Relationship Type="http://schemas.openxmlformats.org/officeDocument/2006/relationships/notesMaster" Target="/ppt/notesMasters/notesMaster1.xml" Id="Rd9d5a820f8d64cf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246b2ed985a405d" /><Relationship Type="http://schemas.openxmlformats.org/officeDocument/2006/relationships/notesMaster" Target="/ppt/notesMasters/notesMaster1.xml" Id="R812dcc1765c6496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40de53b41ea49d4" /><Relationship Type="http://schemas.openxmlformats.org/officeDocument/2006/relationships/notesMaster" Target="/ppt/notesMasters/notesMaster1.xml" Id="Rd1c4c838d1c145d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cc719fb48cd455c" /><Relationship Type="http://schemas.openxmlformats.org/officeDocument/2006/relationships/notesMaster" Target="/ppt/notesMasters/notesMaster1.xml" Id="R6fd9d506b37c4df6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65a64372de144dbd" /><Relationship Type="http://schemas.openxmlformats.org/officeDocument/2006/relationships/notesMaster" Target="/ppt/notesMasters/notesMaster1.xml" Id="R8432e3bab5f243f6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9fd1d6c7d9fe43c9" /><Relationship Type="http://schemas.openxmlformats.org/officeDocument/2006/relationships/notesMaster" Target="/ppt/notesMasters/notesMaster1.xml" Id="R9387acfa21a34082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83ea529db1ac40cd" /><Relationship Type="http://schemas.openxmlformats.org/officeDocument/2006/relationships/notesMaster" Target="/ppt/notesMasters/notesMaster1.xml" Id="Rf1bfe6299fd8415a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412cda0ddace4b40" /><Relationship Type="http://schemas.openxmlformats.org/officeDocument/2006/relationships/notesMaster" Target="/ppt/notesMasters/notesMaster1.xml" Id="R3d7d765177d94b72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431cf34dba184455" /><Relationship Type="http://schemas.openxmlformats.org/officeDocument/2006/relationships/notesMaster" Target="/ppt/notesMasters/notesMaster1.xml" Id="Rae24a18a157748f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ad9fa3af6764a3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512817172ad4ed5" /><Relationship Type="http://schemas.openxmlformats.org/officeDocument/2006/relationships/slideLayout" Target="/ppt/slideLayouts/slideLayout1.xml" Id="R827da38f430d400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27da38f430d400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f9bd99a29c4e16" /><Relationship Type="http://schemas.openxmlformats.org/officeDocument/2006/relationships/image" Target="/ppt/media/image.png" Id="Rc6480b7e3fd34dc8" /><Relationship Type="http://schemas.openxmlformats.org/officeDocument/2006/relationships/notesSlide" Target="/ppt/notesSlides/notesSlide1.xml" Id="R281a4006ef344d8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699082260b43a6" /><Relationship Type="http://schemas.openxmlformats.org/officeDocument/2006/relationships/notesSlide" Target="/ppt/notesSlides/notesSlide2.xml" Id="R4f008b2c522a473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92e716f45c4b7c" /><Relationship Type="http://schemas.openxmlformats.org/officeDocument/2006/relationships/image" Target="/ppt/media/image2.png" Id="R2bf05636f0c8483a" /><Relationship Type="http://schemas.openxmlformats.org/officeDocument/2006/relationships/notesSlide" Target="/ppt/notesSlides/notesSlide3.xml" Id="R89466826b2704a7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e436a3e6b5432b" /><Relationship Type="http://schemas.openxmlformats.org/officeDocument/2006/relationships/notesSlide" Target="/ppt/notesSlides/notesSlide4.xml" Id="Rc676846129644f6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f04db54cea4c6d" /><Relationship Type="http://schemas.openxmlformats.org/officeDocument/2006/relationships/notesSlide" Target="/ppt/notesSlides/notesSlide5.xml" Id="R227c438b31434fb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696458f58c47f3" /><Relationship Type="http://schemas.openxmlformats.org/officeDocument/2006/relationships/notesSlide" Target="/ppt/notesSlides/notesSlide6.xml" Id="Rbee30dcddbf849d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d733bff8904cc5" /><Relationship Type="http://schemas.openxmlformats.org/officeDocument/2006/relationships/image" Target="/ppt/media/image3.png" Id="R57f29fb9c9494915" /><Relationship Type="http://schemas.openxmlformats.org/officeDocument/2006/relationships/notesSlide" Target="/ppt/notesSlides/notesSlide7.xml" Id="Rb5dd77b9a3c2476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979a1da5344e19" /><Relationship Type="http://schemas.openxmlformats.org/officeDocument/2006/relationships/image" Target="/ppt/media/image4.png" Id="Re3f5edba041c4f46" /><Relationship Type="http://schemas.openxmlformats.org/officeDocument/2006/relationships/notesSlide" Target="/ppt/notesSlides/notesSlide8.xml" Id="Re6b1aaac11cd4b1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e779ef8c7d4d60" /><Relationship Type="http://schemas.openxmlformats.org/officeDocument/2006/relationships/image" Target="/ppt/media/image5.png" Id="Rb4e320631c084145" /><Relationship Type="http://schemas.openxmlformats.org/officeDocument/2006/relationships/notesSlide" Target="/ppt/notesSlides/notesSlide9.xml" Id="Rc017d15b839f41d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c589a2e5ad4e4e" /><Relationship Type="http://schemas.openxmlformats.org/officeDocument/2006/relationships/image" Target="/ppt/media/image6.png" Id="Rc4f44df820c64970" /><Relationship Type="http://schemas.openxmlformats.org/officeDocument/2006/relationships/notesSlide" Target="/ppt/notesSlides/notesSlide10.xml" Id="Rf285aaf7f153400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b0a2b2cbb44a2a" /><Relationship Type="http://schemas.openxmlformats.org/officeDocument/2006/relationships/image" Target="/ppt/media/image7.png" Id="Ra6c82ba2fbbf4dbe" /><Relationship Type="http://schemas.openxmlformats.org/officeDocument/2006/relationships/notesSlide" Target="/ppt/notesSlides/notesSlide11.xml" Id="R3a4489bb8eaf4559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07302c97f345ca" /><Relationship Type="http://schemas.openxmlformats.org/officeDocument/2006/relationships/image" Target="/ppt/media/image8.png" Id="Re8d48aa937904f7d" /><Relationship Type="http://schemas.openxmlformats.org/officeDocument/2006/relationships/notesSlide" Target="/ppt/notesSlides/notesSlide12.xml" Id="R96933030d21f417f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651b9b7fe14c21" /><Relationship Type="http://schemas.openxmlformats.org/officeDocument/2006/relationships/image" Target="/ppt/media/image9.png" Id="R2b81e3781c1944a8" /><Relationship Type="http://schemas.openxmlformats.org/officeDocument/2006/relationships/notesSlide" Target="/ppt/notesSlides/notesSlide13.xml" Id="R3a8bca8bec7e4760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7a5a25e8e14636" /><Relationship Type="http://schemas.openxmlformats.org/officeDocument/2006/relationships/image" Target="/ppt/media/image10.png" Id="R7ef70fb61de8416a" /><Relationship Type="http://schemas.openxmlformats.org/officeDocument/2006/relationships/notesSlide" Target="/ppt/notesSlides/notesSlide14.xml" Id="Rc18647d90f6e4b44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3e8ddf17754588" /><Relationship Type="http://schemas.openxmlformats.org/officeDocument/2006/relationships/notesSlide" Target="/ppt/notesSlides/notesSlide15.xml" Id="Rf9f827deb7694cc8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151681b7534061" /><Relationship Type="http://schemas.openxmlformats.org/officeDocument/2006/relationships/notesSlide" Target="/ppt/notesSlides/notesSlide16.xml" Id="Rfced065abd254ea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9396F0D-82C1-4210-BDBA-9393A8A01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SMART PREDICTIVE MAINTENANCE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4F2DD6-2563-485D-B15F-4CE269DF9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24000"/>
            <a:ext cx="8191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42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Design review with professor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680234-A873-4D62-A52E-5FB4AFACE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95600"/>
            <a:ext cx="6667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Multi-sensor IoT system using vibration and temperature data to support maintenance decisions before machine failure.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82FB36-920C-47C8-9FC7-B9B19F61F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914400"/>
            <a:ext cx="33909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6480b7e3fd34dc8"/>
          <a:stretch xmlns:a="http://schemas.openxmlformats.org/drawingml/2006/main"/>
        </p:blipFill>
        <p:spPr>
          <a:xfrm xmlns:a="http://schemas.openxmlformats.org/drawingml/2006/main">
            <a:off x="8210550" y="1984798"/>
            <a:ext cx="2971800" cy="2335955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F0FAF0-A4A4-49B2-9E34-09068A9E4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705350"/>
            <a:ext cx="6438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CC0422E-F352-4741-A350-EAF0C5502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029200"/>
            <a:ext cx="819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Meeting goal: choose sensors, protocol, design scope, and immediate next steps.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B2C51D8-2462-4ED4-86E2-F5D6466C8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6270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8B909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8B9099"/>
                </a:solidFill>
                <a:latin typeface="Helvetica Neue"/>
                <a:ea typeface="Helvetica Neue"/>
                <a:cs typeface="Helvetica Neue"/>
              </a:rPr>
              <a:t>Design review draft | Smart predictive maintenance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C676513-95F4-4BA7-91A7-C50156AA1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3436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8B909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8B9099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56799686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9FDEDC8-27EA-4788-A249-4C6F61FC4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REVIEW FRAME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B51DAB-95E5-4C17-85E7-64081FC3C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03632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What we need help deciding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1284DC-CB31-479C-AC55-33C3B2BB3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52550"/>
            <a:ext cx="8382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Use the diagrams as a working design, then decide what is realistic for the prototype.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423893-4A25-4D61-8203-60493BE02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907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5A2697-243E-49B9-8C7E-D2CBAD653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24100"/>
            <a:ext cx="3390900" cy="2343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355762-3DB8-4722-A22A-CD316AB67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533650"/>
            <a:ext cx="762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84A9A9-0E96-4001-8572-DA138A0E0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105150"/>
            <a:ext cx="2895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Sensor choices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011130-C32F-4440-B1BF-8ED9638EF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619500"/>
            <a:ext cx="2857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Temperature: DS18B20 vs thermocouple. Vibration: ADXL345 vs MPU6050 vs industrial piezo.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238421D-0A04-4F41-AB5B-85766C5F8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324100"/>
            <a:ext cx="3390900" cy="2343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B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CFC52AF-2ED3-4F1E-9121-B507649DD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533650"/>
            <a:ext cx="762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596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59669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9BEFD30-B0C4-453F-83EB-50D7641A4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105150"/>
            <a:ext cx="2895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Communication path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9CFAC30-E6F7-4294-9DD9-5612F113B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619500"/>
            <a:ext cx="2857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Start with MQTT over Wi-Fi, keep Serial for debugging, consider RS485/Modbus as future industrial path.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6D305A8-BFFA-4D4E-948E-3DA6E6628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324100"/>
            <a:ext cx="3390900" cy="2343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6F1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95E25D3-EA39-4B0F-9BF9-E68FA0CC9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533650"/>
            <a:ext cx="762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F6B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FF6B35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0973929-50AE-4198-9DC1-A7D265D30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105150"/>
            <a:ext cx="2895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Prototype scope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DEA8FA1-3E49-4337-BDB1-493C013ED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619500"/>
            <a:ext cx="2857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Decide whether first demo uses real hardware, stored datasets, or both with a simple dashboard/report.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8502F23-3EF6-4D2A-A001-375E1EE2B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19700"/>
            <a:ext cx="4095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Expected output of the meeting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9F76A31-18AA-437A-8800-D4B7F32E9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219700"/>
            <a:ext cx="685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A frozen first-build architecture, a bill of materials direction, and a one-week implementation plan for data collection plus dashboard evidence.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079E12D-9EAD-4A17-BB6B-5F34B892C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6270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8B909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8B9099"/>
                </a:solidFill>
                <a:latin typeface="Helvetica Neue"/>
                <a:ea typeface="Helvetica Neue"/>
                <a:cs typeface="Helvetica Neue"/>
              </a:rPr>
              <a:t>Design review draft | Smart predictive maintenance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A7F9D79-DA35-4607-A09A-C527F5FAC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3436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8B909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8B9099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58237912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2BD36AA-F373-46D4-8668-891B8B71B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SCENARIO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E13824-3D4D-48C1-B5DC-5D0971DF9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03632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Factory floor concept: one node per machine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597287-1993-4E49-BF9A-832723553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52550"/>
            <a:ext cx="8382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The design scales by repeating the same ESP32 sensor node for each monitored asset.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2A01CD-7294-465B-9038-1BEC64590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907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bf05636f0c8483a"/>
          <a:stretch xmlns:a="http://schemas.openxmlformats.org/drawingml/2006/main"/>
        </p:blipFill>
        <p:spPr>
          <a:xfrm xmlns:a="http://schemas.openxmlformats.org/drawingml/2006/main">
            <a:off x="5308168" y="2095500"/>
            <a:ext cx="4871314" cy="38290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3C6BCF-0433-44E4-A1FD-7A2DC59A7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050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77310B-7966-4FEA-8CCF-42A2CEC6D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09800"/>
            <a:ext cx="2819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Each machine has local temperature and vibration sensing.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B20ADC-E168-4063-B67A-38CB5C4C1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03E0B48-1E92-4E30-B1D1-559364AA4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52750"/>
            <a:ext cx="2819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Each ESP32 publishes telemetry with machine identity.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1486189-F2FD-4347-8921-446DFBBFE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7909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0700B6F-095D-4692-8D3D-519EE38AD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95700"/>
            <a:ext cx="2819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Gateway/cloud stores trends and sends alert topics back.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CEA1117-5113-4572-9256-D86F2E697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339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6BFF08F-615F-46A1-A0ED-52047B722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38650"/>
            <a:ext cx="2819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Operator reviews alerts before planning inspection.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0E2F95E-7D09-4E9E-B9DB-C9F6C24D8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6270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8B909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8B9099"/>
                </a:solidFill>
                <a:latin typeface="Helvetica Neue"/>
                <a:ea typeface="Helvetica Neue"/>
                <a:cs typeface="Helvetica Neue"/>
              </a:rPr>
              <a:t>Design review draft | Smart predictive maintenance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7289665-3B0C-4D71-8093-C93187950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3436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8B909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8B9099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40173623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143FF45-40CA-4805-846A-AB33280D4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ESP32 ROLE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8B71BC-0538-40D6-802C-B7F391359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03632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Why ESP32 is used in the prototype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76E10F-B0D0-4507-9D0B-4C56262DC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52550"/>
            <a:ext cx="8382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ESP32 is the edge node: it sits near the machine, reads sensors, formats records, and publishes telemetry.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CF07D8-4BBF-4D45-92BB-295993D8E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907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31462D-7BE6-4C25-9CF6-B3521E76D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095500"/>
            <a:ext cx="4953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24F010-AC08-4839-9B81-1DF0A65CB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47900"/>
            <a:ext cx="4610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Sensor bridge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CE08C7-D4CB-4BD9-A0CD-2DB7AB034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47950"/>
            <a:ext cx="4610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Reads temperature and vibration sensors through simple digital buses such as 1-Wire, I2C, SPI, or UART.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B366550-6A2A-4979-8EB3-823022498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095500"/>
            <a:ext cx="4953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E6FA20A-6801-4F97-B372-60D574A9C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247900"/>
            <a:ext cx="4610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Machine identity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D0F827D-A209-4878-96F7-4979EF246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647950"/>
            <a:ext cx="4610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Adds machineId, nodeId, sensorId, timestamp, and sequence number before data leaves the machine area.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0D828C0-0DD5-41EB-960E-342727725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314700"/>
            <a:ext cx="4953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3EBBF87-49A4-4C8B-84DD-54FCA30D5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67100"/>
            <a:ext cx="4610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Connectivity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2363758-7002-44F8-930B-0AF6C2EB6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67150"/>
            <a:ext cx="4610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Uses built-in Wi-Fi to publish MQTT telemetry to the broker and receive machine-specific alert topics.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22D6A64-118A-4717-93E5-4DCB7D3E2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314700"/>
            <a:ext cx="4953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B4BE447-74DD-4C7F-98B8-237FAE04D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467100"/>
            <a:ext cx="4610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Local resilience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5683A2B-9F68-48BD-B958-B4E3281CD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867150"/>
            <a:ext cx="4610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Can buffer a few records during brief network loss and retry publishing when Wi-Fi/MQTT returns.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32B0219-962E-436F-BC89-A725E4146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533900"/>
            <a:ext cx="105727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6F1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8DB9208-1F7F-419C-8A73-B56E58597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86300"/>
            <a:ext cx="10229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6B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FF6B35"/>
                </a:solidFill>
                <a:latin typeface="Helvetica Neue"/>
                <a:ea typeface="Helvetica Neue"/>
                <a:cs typeface="Helvetica Neue"/>
              </a:rPr>
              <a:t>Debugging surface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1F8061F-CB17-467D-834E-940AEE657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6350"/>
            <a:ext cx="10229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USB serial logs reveal raw readings, payload formatting, Wi-Fi status, MQTT publish errors, and alert reception.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42795C7-9FB1-4335-A7EB-3470A858C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8293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Boundary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33DCB54-657B-4FDD-8366-E7E5A876C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5848350"/>
            <a:ext cx="762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ESP32 does not train the ML model. It mainly collects, tags, buffers, publishes, and optionally shows local alerts.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F38C1DC-13BF-4D49-8507-191F52D0B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6270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8B909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8B9099"/>
                </a:solidFill>
                <a:latin typeface="Helvetica Neue"/>
                <a:ea typeface="Helvetica Neue"/>
                <a:cs typeface="Helvetica Neue"/>
              </a:rPr>
              <a:t>Design review draft | Smart predictive maintenance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D5B9D97-EE23-458A-A758-FC7B4A559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3436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8B909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8B9099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79517484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9C92CFE-8116-4C7D-9E42-9A366F5DD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UPSTREAM CONTRACT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2459F0-1E5A-44FA-8CE9-512FC6BC0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03632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Expected MQTT telemetry format from ESP32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7337FE-C1E0-47C5-A8E7-79F66888E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52550"/>
            <a:ext cx="8382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This is the simple payload contract the backend listener should expect from factory/{machineId}/telemetry.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641CAF-1211-4290-9714-865B49ABE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907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74B3DA-EF59-4AD6-B71A-1A8E41EDE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50292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206661-10AB-4DA1-A8CC-F2FE74C78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8125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MQTT topic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59D674-0111-410A-8CB6-143431696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62250"/>
            <a:ext cx="400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factory/{machineId}/telemetry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70969B-19C1-4C71-8AB7-ED4468AD8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314700"/>
            <a:ext cx="42672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One message should represent one reading window or one compact batch. Keep the first prototype small: send features such as RMS/peak instead of large raw arrays unless we explicitly need raw waveform training data.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90924ED-48CE-4B12-B72E-370DD0CD9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667250"/>
            <a:ext cx="4095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Backend listener should validate required fields before storage or inference.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CA966BA-1197-4105-9E4A-068576F40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133600"/>
            <a:ext cx="5429250" cy="3486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4FB37F4-43CA-418B-9C94-6D42135D7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381250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Example JSON payload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2EFDDDF-FC7A-4939-BEDE-4FDB4A6EC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819400"/>
            <a:ext cx="4762500" cy="2514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111111"/>
                </a:solidFill>
                <a:latin typeface="Consolas"/>
                <a:ea typeface="Consolas"/>
                <a:cs typeface="Consolas"/>
              </a:rPr>
              <a:t>{</a:t>
            </a:r>
          </a:p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111111"/>
                </a:solidFill>
                <a:latin typeface="Consolas"/>
                <a:ea typeface="Consolas"/>
                <a:cs typeface="Consolas"/>
              </a:rPr>
              <a:t>  "machineId": "M1",</a:t>
            </a:r>
          </a:p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111111"/>
                </a:solidFill>
                <a:latin typeface="Consolas"/>
                <a:ea typeface="Consolas"/>
                <a:cs typeface="Consolas"/>
              </a:rPr>
              <a:t>  "nodeId": "esp32-m1",</a:t>
            </a:r>
          </a:p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111111"/>
                </a:solidFill>
                <a:latin typeface="Consolas"/>
                <a:ea typeface="Consolas"/>
                <a:cs typeface="Consolas"/>
              </a:rPr>
              <a:t>  "timestampUtc": "2026-06-30T10:20:15Z",</a:t>
            </a:r>
          </a:p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111111"/>
                </a:solidFill>
                <a:latin typeface="Consolas"/>
                <a:ea typeface="Consolas"/>
                <a:cs typeface="Consolas"/>
              </a:rPr>
              <a:t>  "sequence": 1284,</a:t>
            </a:r>
          </a:p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111111"/>
                </a:solidFill>
                <a:latin typeface="Consolas"/>
                <a:ea typeface="Consolas"/>
                <a:cs typeface="Consolas"/>
              </a:rPr>
              <a:t>  "temperatureC": 42.3,</a:t>
            </a:r>
          </a:p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111111"/>
                </a:solidFill>
                <a:latin typeface="Consolas"/>
                <a:ea typeface="Consolas"/>
                <a:cs typeface="Consolas"/>
              </a:rPr>
              <a:t>  "vibration": {</a:t>
            </a:r>
          </a:p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111111"/>
                </a:solidFill>
                <a:latin typeface="Consolas"/>
                <a:ea typeface="Consolas"/>
                <a:cs typeface="Consolas"/>
              </a:rPr>
              <a:t>    "rmsG": 0.18,</a:t>
            </a:r>
          </a:p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111111"/>
                </a:solidFill>
                <a:latin typeface="Consolas"/>
                <a:ea typeface="Consolas"/>
                <a:cs typeface="Consolas"/>
              </a:rPr>
              <a:t>    "peakG": 0.42,</a:t>
            </a:r>
          </a:p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111111"/>
                </a:solidFill>
                <a:latin typeface="Consolas"/>
                <a:ea typeface="Consolas"/>
                <a:cs typeface="Consolas"/>
              </a:rPr>
              <a:t>    "sampleWindowMs": 1000,</a:t>
            </a:r>
          </a:p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111111"/>
                </a:solidFill>
                <a:latin typeface="Consolas"/>
                <a:ea typeface="Consolas"/>
                <a:cs typeface="Consolas"/>
              </a:rPr>
              <a:t>    "sampleCount": 200</a:t>
            </a:r>
          </a:p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111111"/>
                </a:solidFill>
                <a:latin typeface="Consolas"/>
                <a:ea typeface="Consolas"/>
                <a:cs typeface="Consolas"/>
              </a:rPr>
              <a:t>  },</a:t>
            </a:r>
          </a:p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111111"/>
                </a:solidFill>
                <a:latin typeface="Consolas"/>
                <a:ea typeface="Consolas"/>
                <a:cs typeface="Consolas"/>
              </a:rPr>
              <a:t>  "status": {</a:t>
            </a:r>
          </a:p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111111"/>
                </a:solidFill>
                <a:latin typeface="Consolas"/>
                <a:ea typeface="Consolas"/>
                <a:cs typeface="Consolas"/>
              </a:rPr>
              <a:t>    "wifiRssiDbm": -58,</a:t>
            </a:r>
          </a:p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111111"/>
                </a:solidFill>
                <a:latin typeface="Consolas"/>
                <a:ea typeface="Consolas"/>
                <a:cs typeface="Consolas"/>
              </a:rPr>
              <a:t>    "firmware": "0.1.0"</a:t>
            </a:r>
          </a:p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111111"/>
                </a:solidFill>
                <a:latin typeface="Consolas"/>
                <a:ea typeface="Consolas"/>
                <a:cs typeface="Consolas"/>
              </a:rPr>
              <a:t>  }</a:t>
            </a:r>
          </a:p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111111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8C556D1-D8BE-4FED-B412-903C72882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867400"/>
            <a:ext cx="981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6B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F6B35"/>
                </a:solidFill>
                <a:latin typeface="Helvetica Neue"/>
                <a:ea typeface="Helvetica Neue"/>
                <a:cs typeface="Helvetica Neue"/>
              </a:rPr>
              <a:t>Minimum required fields: machineId, nodeId, timestampUtc, temperatureC, vibration.rmsG, sampleWindowMs, sampleCount.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F598DCA-FB00-4470-B3A8-E6CC5EA16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6270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8B909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8B9099"/>
                </a:solidFill>
                <a:latin typeface="Helvetica Neue"/>
                <a:ea typeface="Helvetica Neue"/>
                <a:cs typeface="Helvetica Neue"/>
              </a:rPr>
              <a:t>Design review draft | Smart predictive maintenance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4A3D67A-6DEF-466E-A14F-5DF18F2BA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3436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8B909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8B9099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59453523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C697B6B-2615-42E4-A8A8-629057327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ROW-LEVEL 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44E7D3-6482-46E4-A3AE-C4465BC6F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03632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How one raw reading becomes backend input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7608C8-7024-473C-85AD-C4742ED66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52550"/>
            <a:ext cx="8382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This slide follows one telemetry row until it reaches the first backend listener.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85209A-45D7-4E3A-B8B3-AD3E52BB5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907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873CF7-48F9-4B9F-837E-0E7EBBB59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533650"/>
            <a:ext cx="16192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3D8EBD-C09A-4D23-B1AA-0280C57D0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86050"/>
            <a:ext cx="1276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Machine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D7CBB6-1D82-44BB-8A30-8447AB944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86100"/>
            <a:ext cx="12763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Physical heat and vibration signal.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8E3007-5BC4-4ADE-AC92-2555BB180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162300"/>
            <a:ext cx="304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solidFill>
              <a:srgbClr val="FF6B3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02144C4-0BB9-49B5-ADE9-FEF858847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3067050"/>
            <a:ext cx="22860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solidFill>
              <a:srgbClr val="FF6B3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2A1AB23-8D93-4CEB-BC7B-3D1F9BB66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2533650"/>
            <a:ext cx="16192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2288BF2-A4F8-4C69-99AF-0CC2D7E5D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686050"/>
            <a:ext cx="1276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Sensors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6A0C230-172B-474B-B50B-ED4E960E3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086100"/>
            <a:ext cx="12763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Temperature and vibration readings.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5D14C5F-EDEE-4453-8042-AA36392DC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3162300"/>
            <a:ext cx="304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solidFill>
              <a:srgbClr val="FF6B3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CB8A7AB-9442-48CC-A8AB-1526A5FD7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3067050"/>
            <a:ext cx="22860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solidFill>
              <a:srgbClr val="FF6B3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7FA5D3C-701F-4AA8-8FE1-0A4428DE3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533650"/>
            <a:ext cx="16192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6F1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45C10AF-EB91-4808-932F-50D9AB667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686050"/>
            <a:ext cx="1276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6B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FF6B35"/>
                </a:solidFill>
                <a:latin typeface="Helvetica Neue"/>
                <a:ea typeface="Helvetica Neue"/>
                <a:cs typeface="Helvetica Neue"/>
              </a:rPr>
              <a:t>ESP32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5271B1F-249A-464B-800F-95D520B2F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086100"/>
            <a:ext cx="12763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Adds IDs, timestamp, sequence, and features.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0BE42BD-B07D-4853-9B8A-886975783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3162300"/>
            <a:ext cx="304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solidFill>
              <a:srgbClr val="FF6B3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1C1361B-4923-4E0B-968E-B64A5CE2C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3067050"/>
            <a:ext cx="22860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solidFill>
              <a:srgbClr val="FF6B3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383D83F-816B-4815-BE9E-F00FC4062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533650"/>
            <a:ext cx="16192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6F1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2DC27A2-93E2-414B-B228-E8E2E6B3F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686050"/>
            <a:ext cx="1276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6B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FF6B35"/>
                </a:solidFill>
                <a:latin typeface="Helvetica Neue"/>
                <a:ea typeface="Helvetica Neue"/>
                <a:cs typeface="Helvetica Neue"/>
              </a:rPr>
              <a:t>MQTT client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2282C47-5278-421F-9C35-2C7E3FBD4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086100"/>
            <a:ext cx="12763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Publishes JSON telemetry topic.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E7B9ADB-71F2-4720-BA22-018B79762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162300"/>
            <a:ext cx="304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solidFill>
              <a:srgbClr val="059669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BD0DEF1-076C-4AEA-8895-CDE9A958E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067050"/>
            <a:ext cx="22860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solidFill>
              <a:srgbClr val="059669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B8DF8F1-1479-45A9-8FE7-44B465D0A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533650"/>
            <a:ext cx="16192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B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59B510E-FAB5-4442-90D1-DBA0DC4B1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686050"/>
            <a:ext cx="1276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596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59669"/>
                </a:solidFill>
                <a:latin typeface="Helvetica Neue"/>
                <a:ea typeface="Helvetica Neue"/>
                <a:cs typeface="Helvetica Neue"/>
              </a:rPr>
              <a:t>Broker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A6916F7-5011-4E0B-98FA-70B139D74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086100"/>
            <a:ext cx="12763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Receives topic and routes message.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F85EBC2-2B1E-4007-8187-377E6C1BA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3162300"/>
            <a:ext cx="304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solidFill>
              <a:srgbClr val="059669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9243B2A-A96A-4863-A077-EC0E0DE3D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067050"/>
            <a:ext cx="22860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solidFill>
              <a:srgbClr val="059669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C23E150-9D68-40FF-A1AF-DBD203EF2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533650"/>
            <a:ext cx="16192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B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CE2EF7F-6309-4273-9BD3-B3F3D859E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2686050"/>
            <a:ext cx="1276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596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59669"/>
                </a:solidFill>
                <a:latin typeface="Helvetica Neue"/>
                <a:ea typeface="Helvetica Neue"/>
                <a:cs typeface="Helvetica Neue"/>
              </a:rPr>
              <a:t>Backend listener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2ED199D-33A9-4579-944A-8304A8A6C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3086100"/>
            <a:ext cx="12763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Validates schema and stores raw row.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A3ADBDD-3558-4E7B-BE5F-A95F1324F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52950"/>
            <a:ext cx="457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Example row expected by backend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141BCF9-CE3F-41E5-8AC3-3EC23A5AE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45910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Same fields can later become database columns or a normalized telemetry table.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572900B-C659-4762-887B-BC23CE754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010150"/>
            <a:ext cx="876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E910E64-DCE1-4657-9B1E-DCD8A433D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86350"/>
            <a:ext cx="76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machineId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2B8A471-5A9A-47EE-88D6-78095C420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334000"/>
            <a:ext cx="8763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DD9D96D-DC84-477C-B11C-6F0A761FD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29250"/>
            <a:ext cx="76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11111"/>
                </a:solidFill>
                <a:latin typeface="Consolas"/>
                <a:ea typeface="Consolas"/>
                <a:cs typeface="Consolas"/>
              </a:defRPr>
            </a:pPr>
            <a:r>
              <a:rPr sz="900" b="0">
                <a:solidFill>
                  <a:srgbClr val="111111"/>
                </a:solidFill>
                <a:latin typeface="Consolas"/>
                <a:ea typeface="Consolas"/>
                <a:cs typeface="Consolas"/>
              </a:rPr>
              <a:t>M1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0B48AD4-0EE8-4DB9-9446-5733E4491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010150"/>
            <a:ext cx="1047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76D66DC-CAB5-4FC7-BAD5-1E254A21A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5086350"/>
            <a:ext cx="933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nodeId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7E06090-B1DE-4383-A117-4AAA4F33E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334000"/>
            <a:ext cx="1047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1EE7CCA-57FC-492E-9B92-C944B0D2C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5429250"/>
            <a:ext cx="933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11111"/>
                </a:solidFill>
                <a:latin typeface="Consolas"/>
                <a:ea typeface="Consolas"/>
                <a:cs typeface="Consolas"/>
              </a:defRPr>
            </a:pPr>
            <a:r>
              <a:rPr sz="900" b="0">
                <a:solidFill>
                  <a:srgbClr val="111111"/>
                </a:solidFill>
                <a:latin typeface="Consolas"/>
                <a:ea typeface="Consolas"/>
                <a:cs typeface="Consolas"/>
              </a:rPr>
              <a:t>esp32-m1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DC9FD53-1B77-4575-B2BF-2AE8ADE1D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010150"/>
            <a:ext cx="1828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82D9C62-B071-4C09-B4DA-A5512DEFA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508635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timestampUtc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3FD6D4B3-D2D7-4768-A812-1A822EE18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334000"/>
            <a:ext cx="18288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7A700DF0-5F8E-4264-9472-B9C476F18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542925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11111"/>
                </a:solidFill>
                <a:latin typeface="Consolas"/>
                <a:ea typeface="Consolas"/>
                <a:cs typeface="Consolas"/>
              </a:defRPr>
            </a:pPr>
            <a:r>
              <a:rPr sz="900" b="0">
                <a:solidFill>
                  <a:srgbClr val="111111"/>
                </a:solidFill>
                <a:latin typeface="Consolas"/>
                <a:ea typeface="Consolas"/>
                <a:cs typeface="Consolas"/>
              </a:rPr>
              <a:t>2026-06-30T10:20:15Z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A209C0C1-EA66-4D8A-9119-F51099153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5010150"/>
            <a:ext cx="723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D2AE67D8-94BF-410C-BBE3-6787F70E2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5086350"/>
            <a:ext cx="609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sequence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82D834B2-197F-4F4D-83E9-C4ABBCE0D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5334000"/>
            <a:ext cx="7239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D255B32A-2D75-4794-AE66-FD047E6DA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5429250"/>
            <a:ext cx="609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11111"/>
                </a:solidFill>
                <a:latin typeface="Consolas"/>
                <a:ea typeface="Consolas"/>
                <a:cs typeface="Consolas"/>
              </a:defRPr>
            </a:pPr>
            <a:r>
              <a:rPr sz="900" b="0">
                <a:solidFill>
                  <a:srgbClr val="111111"/>
                </a:solidFill>
                <a:latin typeface="Consolas"/>
                <a:ea typeface="Consolas"/>
                <a:cs typeface="Consolas"/>
              </a:rPr>
              <a:t>1284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FB623239-D84B-49BC-BE7F-478D37571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5010150"/>
            <a:ext cx="9906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454B0FBE-5AEA-4D4D-BA42-03DCE7454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5086350"/>
            <a:ext cx="876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6B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FF6B35"/>
                </a:solidFill>
                <a:latin typeface="Helvetica Neue"/>
                <a:ea typeface="Helvetica Neue"/>
                <a:cs typeface="Helvetica Neue"/>
              </a:rPr>
              <a:t>tempC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B40885E6-8924-49AA-BE7F-91EB25066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5334000"/>
            <a:ext cx="990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2DFE8F78-D0A0-4DB4-B140-9521B3F47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5429250"/>
            <a:ext cx="876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11111"/>
                </a:solidFill>
                <a:latin typeface="Consolas"/>
                <a:ea typeface="Consolas"/>
                <a:cs typeface="Consolas"/>
              </a:defRPr>
            </a:pPr>
            <a:r>
              <a:rPr sz="900" b="0">
                <a:solidFill>
                  <a:srgbClr val="111111"/>
                </a:solidFill>
                <a:latin typeface="Consolas"/>
                <a:ea typeface="Consolas"/>
                <a:cs typeface="Consolas"/>
              </a:rPr>
              <a:t>42.3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587B2141-2BDE-4AC5-ABDC-7A7255B88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5010150"/>
            <a:ext cx="8191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A714E5B1-0479-4FFD-916B-97C8CC520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5086350"/>
            <a:ext cx="704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6B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FF6B35"/>
                </a:solidFill>
                <a:latin typeface="Helvetica Neue"/>
                <a:ea typeface="Helvetica Neue"/>
                <a:cs typeface="Helvetica Neue"/>
              </a:rPr>
              <a:t>rmsG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1A9A7627-3799-401D-B9FD-D9FD65B4D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5334000"/>
            <a:ext cx="8191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21431D3A-B75A-4FC1-A622-01122E386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5429250"/>
            <a:ext cx="704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11111"/>
                </a:solidFill>
                <a:latin typeface="Consolas"/>
                <a:ea typeface="Consolas"/>
                <a:cs typeface="Consolas"/>
              </a:defRPr>
            </a:pPr>
            <a:r>
              <a:rPr sz="900" b="0">
                <a:solidFill>
                  <a:srgbClr val="111111"/>
                </a:solidFill>
                <a:latin typeface="Consolas"/>
                <a:ea typeface="Consolas"/>
                <a:cs typeface="Consolas"/>
              </a:rPr>
              <a:t>0.18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63224D7C-FA76-41A1-8BBE-F3850596C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5010150"/>
            <a:ext cx="8191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F904E5BB-7ACB-4E0A-9E07-3643A307F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5086350"/>
            <a:ext cx="704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6B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FF6B35"/>
                </a:solidFill>
                <a:latin typeface="Helvetica Neue"/>
                <a:ea typeface="Helvetica Neue"/>
                <a:cs typeface="Helvetica Neue"/>
              </a:rPr>
              <a:t>peakG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C26A41F4-495C-4292-88A2-6FA1FB73C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5334000"/>
            <a:ext cx="8191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1789431E-9179-4364-A832-38D79878D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5429250"/>
            <a:ext cx="704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11111"/>
                </a:solidFill>
                <a:latin typeface="Consolas"/>
                <a:ea typeface="Consolas"/>
                <a:cs typeface="Consolas"/>
              </a:defRPr>
            </a:pPr>
            <a:r>
              <a:rPr sz="900" b="0">
                <a:solidFill>
                  <a:srgbClr val="111111"/>
                </a:solidFill>
                <a:latin typeface="Consolas"/>
                <a:ea typeface="Consolas"/>
                <a:cs typeface="Consolas"/>
              </a:rPr>
              <a:t>0.42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BDFA1DAC-454E-4EEC-91A0-CEE671D04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5010150"/>
            <a:ext cx="1162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4623C33C-74A5-4D5B-B860-A69E95837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5086350"/>
            <a:ext cx="1047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596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059669"/>
                </a:solidFill>
                <a:latin typeface="Helvetica Neue"/>
                <a:ea typeface="Helvetica Neue"/>
                <a:cs typeface="Helvetica Neue"/>
              </a:rPr>
              <a:t>windowMs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BF77039A-CB55-4165-851A-DF7DC755A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5334000"/>
            <a:ext cx="1162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517B7499-07C1-4FF6-ADC1-E28D5690F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5429250"/>
            <a:ext cx="1047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11111"/>
                </a:solidFill>
                <a:latin typeface="Consolas"/>
                <a:ea typeface="Consolas"/>
                <a:cs typeface="Consolas"/>
              </a:defRPr>
            </a:pPr>
            <a:r>
              <a:rPr sz="900" b="0">
                <a:solidFill>
                  <a:srgbClr val="111111"/>
                </a:solidFill>
                <a:latin typeface="Consolas"/>
                <a:ea typeface="Consolas"/>
                <a:cs typeface="Consolas"/>
              </a:rPr>
              <a:t>1000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8B32F950-A5B2-4FB5-A1CB-34E7A996A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5010150"/>
            <a:ext cx="12001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4088321F-9BC3-46AD-BC69-6CEDA8042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5086350"/>
            <a:ext cx="1085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596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059669"/>
                </a:solidFill>
                <a:latin typeface="Helvetica Neue"/>
                <a:ea typeface="Helvetica Neue"/>
                <a:cs typeface="Helvetica Neue"/>
              </a:rPr>
              <a:t>sampleCount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75F84DE4-4E46-4B4D-9467-786C9AD5D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5334000"/>
            <a:ext cx="12001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042A4F0D-731A-4326-B891-BD1ADC98B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5429250"/>
            <a:ext cx="1085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11111"/>
                </a:solidFill>
                <a:latin typeface="Consolas"/>
                <a:ea typeface="Consolas"/>
                <a:cs typeface="Consolas"/>
              </a:defRPr>
            </a:pPr>
            <a:r>
              <a:rPr sz="900" b="0">
                <a:solidFill>
                  <a:srgbClr val="111111"/>
                </a:solidFill>
                <a:latin typeface="Consolas"/>
                <a:ea typeface="Consolas"/>
                <a:cs typeface="Consolas"/>
              </a:rPr>
              <a:t>200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DDBD1F98-44B6-4CB7-8B63-0C8A99187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84835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Backend listener first validates this row, then stores it as raw telemetry and passes it toward preprocessing/inference.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2CA68A89-67C5-47AF-BA9E-81D29CEFA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6270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8B909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8B9099"/>
                </a:solidFill>
                <a:latin typeface="Helvetica Neue"/>
                <a:ea typeface="Helvetica Neue"/>
                <a:cs typeface="Helvetica Neue"/>
              </a:rPr>
              <a:t>Design review draft | Smart predictive maintenance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F15035C2-FC8B-4A37-95C3-B03DD8213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3436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8B909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8B9099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36882759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8B3F06D-EAF7-4914-84CB-DA9F3FDF8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ARCHITECTURE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DD6383-7E0B-44FE-BF16-E9BEC6E2B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03632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Edge-to-cloud system architecture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707DFF-C4D0-4327-8ADE-FF586693E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52550"/>
            <a:ext cx="8382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This is the end-to-end path from physical machine signals to dashboard and maintenance action.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359649-1400-4036-93D9-A8308C826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907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7f29fb9c9494915"/>
          <a:stretch xmlns:a="http://schemas.openxmlformats.org/drawingml/2006/main"/>
        </p:blipFill>
        <p:spPr>
          <a:xfrm xmlns:a="http://schemas.openxmlformats.org/drawingml/2006/main">
            <a:off x="514350" y="2057630"/>
            <a:ext cx="10934700" cy="278084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BE589E-D331-4185-805B-F810295DC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105400"/>
            <a:ext cx="109347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9998AB-C20A-4CD0-BF9D-D3DED84D1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2768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Important design idea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D9379C-1973-4C46-A65B-34ECD013A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5238750"/>
            <a:ext cx="7524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Edge tags and buffers records; MQTT separates telemetry and alert topics; cloud/server handles preprocessing, features, model, storage, alerts, and dashboard evidence.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ECDB95D-C1CA-4AA1-BEBC-4816F40A0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6270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8B909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8B9099"/>
                </a:solidFill>
                <a:latin typeface="Helvetica Neue"/>
                <a:ea typeface="Helvetica Neue"/>
                <a:cs typeface="Helvetica Neue"/>
              </a:rPr>
              <a:t>Design review draft | Smart predictive maintenance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82F7F3E-819F-4ADE-A9D4-677DA609E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3436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8B909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8B9099"/>
                </a:solidFill>
                <a:latin typeface="Helvetica Neue"/>
                <a:ea typeface="Helvetica Neue"/>
                <a:cs typeface="Helvetica Neue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36095109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8900DED-2ACD-4EE2-9086-91E2D5B7C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SOFTWARE MODEL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70D26E-7B3C-4417-AB4F-A49FCAA98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03632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Multi-machine domain model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543FFE-BDCF-4F37-8055-A689CA9D1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52550"/>
            <a:ext cx="8382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This class view makes the software boundaries and relationships explicit before implementation.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71CF47-B842-4801-949F-B7D350CC9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907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3f5edba041c4f46"/>
          <a:stretch xmlns:a="http://schemas.openxmlformats.org/drawingml/2006/main"/>
        </p:blipFill>
        <p:spPr>
          <a:xfrm xmlns:a="http://schemas.openxmlformats.org/drawingml/2006/main">
            <a:off x="2665362" y="2057400"/>
            <a:ext cx="2956025" cy="40386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DD3E97-EB7A-428F-9B3D-53259C745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20980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Why it matters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C4202C-796F-42F3-8600-5AB66D9AC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8956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4A49F8-84DC-4610-BB2A-8A1E0E633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800350"/>
            <a:ext cx="27813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Factory contains machines; each machine owns a sensor module.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C85DC64-F490-442A-BDB8-7A1A74B36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5623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317E5F7-F9E3-40F1-80B7-324F78E74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467100"/>
            <a:ext cx="27813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Telemetry records are created by ESP32 nodes and routed through MQTT.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5029456-7547-4C9A-B28A-CF286F5F7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2291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4F44AE6-B62C-4FC6-9643-BD8A61800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133850"/>
            <a:ext cx="27813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Cloud platform owns analysis, alert service, dashboard, and KPIs.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5E50C94-0C6F-4CD7-B683-542EFA5F4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8958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2EED834-DC48-4968-AEB2-9569DC4C1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800600"/>
            <a:ext cx="27813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Design keeps future machines and fault categories addable.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296DDC1-454D-40CA-8FE2-49167D8B7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6270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8B909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8B9099"/>
                </a:solidFill>
                <a:latin typeface="Helvetica Neue"/>
                <a:ea typeface="Helvetica Neue"/>
                <a:cs typeface="Helvetica Neue"/>
              </a:rPr>
              <a:t>Design review draft | Smart predictive maintenance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D7D9B8A-F17E-4093-A719-03751E1D2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3436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8B909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8B9099"/>
                </a:solidFill>
                <a:latin typeface="Helvetica Neue"/>
                <a:ea typeface="Helvetica Neue"/>
                <a:cs typeface="Helvetica Neue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36364061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023679F-EB7B-4588-B388-C937785CD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SENSOR NODE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9C0529-358C-4A08-8D2C-5D26BAEE2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03632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One ESP32 module per monitored machine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1023B0-9A33-4CA2-8683-2A88F5643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52550"/>
            <a:ext cx="8382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Local sensor wiring keeps each machine independent and makes machine identification reliable.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9C87CF-C7D8-400A-BA96-C3C48E255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907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5D0658-685D-4C86-822E-560FE41E8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95500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Professor feedback needed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41F37F-D090-4B9B-8E07-84A156A9E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28900"/>
            <a:ext cx="3238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6F1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84D606-B631-4926-BBC0-FEED431BD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781300"/>
            <a:ext cx="2895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Is one ESP32 per machine acceptable for the project cost?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25267E-C4EF-4CFC-AC55-BB36818D2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628900"/>
            <a:ext cx="3238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CA5C3B8-A1F7-425F-A41B-1611B04D7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781300"/>
            <a:ext cx="2895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Should vibration sampling happen on ESP32 or mostly on server?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2A96268-59A0-4E76-BAC8-AF8E68167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628900"/>
            <a:ext cx="3238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2340ECC-5084-478A-A517-80411DFD1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781300"/>
            <a:ext cx="2895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How much local buffering is enough for the first prototype?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4e320631c084145"/>
          <a:stretch xmlns:a="http://schemas.openxmlformats.org/drawingml/2006/main"/>
        </p:blipFill>
        <p:spPr>
          <a:xfrm xmlns:a="http://schemas.openxmlformats.org/drawingml/2006/main">
            <a:off x="533400" y="3600338"/>
            <a:ext cx="11029950" cy="2000474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2AF3F00-527A-4EBF-BB11-0E424FB97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6270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8B909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8B9099"/>
                </a:solidFill>
                <a:latin typeface="Helvetica Neue"/>
                <a:ea typeface="Helvetica Neue"/>
                <a:cs typeface="Helvetica Neue"/>
              </a:rPr>
              <a:t>Design review draft | Smart predictive maintenance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1E16238-9B72-43E9-AA32-CB10C52EE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3436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8B909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8B9099"/>
                </a:solidFill>
                <a:latin typeface="Helvetica Neue"/>
                <a:ea typeface="Helvetica Neue"/>
                <a:cs typeface="Helvetica Neue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65334010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E4F101D-A2D0-4421-8842-5967443A9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SENSORS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D80E43-AA93-4A51-B7D8-046F6BD48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03632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Candidate temperature and vibration sensors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884D6B-9783-4A2E-9279-BBAB6DF66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52550"/>
            <a:ext cx="8382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The table compares prototype-friendly parts with more industrial upgrade options.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52BB73-868F-4DFC-BD60-06352194F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907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4f44df820c64970"/>
          <a:stretch xmlns:a="http://schemas.openxmlformats.org/drawingml/2006/main"/>
        </p:blipFill>
        <p:spPr>
          <a:xfrm xmlns:a="http://schemas.openxmlformats.org/drawingml/2006/main">
            <a:off x="438150" y="2094943"/>
            <a:ext cx="11049000" cy="2630015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DAC823-AB96-4210-9223-7F07EC2F5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5010150"/>
            <a:ext cx="110490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6F1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39F133-C4F3-4420-9D8A-596349F58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816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Current recommendation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DE47883-B11B-4EA6-B8DF-7FA34BD2F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5257800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solidFill>
              <a:srgbClr val="FF6B3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0DD055B-3C10-49F7-A8BD-3C4B08B7A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5210175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DS18B20 for temperature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FF788DB-BE32-42CB-A895-E92E3FC83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257800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B539214-4F09-4DCD-A4B9-8D4A96AFE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5210175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ADXL345 for vibration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6B51D61-B31D-477F-8B0B-4D94E6CCF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5200650"/>
            <a:ext cx="2247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Thermocouple and industrial piezo sensors stay as future upgrades.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3C8B491-7EFD-4602-A146-7F965ABEF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6270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8B909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8B9099"/>
                </a:solidFill>
                <a:latin typeface="Helvetica Neue"/>
                <a:ea typeface="Helvetica Neue"/>
                <a:cs typeface="Helvetica Neue"/>
              </a:rPr>
              <a:t>Design review draft | Smart predictive maintenance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6875A30-EAC8-451C-B8F7-641A104BF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3436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8B909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8B9099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6019225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6FE9531-B903-46E6-A8AF-09495CDA3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HARDWARE WIRING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5F2A8E-8845-4B5E-AF36-A53AA3C75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03632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ESP32 pin and interface plan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A405B9-7564-4969-A142-7772530D4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52550"/>
            <a:ext cx="8382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These are documentation defaults; final wiring should match the exact development board.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70A782-803F-470B-8938-F6F84079D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907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6c82ba2fbbf4dbe"/>
          <a:stretch xmlns:a="http://schemas.openxmlformats.org/drawingml/2006/main"/>
        </p:blipFill>
        <p:spPr>
          <a:xfrm xmlns:a="http://schemas.openxmlformats.org/drawingml/2006/main">
            <a:off x="495300" y="2538147"/>
            <a:ext cx="8191500" cy="2848507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F82538-30B3-4A18-A191-5261C832D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3050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Review checks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D04E2E2-25EA-45D0-99DB-ABCD5AE0D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9718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solidFill>
              <a:srgbClr val="059669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C45A16-00AB-4407-B7DD-1D7F6206F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876550"/>
            <a:ext cx="1905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Avoid ESP32 boot-strapping pins.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EDDEE85-A169-496C-8970-B09758FCF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5623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solidFill>
              <a:srgbClr val="05966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CA3C816-5B86-42D5-A5FF-D00E76BA8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467100"/>
            <a:ext cx="1905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Keep I2C wiring short near the machine.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D191DB0-95F6-42E4-B63B-9E29E6A4C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41529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solidFill>
              <a:srgbClr val="059669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67E57B4-8523-40BD-81B7-9CB2DCA62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4057650"/>
            <a:ext cx="1905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Use pull-up resistor for DS18B20.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98F29DD-F908-4341-B688-7D16EA56D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47434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solidFill>
              <a:srgbClr val="059669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AD1019F-1F2B-42DC-9B37-CC337E8E3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4648200"/>
            <a:ext cx="1905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Reserve UART pins if RS485 is explored later.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88DA8C8-5FC7-40D5-8488-6AC0E60B7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6270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8B909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8B9099"/>
                </a:solidFill>
                <a:latin typeface="Helvetica Neue"/>
                <a:ea typeface="Helvetica Neue"/>
                <a:cs typeface="Helvetica Neue"/>
              </a:rPr>
              <a:t>Design review draft | Smart predictive maintenance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CB7AA9D-9842-4B39-BF75-23F689E78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3436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8B909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8B9099"/>
                </a:solidFill>
                <a:latin typeface="Helvetica Neue"/>
                <a:ea typeface="Helvetica Neue"/>
                <a:cs typeface="Helvetica Neue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75450906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0FD2FC1-6222-4D67-8C70-3F06485F7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PROTOCOLS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61F3FA-0A82-4714-87B6-9A35FD4B4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03632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Communication protocol comparison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C86104-6F82-4345-AF9C-E2393789E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52550"/>
            <a:ext cx="8382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MQTT gives the cleanest telemetry-up and alert-down story for multiple ESP32 nodes.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835E41-9FD7-469F-B4CA-8E69EDA5F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907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8d48aa937904f7d"/>
          <a:stretch xmlns:a="http://schemas.openxmlformats.org/drawingml/2006/main"/>
        </p:blipFill>
        <p:spPr>
          <a:xfrm xmlns:a="http://schemas.openxmlformats.org/drawingml/2006/main">
            <a:off x="476250" y="2119208"/>
            <a:ext cx="10991850" cy="2600534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751440-A0DD-4F88-86CE-63C634FF6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029200"/>
            <a:ext cx="109918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B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49A910-3276-4EF7-8981-6CFA07F3E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20065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Recommended path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B1ACE1D-0A49-41B7-8F03-5147EC188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21970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596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59669"/>
                </a:solidFill>
                <a:latin typeface="Helvetica Neue"/>
                <a:ea typeface="Helvetica Neue"/>
                <a:cs typeface="Helvetica Neue"/>
              </a:rPr>
              <a:t>MQTT over Wi-Fi for the design baseline.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EBFC8C0-A552-4AF7-BEB3-DF3774C44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5162550"/>
            <a:ext cx="4000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HTTP remains easy for APIs, Serial is useful for lab debugging, and RS485/Modbus is the industrial scalability discussion.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821312D-36A2-41B1-85D3-4632F430F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6270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8B909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8B9099"/>
                </a:solidFill>
                <a:latin typeface="Helvetica Neue"/>
                <a:ea typeface="Helvetica Neue"/>
                <a:cs typeface="Helvetica Neue"/>
              </a:rPr>
              <a:t>Design review draft | Smart predictive maintenance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0F3DF45-D893-4B9F-B79F-EBE8FBE98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3436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8B909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8B9099"/>
                </a:solidFill>
                <a:latin typeface="Helvetica Neue"/>
                <a:ea typeface="Helvetica Neue"/>
                <a:cs typeface="Helvetica Neue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86900100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8AD78AA-964F-40CF-8205-8AAB84912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DATA 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7C094C-DCC9-4C58-8933-566DF7560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03632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Sensor readings become decisions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1C52BE-E9E2-41BD-98F7-D0F8C3F43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52550"/>
            <a:ext cx="8382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The pipeline must preserve raw evidence, derived features, predictions, alerts, and maintenance history.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953B8D-AA2C-4262-9AAC-3A4539E03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907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b81e3781c1944a8"/>
          <a:stretch xmlns:a="http://schemas.openxmlformats.org/drawingml/2006/main"/>
        </p:blipFill>
        <p:spPr>
          <a:xfrm xmlns:a="http://schemas.openxmlformats.org/drawingml/2006/main">
            <a:off x="566016" y="2057400"/>
            <a:ext cx="10850418" cy="28194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D3157A-8C4E-499A-9215-57C19CCBF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4350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Key data products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6F05BC-46C4-4DA1-BE78-E5D88F586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5086350"/>
            <a:ext cx="18859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Raw telemetry: machineId, sensorId, timestamp.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DEDB24-9BA4-46F9-A709-DFF44FFAA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5086350"/>
            <a:ext cx="18859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Feature windows: RMS, averages, peaks, temperature rate.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57C88B7-1E56-4FD8-808C-AFF775EB7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5086350"/>
            <a:ext cx="18859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Predictions: health state, risk score, probable root cause.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5694095-B4E6-4C3B-844D-D01DDC495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5086350"/>
            <a:ext cx="18859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Alerts and maintenance actions close the loop.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BC97AF7-D565-414C-82D8-2336824C1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6270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8B909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8B9099"/>
                </a:solidFill>
                <a:latin typeface="Helvetica Neue"/>
                <a:ea typeface="Helvetica Neue"/>
                <a:cs typeface="Helvetica Neue"/>
              </a:rPr>
              <a:t>Design review draft | Smart predictive maintenance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472B12F-5C8A-4006-B45C-313DCADBB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3436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8B909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8B9099"/>
                </a:solidFill>
                <a:latin typeface="Helvetica Neue"/>
                <a:ea typeface="Helvetica Neue"/>
                <a:cs typeface="Helvetica Neue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537170302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004E7E0-FCBB-4655-8723-45894C335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QUALITY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2D5C27-3A50-45B1-A485-724858202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03632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Non-functional choices affect feasibility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9CFE5B-F43F-48F2-803E-D93EDA7FF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52550"/>
            <a:ext cx="8382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Interoperability, scalability, cost, and security should be decided before hardware purchase.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DE294A-ADA7-49A1-9203-C54D3DA40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907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ef70fb61de8416a"/>
          <a:stretch xmlns:a="http://schemas.openxmlformats.org/drawingml/2006/main"/>
        </p:blipFill>
        <p:spPr>
          <a:xfrm xmlns:a="http://schemas.openxmlformats.org/drawingml/2006/main">
            <a:off x="1592498" y="2057400"/>
            <a:ext cx="1634654" cy="39052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447BFD-B7A6-4E14-B3B4-73E36B8BB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209800"/>
            <a:ext cx="29146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8E4483-6F53-4523-8EE3-2CE8AD022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3812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Interoperability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85A9CC-74A1-495C-8BB8-16250A4A3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800350"/>
            <a:ext cx="24003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MQTT topics, machineId, sensorId, timestamp, and documented interfaces.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9750F89-A87C-4EC1-B8FC-4CADD7D09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209800"/>
            <a:ext cx="29146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325CC9F-71C8-41A8-91A6-DAC6A7877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3812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Scalability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7F92BDD-AB13-426E-8AD8-902397CED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800350"/>
            <a:ext cx="24003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Repeat one node per machine; keep RS485/Modbus as future field-bus path.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697CD16-52BE-4486-B8A5-3BDE39642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038600"/>
            <a:ext cx="29146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7F67863-1C26-462F-BE78-B1C8EE18C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2100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Cost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53FEE9D-436F-4971-B5D4-A91E5B3E9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629150"/>
            <a:ext cx="24003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ESP32 and prototype sensors stay low cost; one-node-per-machine costs more but simplifies wiring.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2017280-AEEA-40E2-AC62-63CAE3F00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038600"/>
            <a:ext cx="29146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B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2E2CBA1-1234-4683-BD14-1DAECC2E6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2100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Security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312EE17-B56F-451E-B4F2-843CA9F53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629150"/>
            <a:ext cx="24003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Wi-Fi isolation, MQTT credentials/TLS where possible, validation, and limited dashboard access.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7FFDD79-7E74-449D-88AB-B0E131898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6270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8B909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8B9099"/>
                </a:solidFill>
                <a:latin typeface="Helvetica Neue"/>
                <a:ea typeface="Helvetica Neue"/>
                <a:cs typeface="Helvetica Neue"/>
              </a:rPr>
              <a:t>Design review draft | Smart predictive maintenance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1233F21-A787-4F76-BA11-6BB5D6CAC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3436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8B909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8B9099"/>
                </a:solidFill>
                <a:latin typeface="Helvetica Neue"/>
                <a:ea typeface="Helvetica Neue"/>
                <a:cs typeface="Helvetica Neue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479713310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4976997-5994-4B12-8BCC-430E93CC0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DECISION REQUEST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F9EC0E-036E-49F3-B6C3-C18D97233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03632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Proposed baseline for approval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02DFE8-1547-4F20-BE9B-08902D8A0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52550"/>
            <a:ext cx="8382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This is the design we can freeze after professor review, unless the meeting points to a better path.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24EA67-295C-4FBC-8C04-0749EE32F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907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689800-5360-4655-A280-804DC57BB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7170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Area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D7E3DD-3D9D-4571-BDE0-C3CD40DF5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17170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Baseline choice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5D74AB-C8B9-4143-985F-1C7C3365A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171700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Reason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F6C2F3-CDA9-498C-9040-37F8CC9E9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514600"/>
            <a:ext cx="10572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CA8C036-0986-4537-90D2-45BF8A57C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09850"/>
            <a:ext cx="1943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Machine node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1D4165D-EC98-4AAE-8DCC-EDF1E4387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609850"/>
            <a:ext cx="2686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6B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F6B35"/>
                </a:solidFill>
                <a:latin typeface="Helvetica Neue"/>
                <a:ea typeface="Helvetica Neue"/>
                <a:cs typeface="Helvetica Neue"/>
              </a:rPr>
              <a:t>One ESP32 per machine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FD43BC6-8A82-4A0F-9458-01875DC0B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60985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Simpler identification, shorter sensor wiring, repeatable scaling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6EE3250-138A-468D-B8E7-6D05C3D0B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181350"/>
            <a:ext cx="10572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1BF0267-C993-42FA-9F89-EAE72F2F2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76600"/>
            <a:ext cx="1943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Temperature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5C02B5A-A095-4B88-9ABB-0A89772EF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276600"/>
            <a:ext cx="2686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6B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F6B35"/>
                </a:solidFill>
                <a:latin typeface="Helvetica Neue"/>
                <a:ea typeface="Helvetica Neue"/>
                <a:cs typeface="Helvetica Neue"/>
              </a:rPr>
              <a:t>DS18B20 first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56410D0-29ED-4498-B2F8-9C42E9E1D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27660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Low-cost digital sensor; thermocouple kept as high-temp upgrade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4B1BAE5-CE79-4AC2-9628-FFFE56F00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848100"/>
            <a:ext cx="10572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84B1892-48A8-4369-8C6A-7861E79BB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43350"/>
            <a:ext cx="1943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Vibration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4A539F8-6599-492C-B60E-721EAC6D1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943350"/>
            <a:ext cx="2686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6B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F6B35"/>
                </a:solidFill>
                <a:latin typeface="Helvetica Neue"/>
                <a:ea typeface="Helvetica Neue"/>
                <a:cs typeface="Helvetica Neue"/>
              </a:rPr>
              <a:t>ADXL345 first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0D27805-DF92-4469-8155-F729A22F5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94335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Digital I2C/SPI accelerometer; MPU6050 acceptable if easier to source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2E9B2E9-6F80-451D-B0AA-F5C272481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514850"/>
            <a:ext cx="10572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040CDE5-178E-469E-AAFF-79ED1E490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10100"/>
            <a:ext cx="1943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Communication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9218B1F-58D1-4FE5-BE5E-97EF06DAC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610100"/>
            <a:ext cx="2686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6B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F6B35"/>
                </a:solidFill>
                <a:latin typeface="Helvetica Neue"/>
                <a:ea typeface="Helvetica Neue"/>
                <a:cs typeface="Helvetica Neue"/>
              </a:rPr>
              <a:t>MQTT over Wi-Fi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856C891-8765-4376-9C1A-B13F4F0E6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61010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Publish telemetry and receive machine-specific alert topics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8CF3FDF-C8C0-4E48-9988-9725BAD86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181600"/>
            <a:ext cx="10572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381028F-5CB8-4007-B0A5-A9EEA1AA6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76850"/>
            <a:ext cx="1943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Prototype demo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6BC1552-E285-4DDA-9F9A-C17F0FB46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5276850"/>
            <a:ext cx="2686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6B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F6B35"/>
                </a:solidFill>
                <a:latin typeface="Helvetica Neue"/>
                <a:ea typeface="Helvetica Neue"/>
                <a:cs typeface="Helvetica Neue"/>
              </a:rPr>
              <a:t>Dataset plus one hardware node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40CB57A-04CD-442E-B80F-C6B67578D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27685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Reduces project risk while still proving the hardware path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303C304-647B-4A69-BA53-7869DFF6D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15050"/>
            <a:ext cx="800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Professor help: validate these choices or tell us what to change before implementation starts.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4A7FA1B-58EF-4B73-9FA0-CB256A890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6270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8B909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8B9099"/>
                </a:solidFill>
                <a:latin typeface="Helvetica Neue"/>
                <a:ea typeface="Helvetica Neue"/>
                <a:cs typeface="Helvetica Neue"/>
              </a:rPr>
              <a:t>Design review draft | Smart predictive maintenance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9A68042-E74C-43E4-8472-4B277D04E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3436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8B909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8B9099"/>
                </a:solidFill>
                <a:latin typeface="Helvetica Neue"/>
                <a:ea typeface="Helvetica Neue"/>
                <a:cs typeface="Helvetica Neue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374354650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8025B72-BAF8-48E5-A814-469F922E9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NEXT STEPS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F2A9DF-B374-458C-969F-C0E29A430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03632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After the design review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C2977A-4A85-4113-8975-1C57762E3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52550"/>
            <a:ext cx="8382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The next sprint should produce measurable evidence, not only more documentation.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F65EAE-41A7-4E16-9114-8EB854420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907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07A669-0642-43CC-A97F-9CF4A01C3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19300"/>
            <a:ext cx="514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F6B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FF6B35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252DFF-8E3F-49DA-B736-077ED1437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667000"/>
            <a:ext cx="9144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solidFill>
              <a:srgbClr val="FF6B3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70D8E0-DE85-4ADB-8C46-3FC05BF54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057400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Finalize BOM and wiring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4F4B09B-0B7F-4E1F-96CD-1C944DD72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076450"/>
            <a:ext cx="5143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Buy or confirm ESP32, DS18B20, ADXL345/MPU6050, resistors, jumper wires, mounting approach.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97A0DCE-D924-4C20-B599-E847DF80C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33700"/>
            <a:ext cx="514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79A7D0E-5B21-4F4F-B2B4-5BDCC59CB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581400"/>
            <a:ext cx="9144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12B7AED-6AAE-45ED-ABC3-37C867F2D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971800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Collect first data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40B6717-631B-4538-AC01-D31210F4E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990850"/>
            <a:ext cx="5143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Read temperature and vibration samples; log timestamped machine records locally and over MQTT.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432AD03-25B6-4416-88C9-6DD832CD1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48100"/>
            <a:ext cx="514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C347C10-54BD-43D1-A8A4-647C6B6DD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495800"/>
            <a:ext cx="9144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4E55370-8549-478D-AF4B-DB2CF8149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886200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Build analysis loop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8CB3767-B608-441F-A6F5-DA3A87800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905250"/>
            <a:ext cx="5143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Preprocess windows, compute RMS/mean/peak and simple risk logic before full ML.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5DC7298-CE47-4067-AF12-D3B128FAD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0"/>
            <a:ext cx="514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1FEDC05-093D-4A33-A65A-B52C83906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5410200"/>
            <a:ext cx="9144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C1B035E-676D-4097-A055-991383588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800600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Show review dashboard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AB45EAB-DE4A-42EE-B592-9090C6BA0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819650"/>
            <a:ext cx="5143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Display status, trends, alerts, maintenance history, and KPIs for the professor check-in.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08C0013-F9F3-48D9-9E65-460B47491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9906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6F1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54DE757-5B24-4114-862F-121910A20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991225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Success criterion: demonstrate one complete path from sensor or dataset reading to health status, alert, and maintenance recommendation.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D334CE8-241A-47F9-A078-4BD64E703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6270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8B909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8B9099"/>
                </a:solidFill>
                <a:latin typeface="Helvetica Neue"/>
                <a:ea typeface="Helvetica Neue"/>
                <a:cs typeface="Helvetica Neue"/>
              </a:rPr>
              <a:t>Design review draft | Smart predictive maintenance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B832424-8E8E-4552-B54B-B2C2B84BF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3436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8B909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8B9099"/>
                </a:solidFill>
                <a:latin typeface="Helvetica Neue"/>
                <a:ea typeface="Helvetica Neue"/>
                <a:cs typeface="Helvetica Neue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60529186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2026-06-30T05:50:56.2760000Z</dcterms:created>
  <dcterms:modified xsi:type="dcterms:W3CDTF">2026-06-30T05:50:56.2760000Z</dcterms:modified>
</coreProperties>
</file>