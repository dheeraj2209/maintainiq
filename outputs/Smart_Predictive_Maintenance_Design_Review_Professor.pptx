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d654fa2f04187" /><Relationship Type="http://schemas.openxmlformats.org/officeDocument/2006/relationships/extended-properties" Target="/docProps/app.xml" Id="R81a0e14fca8546c8" /><Relationship Type="http://schemas.openxmlformats.org/officeDocument/2006/relationships/officeDocument" Target="/ppt/presentation.xml" Id="R719cedd44a0b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c55346b732480b"/>
  </p:sldMasterIdLst>
  <p:notesMasterIdLst>
    <p:notesMasterId xmlns:r="http://schemas.openxmlformats.org/officeDocument/2006/relationships" r:id="Rcd8017149b094c70"/>
  </p:notesMasterIdLst>
  <p:sldIdLst>
    <p:sldId xmlns:r="http://schemas.openxmlformats.org/officeDocument/2006/relationships" id="256" r:id="R1ca0c6bc196d41c1"/>
    <p:sldId xmlns:r="http://schemas.openxmlformats.org/officeDocument/2006/relationships" id="257" r:id="R2a22a1800e454b9e"/>
    <p:sldId xmlns:r="http://schemas.openxmlformats.org/officeDocument/2006/relationships" id="258" r:id="Ra3353f0a0fda430f"/>
    <p:sldId xmlns:r="http://schemas.openxmlformats.org/officeDocument/2006/relationships" id="259" r:id="R259f305e5b1148a1"/>
    <p:sldId xmlns:r="http://schemas.openxmlformats.org/officeDocument/2006/relationships" id="260" r:id="Rfb84c601ac524fef"/>
    <p:sldId xmlns:r="http://schemas.openxmlformats.org/officeDocument/2006/relationships" id="261" r:id="R440cfa73bf8449e9"/>
    <p:sldId xmlns:r="http://schemas.openxmlformats.org/officeDocument/2006/relationships" id="262" r:id="Rf535f27f4b014e1a"/>
    <p:sldId xmlns:r="http://schemas.openxmlformats.org/officeDocument/2006/relationships" id="263" r:id="Rbd52bb0b50c74903"/>
    <p:sldId xmlns:r="http://schemas.openxmlformats.org/officeDocument/2006/relationships" id="264" r:id="R01a9a05050a64fa8"/>
    <p:sldId xmlns:r="http://schemas.openxmlformats.org/officeDocument/2006/relationships" id="265" r:id="R7551d077430a4aa8"/>
    <p:sldId xmlns:r="http://schemas.openxmlformats.org/officeDocument/2006/relationships" id="266" r:id="R504b4199ae444ad6"/>
    <p:sldId xmlns:r="http://schemas.openxmlformats.org/officeDocument/2006/relationships" id="267" r:id="R5be1ec4365f4479b"/>
    <p:sldId xmlns:r="http://schemas.openxmlformats.org/officeDocument/2006/relationships" id="268" r:id="Rd47bc62dcc71457a"/>
    <p:sldId xmlns:r="http://schemas.openxmlformats.org/officeDocument/2006/relationships" id="269" r:id="R875edc7eb82c436a"/>
    <p:sldId xmlns:r="http://schemas.openxmlformats.org/officeDocument/2006/relationships" id="270" r:id="Re4daabeef65046cc"/>
    <p:sldId xmlns:r="http://schemas.openxmlformats.org/officeDocument/2006/relationships" id="271" r:id="Rb3af9952bbb644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4775ef9964e7e" /><Relationship Type="http://schemas.openxmlformats.org/officeDocument/2006/relationships/slideMaster" Target="/ppt/slideMasters/slideMaster1.xml" Id="R17c55346b732480b" /><Relationship Type="http://schemas.openxmlformats.org/officeDocument/2006/relationships/notesMaster" Target="/ppt/notesMasters/notesMaster1.xml" Id="Rcd8017149b094c70" /><Relationship Type="http://schemas.openxmlformats.org/officeDocument/2006/relationships/presProps" Target="/ppt/presProps.xml" Id="Ra7e5ba5424ef4ded" /><Relationship Type="http://schemas.openxmlformats.org/officeDocument/2006/relationships/tableStyles" Target="/ppt/tableStyles.xml" Id="R07b8a6a3f5bd449c" /><Relationship Type="http://schemas.openxmlformats.org/officeDocument/2006/relationships/slide" Target="/ppt/slides/slide1.xml" Id="R1ca0c6bc196d41c1" /><Relationship Type="http://schemas.openxmlformats.org/officeDocument/2006/relationships/slide" Target="/ppt/slides/slide2.xml" Id="R2a22a1800e454b9e" /><Relationship Type="http://schemas.openxmlformats.org/officeDocument/2006/relationships/slide" Target="/ppt/slides/slide3.xml" Id="Ra3353f0a0fda430f" /><Relationship Type="http://schemas.openxmlformats.org/officeDocument/2006/relationships/slide" Target="/ppt/slides/slide4.xml" Id="R259f305e5b1148a1" /><Relationship Type="http://schemas.openxmlformats.org/officeDocument/2006/relationships/slide" Target="/ppt/slides/slide5.xml" Id="Rfb84c601ac524fef" /><Relationship Type="http://schemas.openxmlformats.org/officeDocument/2006/relationships/slide" Target="/ppt/slides/slide6.xml" Id="R440cfa73bf8449e9" /><Relationship Type="http://schemas.openxmlformats.org/officeDocument/2006/relationships/slide" Target="/ppt/slides/slide7.xml" Id="Rf535f27f4b014e1a" /><Relationship Type="http://schemas.openxmlformats.org/officeDocument/2006/relationships/slide" Target="/ppt/slides/slide8.xml" Id="Rbd52bb0b50c74903" /><Relationship Type="http://schemas.openxmlformats.org/officeDocument/2006/relationships/slide" Target="/ppt/slides/slide9.xml" Id="R01a9a05050a64fa8" /><Relationship Type="http://schemas.openxmlformats.org/officeDocument/2006/relationships/slide" Target="/ppt/slides/slide10.xml" Id="R7551d077430a4aa8" /><Relationship Type="http://schemas.openxmlformats.org/officeDocument/2006/relationships/slide" Target="/ppt/slides/slide11.xml" Id="R504b4199ae444ad6" /><Relationship Type="http://schemas.openxmlformats.org/officeDocument/2006/relationships/slide" Target="/ppt/slides/slide12.xml" Id="R5be1ec4365f4479b" /><Relationship Type="http://schemas.openxmlformats.org/officeDocument/2006/relationships/slide" Target="/ppt/slides/slide13.xml" Id="Rd47bc62dcc71457a" /><Relationship Type="http://schemas.openxmlformats.org/officeDocument/2006/relationships/slide" Target="/ppt/slides/slide14.xml" Id="R875edc7eb82c436a" /><Relationship Type="http://schemas.openxmlformats.org/officeDocument/2006/relationships/slide" Target="/ppt/slides/slide15.xml" Id="Re4daabeef65046cc" /><Relationship Type="http://schemas.openxmlformats.org/officeDocument/2006/relationships/slide" Target="/ppt/slides/slide16.xml" Id="Rb3af9952bbb644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b809358514a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7eeb32c1f4e55" /><Relationship Type="http://schemas.openxmlformats.org/officeDocument/2006/relationships/notesMaster" Target="/ppt/notesMasters/notesMaster1.xml" Id="R15983508a50542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94b25930648f9" /><Relationship Type="http://schemas.openxmlformats.org/officeDocument/2006/relationships/notesMaster" Target="/ppt/notesMasters/notesMaster1.xml" Id="Rf42e5c60673a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e4510e1ee489b" /><Relationship Type="http://schemas.openxmlformats.org/officeDocument/2006/relationships/notesMaster" Target="/ppt/notesMasters/notesMaster1.xml" Id="R9bf2e48aac12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691c3d7a946e5" /><Relationship Type="http://schemas.openxmlformats.org/officeDocument/2006/relationships/notesMaster" Target="/ppt/notesMasters/notesMaster1.xml" Id="Rc25464d108b5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33607596244693" /><Relationship Type="http://schemas.openxmlformats.org/officeDocument/2006/relationships/notesMaster" Target="/ppt/notesMasters/notesMaster1.xml" Id="R2b9c126ae84c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6007d1cc3741b0" /><Relationship Type="http://schemas.openxmlformats.org/officeDocument/2006/relationships/notesMaster" Target="/ppt/notesMasters/notesMaster1.xml" Id="R6dde835932924b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25c3be1214775" /><Relationship Type="http://schemas.openxmlformats.org/officeDocument/2006/relationships/notesMaster" Target="/ppt/notesMasters/notesMaster1.xml" Id="R44cb8022cecc4e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ef823689a44cf0" /><Relationship Type="http://schemas.openxmlformats.org/officeDocument/2006/relationships/notesMaster" Target="/ppt/notesMasters/notesMaster1.xml" Id="R4e4198b1b69e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e101f2af34b64" /><Relationship Type="http://schemas.openxmlformats.org/officeDocument/2006/relationships/notesMaster" Target="/ppt/notesMasters/notesMaster1.xml" Id="Red4418ff1bb74a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2febadcb1a401f" /><Relationship Type="http://schemas.openxmlformats.org/officeDocument/2006/relationships/notesMaster" Target="/ppt/notesMasters/notesMaster1.xml" Id="R4078c4a7f9f44a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fbac68e17e4577" /><Relationship Type="http://schemas.openxmlformats.org/officeDocument/2006/relationships/notesMaster" Target="/ppt/notesMasters/notesMaster1.xml" Id="Rea505ced1691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9a91547f343d0" /><Relationship Type="http://schemas.openxmlformats.org/officeDocument/2006/relationships/notesMaster" Target="/ppt/notesMasters/notesMaster1.xml" Id="R84474911b9104b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8f83941fc24679" /><Relationship Type="http://schemas.openxmlformats.org/officeDocument/2006/relationships/notesMaster" Target="/ppt/notesMasters/notesMaster1.xml" Id="R7897fc3e10ff4c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bae03bf3434375" /><Relationship Type="http://schemas.openxmlformats.org/officeDocument/2006/relationships/notesMaster" Target="/ppt/notesMasters/notesMaster1.xml" Id="Rb40643a9fbf34c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3ae4415ee8482f" /><Relationship Type="http://schemas.openxmlformats.org/officeDocument/2006/relationships/notesMaster" Target="/ppt/notesMasters/notesMaster1.xml" Id="R4a13b75f8f304b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ad33292eea475e" /><Relationship Type="http://schemas.openxmlformats.org/officeDocument/2006/relationships/notesMaster" Target="/ppt/notesMasters/notesMaster1.xml" Id="Rbe05a72246c543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506f557e6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3c5da389f496d" /><Relationship Type="http://schemas.openxmlformats.org/officeDocument/2006/relationships/slideLayout" Target="/ppt/slideLayouts/slideLayout1.xml" Id="R68e8ada8f01e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8ada8f01e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262dc0e8542d3" /><Relationship Type="http://schemas.openxmlformats.org/officeDocument/2006/relationships/image" Target="/ppt/media/image.png" Id="R865a9f97fd3d4f43" /><Relationship Type="http://schemas.openxmlformats.org/officeDocument/2006/relationships/notesSlide" Target="/ppt/notesSlides/notesSlide1.xml" Id="R3f182fb95f90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4c6e1038b4302" /><Relationship Type="http://schemas.openxmlformats.org/officeDocument/2006/relationships/notesSlide" Target="/ppt/notesSlides/notesSlide2.xml" Id="R8131e310c756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29afbd07c4ca0" /><Relationship Type="http://schemas.openxmlformats.org/officeDocument/2006/relationships/image" Target="/ppt/media/image2.png" Id="R6df1178c81704e87" /><Relationship Type="http://schemas.openxmlformats.org/officeDocument/2006/relationships/notesSlide" Target="/ppt/notesSlides/notesSlide3.xml" Id="R0ef2120d4b7b44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a31da60e49a8" /><Relationship Type="http://schemas.openxmlformats.org/officeDocument/2006/relationships/notesSlide" Target="/ppt/notesSlides/notesSlide4.xml" Id="R3bc79104c2664b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f07a148924e40" /><Relationship Type="http://schemas.openxmlformats.org/officeDocument/2006/relationships/notesSlide" Target="/ppt/notesSlides/notesSlide5.xml" Id="R9eb477d72ee3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f6a6bca548c3" /><Relationship Type="http://schemas.openxmlformats.org/officeDocument/2006/relationships/notesSlide" Target="/ppt/notesSlides/notesSlide6.xml" Id="R95cf44f86eef4b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1b1eeeef64273" /><Relationship Type="http://schemas.openxmlformats.org/officeDocument/2006/relationships/image" Target="/ppt/media/image3.png" Id="Ra8982e00223543df" /><Relationship Type="http://schemas.openxmlformats.org/officeDocument/2006/relationships/notesSlide" Target="/ppt/notesSlides/notesSlide7.xml" Id="R721a555fbfc1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2bf9c005f493c" /><Relationship Type="http://schemas.openxmlformats.org/officeDocument/2006/relationships/image" Target="/ppt/media/image4.png" Id="R015f63407870489c" /><Relationship Type="http://schemas.openxmlformats.org/officeDocument/2006/relationships/notesSlide" Target="/ppt/notesSlides/notesSlide8.xml" Id="Rc9761393ab86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9eeee2fa94937" /><Relationship Type="http://schemas.openxmlformats.org/officeDocument/2006/relationships/image" Target="/ppt/media/image5.png" Id="R01bd6bb09b04486c" /><Relationship Type="http://schemas.openxmlformats.org/officeDocument/2006/relationships/notesSlide" Target="/ppt/notesSlides/notesSlide9.xml" Id="R7cd61f7f27374e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6aaa941d14448" /><Relationship Type="http://schemas.openxmlformats.org/officeDocument/2006/relationships/image" Target="/ppt/media/image6.png" Id="Re2b4bd4881da4625" /><Relationship Type="http://schemas.openxmlformats.org/officeDocument/2006/relationships/notesSlide" Target="/ppt/notesSlides/notesSlide10.xml" Id="R94898f0136e2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5ce754b5b4a61" /><Relationship Type="http://schemas.openxmlformats.org/officeDocument/2006/relationships/image" Target="/ppt/media/image7.png" Id="R1c8758c610ba49b6" /><Relationship Type="http://schemas.openxmlformats.org/officeDocument/2006/relationships/notesSlide" Target="/ppt/notesSlides/notesSlide11.xml" Id="R82e26a6dc9504e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5797bf344bcd" /><Relationship Type="http://schemas.openxmlformats.org/officeDocument/2006/relationships/image" Target="/ppt/media/image8.png" Id="R5adb2cc9cf334e37" /><Relationship Type="http://schemas.openxmlformats.org/officeDocument/2006/relationships/notesSlide" Target="/ppt/notesSlides/notesSlide12.xml" Id="Rd7d21e6a52ef44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c1f59eab4578" /><Relationship Type="http://schemas.openxmlformats.org/officeDocument/2006/relationships/image" Target="/ppt/media/image9.png" Id="R7d0463f1a33c4267" /><Relationship Type="http://schemas.openxmlformats.org/officeDocument/2006/relationships/notesSlide" Target="/ppt/notesSlides/notesSlide13.xml" Id="R66550814553d40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598c07fdb48af" /><Relationship Type="http://schemas.openxmlformats.org/officeDocument/2006/relationships/image" Target="/ppt/media/image10.png" Id="Rf3e66d5090824012" /><Relationship Type="http://schemas.openxmlformats.org/officeDocument/2006/relationships/notesSlide" Target="/ppt/notesSlides/notesSlide14.xml" Id="R42442c04820a4e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3a79fde214ff6" /><Relationship Type="http://schemas.openxmlformats.org/officeDocument/2006/relationships/notesSlide" Target="/ppt/notesSlides/notesSlide15.xml" Id="R9f421b8b94e64a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6d3545f446ae" /><Relationship Type="http://schemas.openxmlformats.org/officeDocument/2006/relationships/notesSlide" Target="/ppt/notesSlides/notesSlide16.xml" Id="R4035ceb04062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9235A-A1FF-4583-9539-9F7CDAA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PREDICTIVE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163B-9C4A-4110-95A8-84E981D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review with professor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18105-DDC6-4221-98DE-3E1A1D50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Multi-sensor IoT system using vibration and temperature data to support maintenance decisions before machine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FC78-149E-4FD8-80DB-216B7C79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3390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a9f97fd3d4f43"/>
          <a:stretch xmlns:a="http://schemas.openxmlformats.org/drawingml/2006/main"/>
        </p:blipFill>
        <p:spPr>
          <a:xfrm xmlns:a="http://schemas.openxmlformats.org/drawingml/2006/main">
            <a:off x="8210550" y="1984798"/>
            <a:ext cx="2971800" cy="23359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618B7-08ED-4745-8152-BE46F57F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643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13715-1B46-4D7E-A73D-84F473A0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Meeting goal: choose sensors, protocol, design scope, and immediate next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67AE-6BFD-4D6D-A0E4-61F6DCFB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F5E0E-4C4F-4C8F-8DD4-4FC4EFA3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5144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57453-096D-4862-A9B3-FBC7843C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301E8-7FAB-46A4-8024-21014C9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we need help deciding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3C39A-268F-4E94-BA26-D0A8BEF4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 diagrams as a working design, then decide what is realistic for the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36600-EC25-415A-B234-125EF09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89962-C234-48C3-A335-DB9E7E93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395D8-4057-4875-91E3-FD6EB555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B5E58-87A4-49D9-BFE2-EC44D094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AD66E-E1C3-4C83-8848-6CAEE579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Temperature: DS18B20 vs thermocouple. Vibration: ADXL345 vs MPU6050 vs industrial piezo.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2AC9E-093E-46A2-91C9-22447DAD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BB0BE-1B5F-469A-8D5A-8F465331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69C88-983D-4E89-9CC8-FA83046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59086-83EE-4815-A55D-A959A5EB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Start with MQTT over Wi-Fi, keep Serial for debugging, consider RS485/Modbus as future industrial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1493A-5232-4026-B602-7996D51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4FA7F-4882-4B9B-A31C-5B220D04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B7262-5936-4929-B8A9-42E6E49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F494B-40AA-4A1C-9798-2828819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Decide whether first demo uses real hardware, stored datasets, or both with a simple dashboard/report.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FC5E2-0895-48AE-ADC4-C5DC71F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of the meeting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8DD48-1EA8-421E-8D52-03A4ABD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frozen first-build architecture, a bill of materials direction, and a one-week implementation plan for data collection plus dashboard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B53DC-98EF-43C2-A882-7AFE853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7690C-6BAC-4F8E-91A9-B0F69AC0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0214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53452-0979-4609-AA29-622DA5A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E9E07-3A1E-4780-A0B2-D12E10F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 floor concept: one node per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BDAAD-2B65-48C1-8887-C91975B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design scales by repeating the same ESP32 sensor node for each monitored asset.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BEF49-2FF3-42CD-A555-2517BBFB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1178c81704e87"/>
          <a:stretch xmlns:a="http://schemas.openxmlformats.org/drawingml/2006/main"/>
        </p:blipFill>
        <p:spPr>
          <a:xfrm xmlns:a="http://schemas.openxmlformats.org/drawingml/2006/main">
            <a:off x="5308168" y="2095500"/>
            <a:ext cx="4871314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1857D-0A0E-4816-9ED6-8E455A91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E01F8-6162-44EA-A226-0503C18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machine has local temperature and vibration sensing.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447E0-7150-4F12-A5D3-5F637826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30181-4F92-42B1-9422-C3C2D6A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ESP32 publishes telemetry with machine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62D59-621E-41F8-BE29-038A6630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99A54-9253-44CF-8EDB-DDEE648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Gateway/cloud stores trends and sends alert topics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298B9-FD3D-430A-BFB0-351522B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9AF8D-52E7-4EF2-B864-169D92C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Operator reviews alerts before planning inspection.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85CA1-AFAE-4346-A1F4-EA70040C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678EC-C5B3-441D-801F-7F532F82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975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A0CD0-99CD-4576-A9DE-5AA09E7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AF9A2-891A-4112-A15A-E74696E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ESP32 is used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3BFA8-0CA7-4351-9AEE-29B73D5A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is the edge node: it sits near the machine, reads sensors, formats records, and publishes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0B618-2149-4802-AB31-F31396E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0BA0-5E0E-4772-8A43-8326B587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6FB0-5662-4667-86D8-65F2538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99BD5-BFAE-437A-9CB1-C2CAD95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Reads temperature and vibration sensors through simple digital buses such as 1-Wire, I2C, SPI, or UART.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57566-D5ED-41D5-A2E6-30FC0C1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FEAF4-C7D8-4D49-847D-137F9CEE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Machine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5D2B6-B2D7-484F-AD2B-FBB75CE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Adds machineId, nodeId, sensorId, timestamp, and sequence number before data leaves the machine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B0839-2198-44CD-937D-3994DC3E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F9429-12B2-4CAB-B71B-052F8A2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Connectivity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653B3-A621-400B-A04C-C11D765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Uses built-in Wi-Fi to publish MQTT telemetry to the broker and receive machine-specific alert topics.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D73B4-FD93-40B2-8BCD-D000E10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90EB6-0A8F-4370-AEB9-316A2A7A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Local resilience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2FD7D-90B0-4603-878C-C58FFBE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Can buffer a few records during brief network loss and retry publishing when Wi-Fi/MQTT returns.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9C57E-1F9F-4EED-A0CF-8E5732A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4086-D6B7-4D07-B212-9BC0B81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22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Debugging surface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1CA95-A0AB-416B-8D06-2D8DBDA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22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USB serial logs reveal raw readings, payload formatting, Wi-Fi status, MQTT publish errors, and alert reception.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F7533-C5E4-43AB-A8AD-C3FA607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8B759-2192-4AF7-B6A4-E43E0DA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8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does not train the ML model. It mainly collects, tags, buffers, publishes, and optionally shows local alerts.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2877D-E9E9-498B-8802-0E9FC946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1B4AF-15DF-4B3E-8DB7-5E33D80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4758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C6465-1D31-4067-B700-0DB32B02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UPSTREAM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221CA-0966-4BFB-8453-3A92CE1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MQTT telemetry format from ESP32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43F9F-BD3B-4C45-B02C-2714BF94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simple payload contract the backend listener should expect from factory/{machineId}/telemetry.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9B36C-8095-4367-A1CC-DB5671DB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1FA62-ADE6-4910-A982-56B14031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029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92098-E2F7-4597-AA4A-0E013C2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MQTT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977BC-404F-4148-AAC9-D5EB60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factory/{machineId}/telemetry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B27D5-6F6A-4891-9170-437B4C41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267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One message should represent one reading window or one compact batch. Keep the first prototype small: send features such as RMS/peak instead of large raw arrays unless we explicitly need raw waveform training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134E-5077-4DFB-A17D-E16B39E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 listener should validate required fields before storage or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952F2-AE4F-4153-8C6E-5DA84247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5429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BED5A-E1CB-4739-B260-B3C7FAA8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 JSON 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E3DB4-B02C-4C5A-8B0A-DB8AABA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"machineId": "M1",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"nodeId": "esp32-m1",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"timestampUtc": "2026-06-30T10:20:15Z",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"sequence": 1284,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"temperatureC": 42.3,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"vibration":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"rmsG": 0.18,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"peakG": 0.42,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"sampleWindowMs": 1000,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"sampleCount": 200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"status":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"wifiRssiDbm": -58,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"firmware": "0.1.0"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71ACE-DBFD-4253-A3E4-F6B2983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Minimum required fields: machineId, nodeId, timestampUtc, temperatureC, vibration.rmsG, sampleWindowMs, sampleCount.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5351-C3C9-4691-BA28-B3DC3869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6E448-1ED5-4D39-AD59-2B9633D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3902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F5589-D757-45E7-9894-43D7211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ROW-LEVEL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59462-939C-42A9-ACE9-E97F5CF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one raw reading becomes backend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7D50-2EF4-4CE1-9013-3A9B6881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slide follows one telemetry row until it reaches the first backend listener.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C3787-5636-49A8-A0B8-F2F46B49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8E6D3-2681-4CA5-94F7-01FEDDD7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0752F-699B-40E0-9A1C-D740D0C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25780-035D-45C4-922F-8349119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Physical heat and vibration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375C-9F97-47FA-AFCD-C6F79C5B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2262C-3E6B-4577-B1E8-1D00D7A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531C5-A269-4C5F-BC95-E58E2185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039E0-3CE9-4778-BE51-3E06EF4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C412B-A1D7-4ADA-9F1C-3BBC4D9F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Temperature and vibration readings.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6FC29-819B-4D49-A8CF-4DFAE4C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18EE7-5057-4036-BE37-63E6452A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E7E32-2ED3-489A-B2FC-B92C8537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3DAF0-8D89-436B-BC66-87A60A0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ESP32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14CA2-077D-4B0E-9B2B-7DE24926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Adds IDs, timestamp, sequence, and features.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7B573-B2E8-49A0-8B93-4740434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35F48-B1A0-44A0-B8FA-AE91866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52AAE-83C8-4A1E-BED3-2F39E55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3A424-5152-4E63-984C-F161C3E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MQTT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02ED0-7C66-4648-A37B-BCB0AB5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Publishes JSON telemetry topic.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E58DD-F374-4F09-A056-282F32F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54D39-C270-4AEC-9E44-528F8640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4719A-98C2-4F50-BCB5-B92B0FB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4B86A-DA14-476C-8605-CF5406C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Broker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54AA1-7B76-4782-A539-D0842DFD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Receives topic and routes message.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F55D7-A422-4444-8D13-D46142D0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92AB5-2486-4352-8D38-3725CD6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90614-2C96-4948-8165-4A2D6A8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A4D17B-D1BF-4632-B706-363C4CD1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Backend listener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32AD25-B74C-4C7D-89F4-E402B9D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Validates schema and stores raw row.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24E9A-56EB-4D4B-B7F6-6FB9784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 row expected by backend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EABC85-576B-490B-A5CC-B40EDC7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fields can later become database columns or a normalized telemetry table.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C6D046-66AB-4E82-A9AF-A2CA311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5240C-4195-4CAF-97B9-5FEC244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machineId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9441DE-C8D0-4E99-9CD8-0B1A29E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B63D32-9514-42D7-9A15-FE8806AD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92FFC-0F3D-40BC-998E-7DD3D8A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87B799-7AF6-4722-87B3-2A1E7C4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86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nodeId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49152A-416C-4121-BFF6-62D40C30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6A5A63-0865-48F1-84CC-C73A2F43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esp32-m1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5EEBEE-0958-4642-9322-DF76A41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E1D012-29F8-4939-B197-AFA991F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86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timestampUtc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6FC440-DAD2-467A-89EB-9092E738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4856B8-0BED-4268-B220-860EE9F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29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2026-06-30T10:20:15Z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2AEDC5-9F93-45F0-BC7F-57C5BD2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61FA05-426B-438E-A7A2-8BA7DA81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863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020967-D249-47BC-B2F8-E3252461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3C7369-5094-4AF8-BCDC-91A72FA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1284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114E5C-6741-4809-B05C-53C6C67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10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E34264-DAE1-4FE9-B38F-C830B5C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863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tempC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0B2C36-05E3-4380-8CFD-A19A9FA0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504E57-CBA9-49A6-9DDA-37F8BB3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29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42.3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84A7ED-ECCE-4349-86F1-DAE4540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A7F596-2FDD-43A4-9AA8-75BCD62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rmsG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F0433B-9B11-4D60-97FD-560B1765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96E289-681E-48D0-8364-374A760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0.18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A562F1-4067-4B93-A5FE-1019AD8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6EAE0D-08CE-487F-902E-9BE0F9B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peakG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5EA8E4-1AA7-4F89-A80E-16C6D93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34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CBDC7D-3C5B-409D-873B-42DDDACD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0.42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C8D023-701C-409F-A96D-16AD138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4108B9-70D0-46F5-B6B7-E55ADAF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windowMs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BB9EA9-42D5-422C-8EAD-E405D3E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9631C3-5ECD-439D-81B5-9502901E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29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064B07-65BC-4D4B-80E7-CF8BC79E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101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C1A884-B739-427B-9D84-5AC98D73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86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sampleCount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2FEC91-0190-4664-9815-9C8BF366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682D37-BF6A-4500-BAE9-950DF471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292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9B16B6-188A-4FF4-A300-B6BB61E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Backend listener first validates this row, then stores it as raw telemetry and passes it toward preprocessing/inference.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C37F7F-EC44-4462-A75E-DE94641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1B73D1-B388-4CCC-802A-0FE48D3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3306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38271-59CC-4426-AB47-D76C7EB1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BA45D-53C5-4583-841E-1DF66FE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Edge-to-cloud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20D41-8A7A-491F-B5DC-D2DBDE4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end-to-end path from physical machine signals to dashboard and maintenance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08E39-101C-481A-8C21-AEE9D11B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82e00223543df"/>
          <a:stretch xmlns:a="http://schemas.openxmlformats.org/drawingml/2006/main"/>
        </p:blipFill>
        <p:spPr>
          <a:xfrm xmlns:a="http://schemas.openxmlformats.org/drawingml/2006/main">
            <a:off x="514350" y="2057630"/>
            <a:ext cx="10934700" cy="27808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F5376-A1D4-4D05-ADE9-426BD585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0934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2BDCF-9819-42D0-8072-A7F2477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Important design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78C20-AC33-4BDE-BBF4-4E4F258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Edge tags and buffers records; MQTT separates telemetry and alert topics; cloud/server handles preprocessing, features, model, storage, alerts, and dashboard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5EAB3-C8BC-4D36-9184-14EB8C4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82B1D-714D-4CD1-B961-77AD287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9774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2BA63F-E3B1-4F2A-AC17-AD00E7F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SOFTWARE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57F39-1B70-4200-81DE-380183CB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Multi-machine domain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F6862-F60C-417F-9225-0AF9F6B2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class view makes the software boundaries and relationships explicit before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B64CD-2E7B-4AB3-A4E0-9DF293E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f63407870489c"/>
          <a:stretch xmlns:a="http://schemas.openxmlformats.org/drawingml/2006/main"/>
        </p:blipFill>
        <p:spPr>
          <a:xfrm xmlns:a="http://schemas.openxmlformats.org/drawingml/2006/main">
            <a:off x="2665362" y="2057400"/>
            <a:ext cx="2956025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E0DDB-059D-4CC1-8A5C-1B950E3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C2C66-3C10-4D52-894C-C3D1601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9C4D0-DF27-4CC5-9BB9-F52BFBE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 contains machines; each machine owns a sensor module.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2464A-5E13-4928-ACED-DA0AA88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A507C-0E9E-4035-B829-2AC95668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Telemetry records are created by ESP32 nodes and routed through MQTT.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6039F-03F3-4C70-A790-B637F90D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5211E-5638-4CDE-8CD4-6E5222FF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Cloud platform owns analysis, alert service, dashboard, and KPIs.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0C0E8-48E7-4D7D-BFD6-ACA0E0C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120BA-D16A-4181-BC7A-D818EFCC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keeps future machines and fault categories addable.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B2CE6-09D6-4BA2-96BE-75927BDC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7A759-E5B4-454E-8228-37A91DB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7144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F0242-2BA2-4998-931C-97626F2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SENSOR 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70D5F-20C6-4C7E-B525-EBB8817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ESP32 module per monitored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1B4D-055B-48F2-9A4A-6E04352A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Local sensor wiring keeps each machine independent and makes machine identification reliable.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390C4-5777-456E-AFE7-4C837F4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BEDB8-A7CD-435F-84EF-8328170D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Professor feedback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79B1B-22F5-4294-9D5E-D6E44F97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E65F9-B937-488C-9B98-7BE4F5BF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Is one ESP32 per machine acceptable for the project cost?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10BB2-F5C5-414D-AE79-56278D4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0D7D3-1EED-4E48-A247-0B3B252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Should vibration sampling happen on ESP32 or mostly on server?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A4B81-3BB7-49B4-B4A4-5F5CF9D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C1744-E090-431C-A06A-02C4536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How much local buffering is enough for the first prototype?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d6bb09b04486c"/>
          <a:stretch xmlns:a="http://schemas.openxmlformats.org/drawingml/2006/main"/>
        </p:blipFill>
        <p:spPr>
          <a:xfrm xmlns:a="http://schemas.openxmlformats.org/drawingml/2006/main">
            <a:off x="533400" y="3600338"/>
            <a:ext cx="11029950" cy="200047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B92EB-5DC4-4B9F-84AE-65B37AA4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C85CB-A0CE-4BEE-8BF1-07F1C12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8797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29C88-AEF7-4C13-BC57-A2191B6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30B37-0BEE-45A2-B8C7-192D10B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Candidate temperature and vibration sensors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7D2D7-1336-4CDC-820E-0B7EDFC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table compares prototype-friendly parts with more industrial upgrade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E5058-2277-4997-92A4-15385AFC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4bd4881da4625"/>
          <a:stretch xmlns:a="http://schemas.openxmlformats.org/drawingml/2006/main"/>
        </p:blipFill>
        <p:spPr>
          <a:xfrm xmlns:a="http://schemas.openxmlformats.org/drawingml/2006/main">
            <a:off x="438150" y="2094943"/>
            <a:ext cx="11049000" cy="263001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1821A-30CE-4DA3-A169-29C03DCE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10150"/>
            <a:ext cx="1104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E0D9E-6F0D-4400-91A0-0056350B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64A38-8C44-4EEA-BEA5-402243B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BA3C0-10E1-44AE-854A-99939875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101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DS18B20 for temperature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9AF03-3BDA-41C8-9FF1-BE2A58C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9ACF0-640E-49BB-9162-4EA3DB2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01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ADXL345 for vibration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8578-ECC6-4613-970D-4A5F84F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Thermocouple and industrial piezo sensors stay as future upgrades.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C85D4-4C38-4F9B-9DB9-AF81DA9D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7AE88-B0D7-44A8-A0D6-470B18A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6483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48A6F-D806-4530-9E11-92C9A33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HARDWARE WIRING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33A91-5FF0-4F71-9B4D-CD7823D5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ESP32 pin and interface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E92D-5506-4B56-A346-56A83DA2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are documentation defaults; final wiring should match the exact development 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47BD6-AE5C-468A-8F67-0D82B378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758c610ba49b6"/>
          <a:stretch xmlns:a="http://schemas.openxmlformats.org/drawingml/2006/main"/>
        </p:blipFill>
        <p:spPr>
          <a:xfrm xmlns:a="http://schemas.openxmlformats.org/drawingml/2006/main">
            <a:off x="495300" y="2538147"/>
            <a:ext cx="8191500" cy="28485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F482B-7768-415F-87ED-1454400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Review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D86B7-7DD9-4B35-9EAB-E18CD0A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B3141-6FA6-45A3-90CB-C67B928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Avoid ESP32 boot-strapping pins.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E7EDD-47E6-4CBC-A74C-3C002338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2E38-D894-489D-A69E-B420DD8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I2C wiring short near the machine.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86B88-5102-4C24-9BFB-D753EFE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62A58-EAEB-4F79-8D93-23B3BCC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pull-up resistor for DS18B20.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8169B-86FC-425C-B476-50CC505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28B63-9DDA-4829-8AF9-ACBE595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Reserve UART pins if RS485 is explored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86270-9FA9-4534-A7D9-88E594F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8E0B9-B633-4C85-8E97-8FB53D8C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6557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7386C-D900-429F-AB5F-14D3200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PROTOCOLS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051B9-D7F1-412B-8604-90C625C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 protocol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2DF5D-5744-4682-AB6F-FB00DB9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MQTT gives the cleanest telemetry-up and alert-down story for multiple ESP32 nodes.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FA355-8AB6-4448-BED0-1B8242D2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b2cc9cf334e37"/>
          <a:stretch xmlns:a="http://schemas.openxmlformats.org/drawingml/2006/main"/>
        </p:blipFill>
        <p:spPr>
          <a:xfrm xmlns:a="http://schemas.openxmlformats.org/drawingml/2006/main">
            <a:off x="476250" y="2119208"/>
            <a:ext cx="10991850" cy="260053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5640A-6C3E-4BA5-97E3-2221361F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10991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3DEB9-D2FB-40E3-B79A-05C0C38D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Recommended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99573-7956-480F-9FA5-3173F216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19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MQTT over Wi-Fi for the design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E240B-944C-4D5B-B5C4-A6435AB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remains easy for APIs, Serial is useful for lab debugging, and RS485/Modbus is the industrial scalability discussion.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E913C-ECFA-4D36-9C8A-EAAB542B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1AB9E-0C4D-49E4-81F3-5766289E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238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31B6D-D8A1-4A0F-886F-3C7075CD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69F19-AE63-438E-B735-5FEED81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readings become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87E7E-D78F-4934-84E0-971B734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pipeline must preserve raw evidence, derived features, predictions, alerts, and maintenance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34F0A-8901-4998-8D09-C0DC212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463f1a33c4267"/>
          <a:stretch xmlns:a="http://schemas.openxmlformats.org/drawingml/2006/main"/>
        </p:blipFill>
        <p:spPr>
          <a:xfrm xmlns:a="http://schemas.openxmlformats.org/drawingml/2006/main">
            <a:off x="566016" y="2057400"/>
            <a:ext cx="10850418" cy="2819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BD34-9A6B-4636-84A8-A45DD5D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 data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2724B-1B86-4B19-8985-BA5095E6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Raw telemetry: machineId, sensorId, timestamp.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496BB-84AB-4AAC-9A81-F94F2166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Feature windows: RMS, averages, peaks, temperature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99EDA-B410-413B-86F9-FB8F7D8E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Predictions: health state, risk score, probable root cause.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EEADF-A99A-4C5C-B0ED-DA0D00A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Alerts and maintenance actions close the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F2510-EBA9-4733-9839-F7FA478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01349-29EF-48C0-9652-896F95C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86707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8045B-A54C-44DA-9441-D201F3B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47098-8B7A-43D2-99B6-03AF81C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Non-functional choices affect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1005E-0B69-4A64-977B-3CA30F0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Interoperability, scalability, cost, and security should be decided before hardware purchase.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16C21-E710-4308-AA02-7F1BF8F0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66d5090824012"/>
          <a:stretch xmlns:a="http://schemas.openxmlformats.org/drawingml/2006/main"/>
        </p:blipFill>
        <p:spPr>
          <a:xfrm xmlns:a="http://schemas.openxmlformats.org/drawingml/2006/main">
            <a:off x="1592498" y="2057400"/>
            <a:ext cx="1634654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F7068-4EEB-4A1E-BF29-71EBB8C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E4D81-35A8-4DED-B7D2-4118AF96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Interoperability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1747C-E8D5-40EA-B95A-A096AF3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MQTT topics, machineId, sensorId, timestamp, and documented interfaces.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81921-688C-4439-9243-61E453D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0F7CE-B7A8-414B-9179-809ACAF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F86F-4F7C-4637-9836-C7BF58B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Repeat one node per machine; keep RS485/Modbus as future field-bus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C1F0C-CB63-4C86-A500-76B5BF8C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7C852-9240-4852-BAA4-8B70F2B6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059DD-E0FA-413C-A43B-BF9E4AB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and prototype sensors stay low cost; one-node-per-machine costs more but simplifies wiring.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0F5E2-B299-4314-89DA-82A0FB4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DB4E7-CC3D-4D9C-867A-02693488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4AAF7-B838-4A2A-9BD2-4426A9F6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Wi-Fi isolation, MQTT credentials/TLS where possible, validation, and limited dashboard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8DB6E-0F6E-47EE-99D5-AE3896F0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A6F25-F016-42C1-AEEB-F36CB23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25320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F6195-A1C5-4D1E-8CF6-E68277E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3BEC6-C94E-4E10-A28A-28471BF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Proposed baseline for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974CC-7238-48C1-BAE4-C8AE7F27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design we can freeze after professor review, unless the meeting points to a better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D5C48-389D-41D2-BF67-D0438BE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6DEA1-7722-43DB-A3EC-13C72A2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67EA5-4CDA-4A49-B109-36D323D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Baseline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6FA28-A1E2-4C47-86C4-25B2AF0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18B7-7A3E-4668-8307-4472BE2B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7288B-8C1D-4D46-8680-1191125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Machine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861FA-5D94-443F-A21E-E81BD45E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One ESP32 per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32114-9D07-472C-A45E-D0369BE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Simpler identification, shorter sensor wiring, repeatable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6B128-D49B-4973-A81E-A5E30B97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9FECF-450C-4DD3-B159-38B88F0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D87C4-4643-4D39-9C57-1A76027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DS18B20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42840-0924-4AD1-92EC-13087B7C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Low-cost digital sensor; thermocouple kept as high-temp upgrade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19A4A-D790-41AD-A037-C3177B1D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98954-3792-4CA3-9634-5D2C491E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D89F3-1D62-4BC3-91B5-AC2CCDC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ADXL345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62ABD-451E-4F72-9FFA-3C379CD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Digital I2C/SPI accelerometer; MPU6050 acceptable if easier to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7B560-B26D-4DFF-9B18-FC82BCF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1BDA8-0D8D-4247-8051-4E75F73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FFD28-B1DC-475F-BE4F-038F82B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MQTT over Wi-Fi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A7C19-17BA-455E-8911-E45C6C8E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Publish telemetry and receive machine-specific alert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401D6-BFB1-4C6E-821A-A0B37FFD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D5D21-9E40-463C-A6D6-3B20F59C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89021-41D3-453B-9FEA-46A511DC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Dataset plus one hardware node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16946-B644-4075-B806-664ECD8D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Reduces project risk while still proving the hardware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9C103-957D-4982-93DE-A50BCF3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Professor help: validate these choices or tell us what to change before implementation starts.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D6C18-6749-4562-BA37-96703EBA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516E4-6A61-4152-A806-E6A18D2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237102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189A1-DC00-4530-8DDB-9DFC0BC0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D006-6077-4BB3-99B9-0B19BB9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After the design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6C7F5-3C01-414E-8E22-2C37348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next sprint should produce measurable evidence, not only more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3B754-2F1E-4F1B-B73B-40EFCD0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74454-A1B4-4E3D-94E3-58895010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E4A20-158D-41C1-B2A1-E723305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0D79F-D88F-4548-A88A-A6268E6F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Finalize BOM and wiring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0C40-9935-4866-A4E5-89F8DFDD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Buy or confirm ESP32, DS18B20, ADXL345/MPU6050, resistors, jumper wires, mounting approach.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D58D1-A5DA-4836-B0CD-04BAE89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0A96-33EF-4B41-B606-671CDF7E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02114-B6B6-44C5-A6E8-C828B8B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Collect first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0B809-863C-4906-B44A-DFD7E614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 temperature and vibration samples; log timestamped machine records locally and over MQTT.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E66CD-EC06-45B0-A9BF-998AAFDA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F7ED7-ED08-4E54-AB2C-1B787415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3D798-81F8-4975-9664-6C286AC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analysis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6C1F2-4B54-44B3-B5F9-0518220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Preprocess windows, compute RMS/mean/peak and simple risk logic before full ML.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F9CEF-A7C1-40B9-9C4A-E324E71E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50769-C7F4-42D5-9675-A863835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A6AAD-D2BB-458B-9730-F6B7B960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Show review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2A544-B520-4B98-8BD0-8D1BFB73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Display status, trends, alerts, maintenance history, and KPIs for the professor check-in.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AC9F-AA82-4A7D-A35F-E50C2223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68B1E-7E60-46CA-A677-99FECB6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Success criterion: demonstrate one complete path from sensor or dataset reading to health status, alert, and maintenance recommendation.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3B977-620B-49DD-AC8E-AAA539F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01909-C266-4A24-B1DD-3059134C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2647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2026-06-30T05:59:45.6610000Z</dcterms:created>
  <dcterms:modified xsi:type="dcterms:W3CDTF">2026-06-30T05:59:45.6610000Z</dcterms:modified>
</coreProperties>
</file>