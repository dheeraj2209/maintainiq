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68" r:id="rId4"/>
    <p:sldId id="259" r:id="rId5"/>
    <p:sldId id="269" r:id="rId6"/>
    <p:sldId id="260" r:id="rId7"/>
    <p:sldId id="270" r:id="rId8"/>
    <p:sldId id="272" r:id="rId9"/>
    <p:sldId id="273" r:id="rId10"/>
    <p:sldId id="264" r:id="rId11"/>
    <p:sldId id="275" r:id="rId12"/>
    <p:sldId id="266" r:id="rId13"/>
    <p:sldId id="267" r:id="rId14"/>
    <p:sldId id="276"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BFF"/>
    <a:srgbClr val="AC0000"/>
    <a:srgbClr val="A50021"/>
    <a:srgbClr val="6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007" autoAdjust="0"/>
  </p:normalViewPr>
  <p:slideViewPr>
    <p:cSldViewPr snapToGrid="0">
      <p:cViewPr varScale="1">
        <p:scale>
          <a:sx n="83" d="100"/>
          <a:sy n="83" d="100"/>
        </p:scale>
        <p:origin x="5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as a condition-monitoring system for machines such as motors, pumps, fans, and bearings. Explain that the aim is not just to collect sensor data, but to convert vibration behavior into useful maintenance decisions before a serious breakdown occurs.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Explain that machines usually do not fail instantly. Before failure, vibration patterns often change due to imbalance, wear, misalignment, looseness, or bearing problems. The challenge is that traditional methods do not continuously observe these subtle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endParaRPr lang="en-IN"/>
          </a:p>
        </p:txBody>
      </p:sp>
    </p:spTree>
    <p:extLst>
      <p:ext uri="{BB962C8B-B14F-4D97-AF65-F5344CB8AC3E}">
        <p14:creationId xmlns:p14="http://schemas.microsoft.com/office/powerpoint/2010/main" val="3222791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solution at a high level. The system observes vibration, cleans the data, extracts features such as RMS and peak value, uses a model or rule logic to classify health, and then communicates the result through dashboard and alerts.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the modular design decision. Separating modules reduces development risk and makes future improvements easier. For example, the classifier can be upgraded without rewriting the dashboard, and the sensor input can be replaced by a dataset during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implementation discussion concise. Mention that the exact technology can vary depending on available hardware. The important design choice is the modular pipeline, which allows the same logic to work with live sensor input or a stored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realistic and credible. Acknowledge that predictive maintenance quality depends on good data and testing. Then show that the architecture already supports future growth, including better models, multiple machines, and richer alert channels.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summarizing the contribution. The project shows how sensor data can be converted into machine health insight and actionable alerts. Reinforce that the system assists human maintenance decisions and provides a scalable base for future improvements.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4DC838F9-47CE-412C-8B7A-3ECC066DAAF5}"/>
              </a:ext>
            </a:extLst>
          </p:cNvPr>
          <p:cNvSpPr>
            <a:spLocks noGrp="1"/>
          </p:cNvSpPr>
          <p:nvPr/>
        </p:nvSpPr>
        <p:spPr>
          <a:xfrm>
            <a:off x="0" y="0"/>
            <a:ext cx="12192000" cy="6858000"/>
          </a:xfrm>
          <a:prstGeom prst="rect">
            <a:avLst/>
          </a:prstGeom>
          <a:solidFill>
            <a:srgbClr val="17212B"/>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189B5EB5-C17B-494D-BA26-8CA0483BE68A}"/>
              </a:ext>
            </a:extLst>
          </p:cNvPr>
          <p:cNvSpPr>
            <a:spLocks noGrp="1"/>
          </p:cNvSpPr>
          <p:nvPr/>
        </p:nvSpPr>
        <p:spPr>
          <a:xfrm>
            <a:off x="0" y="0"/>
            <a:ext cx="12192000" cy="6858000"/>
          </a:xfrm>
          <a:prstGeom prst="rect">
            <a:avLst/>
          </a:prstGeom>
          <a:solidFill>
            <a:srgbClr val="17212B"/>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B6DAD44A-F8FC-446A-808C-AB9266CA3F46}"/>
              </a:ext>
            </a:extLst>
          </p:cNvPr>
          <p:cNvSpPr>
            <a:spLocks noGrp="1"/>
          </p:cNvSpPr>
          <p:nvPr/>
        </p:nvSpPr>
        <p:spPr>
          <a:xfrm>
            <a:off x="533400" y="495300"/>
            <a:ext cx="419100" cy="47625"/>
          </a:xfrm>
          <a:prstGeom prst="rect">
            <a:avLst/>
          </a:prstGeom>
          <a:solidFill>
            <a:srgbClr val="D98C00"/>
          </a:solidFill>
          <a:ln w="0">
            <a:solidFill>
              <a:srgbClr val="000000">
                <a:alpha val="0"/>
              </a:srgbClr>
            </a:solidFill>
            <a:prstDash val="solid"/>
          </a:ln>
        </p:spPr>
        <p:txBody>
          <a:bodyPr/>
          <a:lstStyle/>
          <a:p>
            <a:endParaRPr/>
          </a:p>
        </p:txBody>
      </p:sp>
      <p:sp>
        <p:nvSpPr>
          <p:cNvPr id="4" name="Rectangle 3">
            <a:extLst>
              <a:ext uri="{FF2B5EF4-FFF2-40B4-BE49-F238E27FC236}">
                <a16:creationId xmlns:a16="http://schemas.microsoft.com/office/drawing/2014/main" id="{34FFE9CE-0332-4E04-96C0-1FE55ECDBD85}"/>
              </a:ext>
            </a:extLst>
          </p:cNvPr>
          <p:cNvSpPr>
            <a:spLocks noGrp="1"/>
          </p:cNvSpPr>
          <p:nvPr/>
        </p:nvSpPr>
        <p:spPr>
          <a:xfrm>
            <a:off x="1066800" y="371475"/>
            <a:ext cx="2857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C9D5DF"/>
                </a:solidFill>
                <a:latin typeface="Aptos"/>
                <a:ea typeface="Aptos"/>
                <a:cs typeface="Aptos"/>
              </a:defRPr>
            </a:pPr>
            <a:r>
              <a:rPr lang="en-GB" sz="975" b="1" dirty="0">
                <a:solidFill>
                  <a:srgbClr val="C9D5DF"/>
                </a:solidFill>
                <a:latin typeface="Aptos"/>
                <a:ea typeface="Aptos"/>
                <a:cs typeface="Aptos"/>
              </a:rPr>
              <a:t>P</a:t>
            </a:r>
            <a:r>
              <a:rPr sz="975" b="1" dirty="0" smtClean="0">
                <a:solidFill>
                  <a:srgbClr val="C9D5DF"/>
                </a:solidFill>
                <a:latin typeface="Aptos"/>
                <a:ea typeface="Aptos"/>
                <a:cs typeface="Aptos"/>
              </a:rPr>
              <a:t>ROJECT </a:t>
            </a:r>
            <a:r>
              <a:rPr sz="975" b="1" dirty="0">
                <a:solidFill>
                  <a:srgbClr val="C9D5DF"/>
                </a:solidFill>
                <a:latin typeface="Aptos"/>
                <a:ea typeface="Aptos"/>
                <a:cs typeface="Aptos"/>
              </a:rPr>
              <a:t>REVIEW</a:t>
            </a:r>
          </a:p>
        </p:txBody>
      </p:sp>
      <p:sp>
        <p:nvSpPr>
          <p:cNvPr id="5" name="Rectangle 4">
            <a:extLst>
              <a:ext uri="{FF2B5EF4-FFF2-40B4-BE49-F238E27FC236}">
                <a16:creationId xmlns:a16="http://schemas.microsoft.com/office/drawing/2014/main" id="{20E64DE2-3DE9-4390-8CEA-7914BE918918}"/>
              </a:ext>
            </a:extLst>
          </p:cNvPr>
          <p:cNvSpPr>
            <a:spLocks noGrp="1"/>
          </p:cNvSpPr>
          <p:nvPr/>
        </p:nvSpPr>
        <p:spPr>
          <a:xfrm>
            <a:off x="533400" y="1047749"/>
            <a:ext cx="5905500" cy="2200275"/>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defRPr sz="4050" b="1">
                <a:solidFill>
                  <a:srgbClr val="FFFFFF"/>
                </a:solidFill>
                <a:latin typeface="Aptos Display"/>
                <a:ea typeface="Aptos Display"/>
                <a:cs typeface="Aptos Display"/>
              </a:defRPr>
            </a:pPr>
            <a:r>
              <a:rPr lang="en-IN" sz="4050" b="1" dirty="0" err="1">
                <a:solidFill>
                  <a:srgbClr val="AC0000"/>
                </a:solidFill>
              </a:rPr>
              <a:t>MaintenIQ</a:t>
            </a:r>
            <a:r>
              <a:rPr lang="en-GB" sz="2900" dirty="0" smtClean="0">
                <a:latin typeface="Aptos"/>
              </a:rPr>
              <a:t/>
            </a:r>
            <a:br>
              <a:rPr lang="en-GB" sz="2900" dirty="0" smtClean="0">
                <a:latin typeface="Aptos"/>
              </a:rPr>
            </a:br>
            <a:r>
              <a:rPr lang="en-GB" sz="2900" dirty="0" smtClean="0">
                <a:latin typeface="Aptos"/>
              </a:rPr>
              <a:t>A </a:t>
            </a:r>
            <a:r>
              <a:rPr lang="en-GB" sz="2900" dirty="0">
                <a:latin typeface="Aptos"/>
              </a:rPr>
              <a:t>s</a:t>
            </a:r>
            <a:r>
              <a:rPr sz="2900" dirty="0" smtClean="0">
                <a:latin typeface="Aptos"/>
              </a:rPr>
              <a:t>mart </a:t>
            </a:r>
            <a:r>
              <a:rPr sz="2900" dirty="0">
                <a:latin typeface="Aptos"/>
              </a:rPr>
              <a:t>Predictive</a:t>
            </a:r>
          </a:p>
          <a:p>
            <a:r>
              <a:rPr sz="2900" dirty="0">
                <a:solidFill>
                  <a:schemeClr val="bg1"/>
                </a:solidFill>
                <a:latin typeface="Aptos"/>
              </a:rPr>
              <a:t>Maintenance Decision</a:t>
            </a:r>
          </a:p>
          <a:p>
            <a:r>
              <a:rPr sz="2900" dirty="0">
                <a:solidFill>
                  <a:schemeClr val="bg1"/>
                </a:solidFill>
                <a:latin typeface="Aptos"/>
              </a:rPr>
              <a:t>Support System</a:t>
            </a:r>
          </a:p>
        </p:txBody>
      </p:sp>
      <p:sp>
        <p:nvSpPr>
          <p:cNvPr id="6" name="Rectangle 5">
            <a:extLst>
              <a:ext uri="{FF2B5EF4-FFF2-40B4-BE49-F238E27FC236}">
                <a16:creationId xmlns:a16="http://schemas.microsoft.com/office/drawing/2014/main" id="{A9A6DC05-E360-4511-9BC9-5C2626ED0919}"/>
              </a:ext>
            </a:extLst>
          </p:cNvPr>
          <p:cNvSpPr>
            <a:spLocks noGrp="1"/>
          </p:cNvSpPr>
          <p:nvPr/>
        </p:nvSpPr>
        <p:spPr>
          <a:xfrm>
            <a:off x="571500" y="3305175"/>
            <a:ext cx="6096000" cy="800099"/>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650" b="0">
                <a:solidFill>
                  <a:srgbClr val="CAD6DF"/>
                </a:solidFill>
                <a:latin typeface="Aptos"/>
                <a:ea typeface="Aptos"/>
                <a:cs typeface="Aptos"/>
              </a:defRPr>
            </a:pPr>
            <a:r>
              <a:rPr sz="1400" dirty="0" err="1">
                <a:latin typeface="Aptos"/>
              </a:rPr>
              <a:t>IoT</a:t>
            </a:r>
            <a:r>
              <a:rPr sz="1400" dirty="0">
                <a:latin typeface="Aptos"/>
              </a:rPr>
              <a:t> multi-sensor monitoring + edge-cloud analytics for early machine-health decisions.</a:t>
            </a:r>
          </a:p>
        </p:txBody>
      </p:sp>
      <p:sp>
        <p:nvSpPr>
          <p:cNvPr id="7" name="Rounded Rectangle 6">
            <a:extLst>
              <a:ext uri="{FF2B5EF4-FFF2-40B4-BE49-F238E27FC236}">
                <a16:creationId xmlns:a16="http://schemas.microsoft.com/office/drawing/2014/main" id="{34B31B97-DB6B-4EC2-A032-B5DB9D7FD2E7}"/>
              </a:ext>
            </a:extLst>
          </p:cNvPr>
          <p:cNvSpPr>
            <a:spLocks noGrp="1"/>
          </p:cNvSpPr>
          <p:nvPr/>
        </p:nvSpPr>
        <p:spPr>
          <a:xfrm>
            <a:off x="6715125" y="1276350"/>
            <a:ext cx="1714500" cy="781050"/>
          </a:xfrm>
          <a:prstGeom prst="roundRect">
            <a:avLst>
              <a:gd name="adj" fmla="val 9756"/>
            </a:avLst>
          </a:prstGeom>
          <a:solidFill>
            <a:srgbClr val="223140"/>
          </a:solidFill>
          <a:ln w="9525">
            <a:solidFill>
              <a:srgbClr val="3E5266"/>
            </a:solidFill>
            <a:prstDash val="solid"/>
          </a:ln>
        </p:spPr>
        <p:txBody>
          <a:bodyPr/>
          <a:lstStyle/>
          <a:p>
            <a:endParaRPr/>
          </a:p>
        </p:txBody>
      </p:sp>
      <p:sp>
        <p:nvSpPr>
          <p:cNvPr id="8" name="Rectangle 7">
            <a:extLst>
              <a:ext uri="{FF2B5EF4-FFF2-40B4-BE49-F238E27FC236}">
                <a16:creationId xmlns:a16="http://schemas.microsoft.com/office/drawing/2014/main" id="{0CEF4F7A-D058-40C6-8E3D-6F9A60B6EA5C}"/>
              </a:ext>
            </a:extLst>
          </p:cNvPr>
          <p:cNvSpPr>
            <a:spLocks noGrp="1"/>
          </p:cNvSpPr>
          <p:nvPr/>
        </p:nvSpPr>
        <p:spPr>
          <a:xfrm>
            <a:off x="6715125" y="1276350"/>
            <a:ext cx="57150" cy="781050"/>
          </a:xfrm>
          <a:prstGeom prst="rect">
            <a:avLst/>
          </a:prstGeom>
          <a:solidFill>
            <a:srgbClr val="D98C00"/>
          </a:solidFill>
          <a:ln w="0">
            <a:solidFill>
              <a:srgbClr val="000000">
                <a:alpha val="0"/>
              </a:srgbClr>
            </a:solidFill>
            <a:prstDash val="solid"/>
          </a:ln>
        </p:spPr>
        <p:txBody>
          <a:bodyPr/>
          <a:lstStyle/>
          <a:p>
            <a:endParaRPr/>
          </a:p>
        </p:txBody>
      </p:sp>
      <p:sp>
        <p:nvSpPr>
          <p:cNvPr id="9" name="Rectangle 8">
            <a:extLst>
              <a:ext uri="{FF2B5EF4-FFF2-40B4-BE49-F238E27FC236}">
                <a16:creationId xmlns:a16="http://schemas.microsoft.com/office/drawing/2014/main" id="{8DED847B-F219-4365-ABF5-803C8CD7EF22}"/>
              </a:ext>
            </a:extLst>
          </p:cNvPr>
          <p:cNvSpPr>
            <a:spLocks noGrp="1"/>
          </p:cNvSpPr>
          <p:nvPr/>
        </p:nvSpPr>
        <p:spPr>
          <a:xfrm>
            <a:off x="6867525" y="1409700"/>
            <a:ext cx="1409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a:ea typeface="Aptos"/>
                <a:cs typeface="Aptos"/>
              </a:defRPr>
            </a:pPr>
            <a:r>
              <a:rPr sz="1350" b="1">
                <a:solidFill>
                  <a:srgbClr val="FFFFFF"/>
                </a:solidFill>
                <a:latin typeface="Aptos"/>
                <a:ea typeface="Aptos"/>
                <a:cs typeface="Aptos"/>
              </a:rPr>
              <a:t>Machine</a:t>
            </a:r>
          </a:p>
        </p:txBody>
      </p:sp>
      <p:sp>
        <p:nvSpPr>
          <p:cNvPr id="10" name="Rectangle 9">
            <a:extLst>
              <a:ext uri="{FF2B5EF4-FFF2-40B4-BE49-F238E27FC236}">
                <a16:creationId xmlns:a16="http://schemas.microsoft.com/office/drawing/2014/main" id="{F2242B8B-1961-4C5C-A450-4EC468677B17}"/>
              </a:ext>
            </a:extLst>
          </p:cNvPr>
          <p:cNvSpPr>
            <a:spLocks noGrp="1"/>
          </p:cNvSpPr>
          <p:nvPr/>
        </p:nvSpPr>
        <p:spPr>
          <a:xfrm>
            <a:off x="6867525" y="1676400"/>
            <a:ext cx="14097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9C7D3"/>
                </a:solidFill>
                <a:latin typeface="Aptos"/>
                <a:ea typeface="Aptos"/>
                <a:cs typeface="Aptos"/>
              </a:defRPr>
            </a:pPr>
            <a:r>
              <a:rPr sz="975" b="0" dirty="0">
                <a:solidFill>
                  <a:srgbClr val="B9C7D3"/>
                </a:solidFill>
                <a:latin typeface="Aptos"/>
                <a:ea typeface="Aptos"/>
                <a:cs typeface="Aptos"/>
              </a:rPr>
              <a:t>Motor, pump, fan or bearing setup</a:t>
            </a:r>
          </a:p>
        </p:txBody>
      </p:sp>
      <p:sp>
        <p:nvSpPr>
          <p:cNvPr id="11" name="Rectangle 10">
            <a:extLst>
              <a:ext uri="{FF2B5EF4-FFF2-40B4-BE49-F238E27FC236}">
                <a16:creationId xmlns:a16="http://schemas.microsoft.com/office/drawing/2014/main" id="{E06FBB4E-45ED-4237-80D3-B70A4F6DE139}"/>
              </a:ext>
            </a:extLst>
          </p:cNvPr>
          <p:cNvSpPr>
            <a:spLocks noGrp="1"/>
          </p:cNvSpPr>
          <p:nvPr/>
        </p:nvSpPr>
        <p:spPr>
          <a:xfrm>
            <a:off x="8505825" y="1552575"/>
            <a:ext cx="4000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D98C00"/>
                </a:solidFill>
                <a:latin typeface="Aptos"/>
                <a:ea typeface="Aptos"/>
                <a:cs typeface="Aptos"/>
              </a:defRPr>
            </a:pPr>
            <a:r>
              <a:rPr sz="1650" b="1">
                <a:solidFill>
                  <a:srgbClr val="D98C00"/>
                </a:solidFill>
                <a:latin typeface="Aptos"/>
                <a:ea typeface="Aptos"/>
                <a:cs typeface="Aptos"/>
              </a:rPr>
              <a:t>-&gt;</a:t>
            </a:r>
          </a:p>
        </p:txBody>
      </p:sp>
      <p:sp>
        <p:nvSpPr>
          <p:cNvPr id="12" name="Rounded Rectangle 11">
            <a:extLst>
              <a:ext uri="{FF2B5EF4-FFF2-40B4-BE49-F238E27FC236}">
                <a16:creationId xmlns:a16="http://schemas.microsoft.com/office/drawing/2014/main" id="{3ED873DF-26FE-4737-BDE9-01AE632B5DA7}"/>
              </a:ext>
            </a:extLst>
          </p:cNvPr>
          <p:cNvSpPr>
            <a:spLocks noGrp="1"/>
          </p:cNvSpPr>
          <p:nvPr/>
        </p:nvSpPr>
        <p:spPr>
          <a:xfrm>
            <a:off x="8982075" y="1276350"/>
            <a:ext cx="1790700" cy="781050"/>
          </a:xfrm>
          <a:prstGeom prst="roundRect">
            <a:avLst>
              <a:gd name="adj" fmla="val 9756"/>
            </a:avLst>
          </a:prstGeom>
          <a:solidFill>
            <a:srgbClr val="223140"/>
          </a:solidFill>
          <a:ln w="9525">
            <a:solidFill>
              <a:srgbClr val="3E5266"/>
            </a:solidFill>
            <a:prstDash val="solid"/>
          </a:ln>
        </p:spPr>
        <p:txBody>
          <a:bodyPr/>
          <a:lstStyle/>
          <a:p>
            <a:endParaRPr/>
          </a:p>
        </p:txBody>
      </p:sp>
      <p:sp>
        <p:nvSpPr>
          <p:cNvPr id="13" name="Rectangle 12">
            <a:extLst>
              <a:ext uri="{FF2B5EF4-FFF2-40B4-BE49-F238E27FC236}">
                <a16:creationId xmlns:a16="http://schemas.microsoft.com/office/drawing/2014/main" id="{11D51F5F-E081-49D2-9A96-1F207FD884F9}"/>
              </a:ext>
            </a:extLst>
          </p:cNvPr>
          <p:cNvSpPr>
            <a:spLocks noGrp="1"/>
          </p:cNvSpPr>
          <p:nvPr/>
        </p:nvSpPr>
        <p:spPr>
          <a:xfrm>
            <a:off x="8982075" y="1276350"/>
            <a:ext cx="57150" cy="781050"/>
          </a:xfrm>
          <a:prstGeom prst="rect">
            <a:avLst/>
          </a:prstGeom>
          <a:solidFill>
            <a:srgbClr val="0B7A75"/>
          </a:solidFill>
          <a:ln w="0">
            <a:solidFill>
              <a:srgbClr val="000000">
                <a:alpha val="0"/>
              </a:srgbClr>
            </a:solidFill>
            <a:prstDash val="solid"/>
          </a:ln>
        </p:spPr>
        <p:txBody>
          <a:bodyPr/>
          <a:lstStyle/>
          <a:p>
            <a:endParaRPr/>
          </a:p>
        </p:txBody>
      </p:sp>
      <p:sp>
        <p:nvSpPr>
          <p:cNvPr id="14" name="Rectangle 13">
            <a:extLst>
              <a:ext uri="{FF2B5EF4-FFF2-40B4-BE49-F238E27FC236}">
                <a16:creationId xmlns:a16="http://schemas.microsoft.com/office/drawing/2014/main" id="{CFA7DA60-DD9E-4C04-8924-7CC3608C10D9}"/>
              </a:ext>
            </a:extLst>
          </p:cNvPr>
          <p:cNvSpPr>
            <a:spLocks noGrp="1"/>
          </p:cNvSpPr>
          <p:nvPr/>
        </p:nvSpPr>
        <p:spPr>
          <a:xfrm>
            <a:off x="9134475" y="1409700"/>
            <a:ext cx="1485900" cy="2286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350" b="1">
                <a:solidFill>
                  <a:srgbClr val="FFFFFF"/>
                </a:solidFill>
                <a:latin typeface="Aptos"/>
                <a:ea typeface="Aptos"/>
                <a:cs typeface="Aptos"/>
              </a:defRPr>
            </a:pPr>
            <a:r>
              <a:rPr sz="1200">
                <a:latin typeface="Aptos"/>
              </a:rPr>
              <a:t>Multi-sensor</a:t>
            </a:r>
          </a:p>
        </p:txBody>
      </p:sp>
      <p:sp>
        <p:nvSpPr>
          <p:cNvPr id="15" name="Rectangle 14">
            <a:extLst>
              <a:ext uri="{FF2B5EF4-FFF2-40B4-BE49-F238E27FC236}">
                <a16:creationId xmlns:a16="http://schemas.microsoft.com/office/drawing/2014/main" id="{9E5ABCB3-1926-4165-A5D8-7540D71D4ADB}"/>
              </a:ext>
            </a:extLst>
          </p:cNvPr>
          <p:cNvSpPr>
            <a:spLocks noGrp="1"/>
          </p:cNvSpPr>
          <p:nvPr/>
        </p:nvSpPr>
        <p:spPr>
          <a:xfrm>
            <a:off x="9134475" y="1676400"/>
            <a:ext cx="1485900" cy="3048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B9C7D3"/>
                </a:solidFill>
                <a:latin typeface="Aptos"/>
                <a:ea typeface="Aptos"/>
                <a:cs typeface="Aptos"/>
              </a:defRPr>
            </a:pPr>
            <a:r>
              <a:rPr sz="1000" dirty="0">
                <a:latin typeface="Aptos"/>
              </a:rPr>
              <a:t>Vibration + temperature readings</a:t>
            </a:r>
          </a:p>
        </p:txBody>
      </p:sp>
      <p:sp>
        <p:nvSpPr>
          <p:cNvPr id="16" name="Rounded Rectangle 15">
            <a:extLst>
              <a:ext uri="{FF2B5EF4-FFF2-40B4-BE49-F238E27FC236}">
                <a16:creationId xmlns:a16="http://schemas.microsoft.com/office/drawing/2014/main" id="{862A9512-B243-4A89-82B2-4FD1956EE4EB}"/>
              </a:ext>
            </a:extLst>
          </p:cNvPr>
          <p:cNvSpPr>
            <a:spLocks noGrp="1"/>
          </p:cNvSpPr>
          <p:nvPr/>
        </p:nvSpPr>
        <p:spPr>
          <a:xfrm>
            <a:off x="7591425" y="2647950"/>
            <a:ext cx="2400300" cy="895350"/>
          </a:xfrm>
          <a:prstGeom prst="roundRect">
            <a:avLst>
              <a:gd name="adj" fmla="val 8511"/>
            </a:avLst>
          </a:prstGeom>
          <a:solidFill>
            <a:srgbClr val="223140"/>
          </a:solidFill>
          <a:ln w="9525">
            <a:solidFill>
              <a:srgbClr val="3E5266"/>
            </a:solidFill>
            <a:prstDash val="solid"/>
          </a:ln>
        </p:spPr>
        <p:txBody>
          <a:bodyPr/>
          <a:lstStyle/>
          <a:p>
            <a:endParaRPr/>
          </a:p>
        </p:txBody>
      </p:sp>
      <p:sp>
        <p:nvSpPr>
          <p:cNvPr id="17" name="Rectangle 16">
            <a:extLst>
              <a:ext uri="{FF2B5EF4-FFF2-40B4-BE49-F238E27FC236}">
                <a16:creationId xmlns:a16="http://schemas.microsoft.com/office/drawing/2014/main" id="{7ED64062-5772-4CB2-95F1-F81B97D42EBE}"/>
              </a:ext>
            </a:extLst>
          </p:cNvPr>
          <p:cNvSpPr>
            <a:spLocks noGrp="1"/>
          </p:cNvSpPr>
          <p:nvPr/>
        </p:nvSpPr>
        <p:spPr>
          <a:xfrm>
            <a:off x="7591425" y="2647950"/>
            <a:ext cx="57150" cy="895350"/>
          </a:xfrm>
          <a:prstGeom prst="rect">
            <a:avLst/>
          </a:prstGeom>
          <a:solidFill>
            <a:srgbClr val="2B5F9E"/>
          </a:solidFill>
          <a:ln w="0">
            <a:solidFill>
              <a:srgbClr val="000000">
                <a:alpha val="0"/>
              </a:srgbClr>
            </a:solidFill>
            <a:prstDash val="solid"/>
          </a:ln>
        </p:spPr>
        <p:txBody>
          <a:bodyPr/>
          <a:lstStyle/>
          <a:p>
            <a:endParaRPr/>
          </a:p>
        </p:txBody>
      </p:sp>
      <p:sp>
        <p:nvSpPr>
          <p:cNvPr id="18" name="Rectangle 17">
            <a:extLst>
              <a:ext uri="{FF2B5EF4-FFF2-40B4-BE49-F238E27FC236}">
                <a16:creationId xmlns:a16="http://schemas.microsoft.com/office/drawing/2014/main" id="{DE70FD13-9D80-4616-B5E6-F60F2166411B}"/>
              </a:ext>
            </a:extLst>
          </p:cNvPr>
          <p:cNvSpPr>
            <a:spLocks noGrp="1"/>
          </p:cNvSpPr>
          <p:nvPr/>
        </p:nvSpPr>
        <p:spPr>
          <a:xfrm>
            <a:off x="7743825" y="2781300"/>
            <a:ext cx="209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a:ea typeface="Aptos"/>
                <a:cs typeface="Aptos"/>
              </a:defRPr>
            </a:pPr>
            <a:r>
              <a:rPr sz="1350" b="1">
                <a:solidFill>
                  <a:srgbClr val="FFFFFF"/>
                </a:solidFill>
                <a:latin typeface="Aptos"/>
                <a:ea typeface="Aptos"/>
                <a:cs typeface="Aptos"/>
              </a:rPr>
              <a:t>Processing + ML</a:t>
            </a:r>
          </a:p>
        </p:txBody>
      </p:sp>
      <p:sp>
        <p:nvSpPr>
          <p:cNvPr id="19" name="Rectangle 18">
            <a:extLst>
              <a:ext uri="{FF2B5EF4-FFF2-40B4-BE49-F238E27FC236}">
                <a16:creationId xmlns:a16="http://schemas.microsoft.com/office/drawing/2014/main" id="{A56E8F31-0FA7-4661-8674-E3F88784034B}"/>
              </a:ext>
            </a:extLst>
          </p:cNvPr>
          <p:cNvSpPr>
            <a:spLocks noGrp="1"/>
          </p:cNvSpPr>
          <p:nvPr/>
        </p:nvSpPr>
        <p:spPr>
          <a:xfrm>
            <a:off x="7743825" y="3048000"/>
            <a:ext cx="2095500" cy="4191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B9C7D3"/>
                </a:solidFill>
                <a:latin typeface="Aptos"/>
                <a:ea typeface="Aptos"/>
                <a:cs typeface="Aptos"/>
              </a:defRPr>
            </a:pPr>
            <a:r>
              <a:rPr sz="1000">
                <a:latin typeface="Aptos"/>
              </a:rPr>
              <a:t>Clean, extract features, classify health + root cause</a:t>
            </a:r>
          </a:p>
        </p:txBody>
      </p:sp>
      <p:sp>
        <p:nvSpPr>
          <p:cNvPr id="20" name="Rectangle 19">
            <a:extLst>
              <a:ext uri="{FF2B5EF4-FFF2-40B4-BE49-F238E27FC236}">
                <a16:creationId xmlns:a16="http://schemas.microsoft.com/office/drawing/2014/main" id="{BD78D8AB-9FBD-4E32-83CA-49C3E9630067}"/>
              </a:ext>
            </a:extLst>
          </p:cNvPr>
          <p:cNvSpPr>
            <a:spLocks noGrp="1"/>
          </p:cNvSpPr>
          <p:nvPr/>
        </p:nvSpPr>
        <p:spPr>
          <a:xfrm>
            <a:off x="7591425" y="3638550"/>
            <a:ext cx="2476500" cy="2286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ctr">
              <a:defRPr sz="1050" b="0">
                <a:solidFill>
                  <a:srgbClr val="C9D5DF"/>
                </a:solidFill>
                <a:latin typeface="Aptos"/>
                <a:ea typeface="Aptos"/>
                <a:cs typeface="Aptos"/>
              </a:defRPr>
            </a:pPr>
            <a:r>
              <a:rPr sz="1000">
                <a:latin typeface="Aptos"/>
              </a:rPr>
              <a:t>risk + root cause output</a:t>
            </a:r>
          </a:p>
        </p:txBody>
      </p:sp>
      <p:sp>
        <p:nvSpPr>
          <p:cNvPr id="21" name="Rounded Rectangle 20">
            <a:extLst>
              <a:ext uri="{FF2B5EF4-FFF2-40B4-BE49-F238E27FC236}">
                <a16:creationId xmlns:a16="http://schemas.microsoft.com/office/drawing/2014/main" id="{0B7E0301-1B40-4DC9-95C3-73D4BE96A042}"/>
              </a:ext>
            </a:extLst>
          </p:cNvPr>
          <p:cNvSpPr>
            <a:spLocks noGrp="1"/>
          </p:cNvSpPr>
          <p:nvPr/>
        </p:nvSpPr>
        <p:spPr>
          <a:xfrm>
            <a:off x="7334250" y="4419600"/>
            <a:ext cx="2895600" cy="914400"/>
          </a:xfrm>
          <a:prstGeom prst="roundRect">
            <a:avLst>
              <a:gd name="adj" fmla="val 8333"/>
            </a:avLst>
          </a:prstGeom>
          <a:solidFill>
            <a:srgbClr val="243447"/>
          </a:solidFill>
          <a:ln w="9525">
            <a:solidFill>
              <a:srgbClr val="496174"/>
            </a:solidFill>
            <a:prstDash val="solid"/>
          </a:ln>
        </p:spPr>
        <p:txBody>
          <a:bodyPr/>
          <a:lstStyle/>
          <a:p>
            <a:endParaRPr/>
          </a:p>
        </p:txBody>
      </p:sp>
      <p:sp>
        <p:nvSpPr>
          <p:cNvPr id="22" name="Rectangle 21">
            <a:extLst>
              <a:ext uri="{FF2B5EF4-FFF2-40B4-BE49-F238E27FC236}">
                <a16:creationId xmlns:a16="http://schemas.microsoft.com/office/drawing/2014/main" id="{65410BCB-FF24-4487-ADC2-BDEED1D3C25A}"/>
              </a:ext>
            </a:extLst>
          </p:cNvPr>
          <p:cNvSpPr>
            <a:spLocks noGrp="1"/>
          </p:cNvSpPr>
          <p:nvPr/>
        </p:nvSpPr>
        <p:spPr>
          <a:xfrm>
            <a:off x="7334250" y="4419600"/>
            <a:ext cx="57150" cy="914400"/>
          </a:xfrm>
          <a:prstGeom prst="rect">
            <a:avLst/>
          </a:prstGeom>
          <a:solidFill>
            <a:srgbClr val="2E7D4F"/>
          </a:solidFill>
          <a:ln w="0">
            <a:solidFill>
              <a:srgbClr val="000000">
                <a:alpha val="0"/>
              </a:srgbClr>
            </a:solidFill>
            <a:prstDash val="solid"/>
          </a:ln>
        </p:spPr>
        <p:txBody>
          <a:bodyPr/>
          <a:lstStyle/>
          <a:p>
            <a:endParaRPr/>
          </a:p>
        </p:txBody>
      </p:sp>
      <p:sp>
        <p:nvSpPr>
          <p:cNvPr id="23" name="Rectangle 22">
            <a:extLst>
              <a:ext uri="{FF2B5EF4-FFF2-40B4-BE49-F238E27FC236}">
                <a16:creationId xmlns:a16="http://schemas.microsoft.com/office/drawing/2014/main" id="{B14554FB-4141-47B4-A110-42E63E355DDE}"/>
              </a:ext>
            </a:extLst>
          </p:cNvPr>
          <p:cNvSpPr>
            <a:spLocks noGrp="1"/>
          </p:cNvSpPr>
          <p:nvPr/>
        </p:nvSpPr>
        <p:spPr>
          <a:xfrm>
            <a:off x="7486650" y="4552950"/>
            <a:ext cx="2590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a:ea typeface="Aptos"/>
                <a:cs typeface="Aptos"/>
              </a:defRPr>
            </a:pPr>
            <a:r>
              <a:rPr sz="1350" b="1">
                <a:solidFill>
                  <a:srgbClr val="FFFFFF"/>
                </a:solidFill>
                <a:latin typeface="Aptos"/>
                <a:ea typeface="Aptos"/>
                <a:cs typeface="Aptos"/>
              </a:rPr>
              <a:t>Dashboard + Alert</a:t>
            </a:r>
          </a:p>
        </p:txBody>
      </p:sp>
      <p:sp>
        <p:nvSpPr>
          <p:cNvPr id="24" name="Rectangle 23">
            <a:extLst>
              <a:ext uri="{FF2B5EF4-FFF2-40B4-BE49-F238E27FC236}">
                <a16:creationId xmlns:a16="http://schemas.microsoft.com/office/drawing/2014/main" id="{69EE7084-7D35-4156-88F9-24059434BAAD}"/>
              </a:ext>
            </a:extLst>
          </p:cNvPr>
          <p:cNvSpPr>
            <a:spLocks noGrp="1"/>
          </p:cNvSpPr>
          <p:nvPr/>
        </p:nvSpPr>
        <p:spPr>
          <a:xfrm>
            <a:off x="7486650" y="4819650"/>
            <a:ext cx="2590800" cy="4381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B9C7D3"/>
                </a:solidFill>
                <a:latin typeface="Aptos"/>
                <a:ea typeface="Aptos"/>
                <a:cs typeface="Aptos"/>
              </a:defRPr>
            </a:pPr>
            <a:r>
              <a:rPr sz="1000">
                <a:latin typeface="Aptos"/>
              </a:rPr>
              <a:t>Status, risk, history, KPIs, action</a:t>
            </a:r>
          </a:p>
        </p:txBody>
      </p:sp>
      <p:sp>
        <p:nvSpPr>
          <p:cNvPr id="25" name="Rectangle 24">
            <a:extLst>
              <a:ext uri="{FF2B5EF4-FFF2-40B4-BE49-F238E27FC236}">
                <a16:creationId xmlns:a16="http://schemas.microsoft.com/office/drawing/2014/main" id="{CD933B38-21BB-48EC-8AF5-6778ACCA1579}"/>
              </a:ext>
            </a:extLst>
          </p:cNvPr>
          <p:cNvSpPr>
            <a:spLocks noGrp="1"/>
          </p:cNvSpPr>
          <p:nvPr/>
        </p:nvSpPr>
        <p:spPr>
          <a:xfrm>
            <a:off x="533400" y="4895850"/>
            <a:ext cx="5715000" cy="9525"/>
          </a:xfrm>
          <a:prstGeom prst="rect">
            <a:avLst/>
          </a:prstGeom>
          <a:solidFill>
            <a:srgbClr val="33475B"/>
          </a:solidFill>
          <a:ln w="0">
            <a:solidFill>
              <a:srgbClr val="000000">
                <a:alpha val="0"/>
              </a:srgbClr>
            </a:solidFill>
            <a:prstDash val="solid"/>
          </a:ln>
        </p:spPr>
        <p:txBody>
          <a:bodyPr/>
          <a:lstStyle/>
          <a:p>
            <a:endParaRPr/>
          </a:p>
        </p:txBody>
      </p:sp>
      <p:sp>
        <p:nvSpPr>
          <p:cNvPr id="26" name="Rectangle 25">
            <a:extLst>
              <a:ext uri="{FF2B5EF4-FFF2-40B4-BE49-F238E27FC236}">
                <a16:creationId xmlns:a16="http://schemas.microsoft.com/office/drawing/2014/main" id="{58620012-BF4D-4063-A7E6-0B8A6354C1E9}"/>
              </a:ext>
            </a:extLst>
          </p:cNvPr>
          <p:cNvSpPr>
            <a:spLocks noGrp="1"/>
          </p:cNvSpPr>
          <p:nvPr/>
        </p:nvSpPr>
        <p:spPr>
          <a:xfrm>
            <a:off x="533400" y="5181600"/>
            <a:ext cx="533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DDE8EE"/>
                </a:solidFill>
                <a:latin typeface="Aptos"/>
                <a:ea typeface="Aptos"/>
                <a:cs typeface="Aptos"/>
              </a:defRPr>
            </a:pPr>
            <a:r>
              <a:rPr sz="1600" b="0" dirty="0">
                <a:solidFill>
                  <a:srgbClr val="DDE8EE"/>
                </a:solidFill>
                <a:latin typeface="Aptos"/>
                <a:ea typeface="Aptos"/>
                <a:cs typeface="Aptos"/>
              </a:rPr>
              <a:t>Team members: </a:t>
            </a:r>
            <a:r>
              <a:rPr lang="en-GB" sz="1600" b="0" dirty="0" smtClean="0">
                <a:solidFill>
                  <a:srgbClr val="DDE8EE"/>
                </a:solidFill>
                <a:latin typeface="Aptos"/>
                <a:ea typeface="Aptos"/>
                <a:cs typeface="Aptos"/>
              </a:rPr>
              <a:t>Rajanala Sai Dheeraj, Aryan </a:t>
            </a:r>
            <a:r>
              <a:rPr lang="en-GB" sz="1600" b="0" dirty="0" err="1" smtClean="0">
                <a:solidFill>
                  <a:srgbClr val="DDE8EE"/>
                </a:solidFill>
                <a:latin typeface="Aptos"/>
                <a:ea typeface="Aptos"/>
                <a:cs typeface="Aptos"/>
              </a:rPr>
              <a:t>Nukala</a:t>
            </a:r>
            <a:endParaRPr sz="1600" b="0" dirty="0">
              <a:solidFill>
                <a:srgbClr val="DDE8EE"/>
              </a:solidFill>
              <a:latin typeface="Aptos"/>
              <a:ea typeface="Aptos"/>
              <a:cs typeface="Aptos"/>
            </a:endParaRPr>
          </a:p>
        </p:txBody>
      </p:sp>
      <p:sp>
        <p:nvSpPr>
          <p:cNvPr id="28" name="Rectangle 27">
            <a:extLst>
              <a:ext uri="{FF2B5EF4-FFF2-40B4-BE49-F238E27FC236}">
                <a16:creationId xmlns:a16="http://schemas.microsoft.com/office/drawing/2014/main" id="{1D985E29-0100-4E51-80B3-9CE2B8FB7497}"/>
              </a:ext>
            </a:extLst>
          </p:cNvPr>
          <p:cNvSpPr>
            <a:spLocks noGrp="1"/>
          </p:cNvSpPr>
          <p:nvPr/>
        </p:nvSpPr>
        <p:spPr>
          <a:xfrm>
            <a:off x="533400" y="6153150"/>
            <a:ext cx="9620250" cy="2286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050" b="0">
                <a:solidFill>
                  <a:srgbClr val="95A8B8"/>
                </a:solidFill>
                <a:latin typeface="Aptos"/>
                <a:ea typeface="Aptos"/>
                <a:cs typeface="Aptos"/>
              </a:defRPr>
            </a:pPr>
            <a:r>
              <a:rPr sz="1000" dirty="0">
                <a:latin typeface="Aptos"/>
              </a:rPr>
              <a:t>Project focus: reduce unplanned downtime by combining vibration, temperature and maintenance history.</a:t>
            </a:r>
          </a:p>
        </p:txBody>
      </p:sp>
      <p:sp>
        <p:nvSpPr>
          <p:cNvPr id="29" name="Rectangle 28">
            <a:extLst>
              <a:ext uri="{FF2B5EF4-FFF2-40B4-BE49-F238E27FC236}">
                <a16:creationId xmlns:a16="http://schemas.microsoft.com/office/drawing/2014/main" id="{48D985C3-E095-477B-B2EA-9DA200C8F033}"/>
              </a:ext>
            </a:extLst>
          </p:cNvPr>
          <p:cNvSpPr>
            <a:spLocks noGrp="1"/>
          </p:cNvSpPr>
          <p:nvPr/>
        </p:nvSpPr>
        <p:spPr>
          <a:xfrm>
            <a:off x="11277600" y="647700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CA0AF"/>
                </a:solidFill>
                <a:latin typeface="Aptos"/>
                <a:ea typeface="Aptos"/>
                <a:cs typeface="Aptos"/>
              </a:defRPr>
            </a:pPr>
            <a:r>
              <a:rPr sz="900" b="0">
                <a:solidFill>
                  <a:srgbClr val="8CA0AF"/>
                </a:solidFill>
                <a:latin typeface="Aptos"/>
                <a:ea typeface="Aptos"/>
                <a:cs typeface="Aptos"/>
              </a:rPr>
              <a:t>01</a:t>
            </a:r>
          </a:p>
        </p:txBody>
      </p:sp>
    </p:spTree>
    <p:extLst>
      <p:ext uri="{BB962C8B-B14F-4D97-AF65-F5344CB8AC3E}">
        <p14:creationId xmlns:p14="http://schemas.microsoft.com/office/powerpoint/2010/main" val="20467856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E2782CBF-7E61-4518-A0A7-D798A0C9D956}"/>
              </a:ext>
            </a:extLst>
          </p:cNvPr>
          <p:cNvSpPr>
            <a:spLocks noGrp="1"/>
          </p:cNvSpPr>
          <p:nvPr/>
        </p:nvSpPr>
        <p:spPr>
          <a:xfrm>
            <a:off x="0" y="0"/>
            <a:ext cx="12192000" cy="6858000"/>
          </a:xfrm>
          <a:prstGeom prst="rect">
            <a:avLst/>
          </a:prstGeom>
          <a:solidFill>
            <a:srgbClr val="F7F4EE"/>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D9C19EAE-2185-4361-BB56-842E48505E1D}"/>
              </a:ext>
            </a:extLst>
          </p:cNvPr>
          <p:cNvSpPr>
            <a:spLocks noGrp="1"/>
          </p:cNvSpPr>
          <p:nvPr/>
        </p:nvSpPr>
        <p:spPr>
          <a:xfrm>
            <a:off x="533400" y="361950"/>
            <a:ext cx="266700" cy="38100"/>
          </a:xfrm>
          <a:prstGeom prst="rect">
            <a:avLst/>
          </a:prstGeom>
          <a:solidFill>
            <a:srgbClr val="0B7A75"/>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15C9891B-80B4-4314-BBBC-D5DB68692D70}"/>
              </a:ext>
            </a:extLst>
          </p:cNvPr>
          <p:cNvSpPr>
            <a:spLocks noGrp="1"/>
          </p:cNvSpPr>
          <p:nvPr/>
        </p:nvSpPr>
        <p:spPr>
          <a:xfrm>
            <a:off x="895350" y="247650"/>
            <a:ext cx="3429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57487"/>
                </a:solidFill>
                <a:latin typeface="Aptos"/>
                <a:ea typeface="Aptos"/>
                <a:cs typeface="Aptos"/>
              </a:defRPr>
            </a:pPr>
            <a:r>
              <a:rPr sz="975" b="1">
                <a:solidFill>
                  <a:srgbClr val="657487"/>
                </a:solidFill>
                <a:latin typeface="Aptos"/>
                <a:ea typeface="Aptos"/>
                <a:cs typeface="Aptos"/>
              </a:rPr>
              <a:t>PROBLEM</a:t>
            </a:r>
          </a:p>
        </p:txBody>
      </p:sp>
      <p:sp>
        <p:nvSpPr>
          <p:cNvPr id="4" name="Rectangle 3">
            <a:extLst>
              <a:ext uri="{FF2B5EF4-FFF2-40B4-BE49-F238E27FC236}">
                <a16:creationId xmlns:a16="http://schemas.microsoft.com/office/drawing/2014/main" id="{8B34F976-A442-46B5-AD24-D4EF3E90C033}"/>
              </a:ext>
            </a:extLst>
          </p:cNvPr>
          <p:cNvSpPr>
            <a:spLocks noGrp="1"/>
          </p:cNvSpPr>
          <p:nvPr/>
        </p:nvSpPr>
        <p:spPr>
          <a:xfrm>
            <a:off x="533400" y="590550"/>
            <a:ext cx="7239000" cy="7429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2550" b="1">
                <a:solidFill>
                  <a:srgbClr val="17212B"/>
                </a:solidFill>
                <a:latin typeface="Aptos Display"/>
                <a:ea typeface="Aptos Display"/>
                <a:cs typeface="Aptos Display"/>
              </a:defRPr>
            </a:pPr>
            <a:r>
              <a:rPr sz="2600">
                <a:latin typeface="Aptos"/>
              </a:rPr>
              <a:t>Machine faults are visible in sensor patterns before they become failures.</a:t>
            </a:r>
          </a:p>
        </p:txBody>
      </p:sp>
      <p:sp>
        <p:nvSpPr>
          <p:cNvPr id="5" name="Rectangle 4">
            <a:extLst>
              <a:ext uri="{FF2B5EF4-FFF2-40B4-BE49-F238E27FC236}">
                <a16:creationId xmlns:a16="http://schemas.microsoft.com/office/drawing/2014/main" id="{1A7D6B8B-140D-4463-BDFB-061B55454782}"/>
              </a:ext>
            </a:extLst>
          </p:cNvPr>
          <p:cNvSpPr>
            <a:spLocks noGrp="1"/>
          </p:cNvSpPr>
          <p:nvPr/>
        </p:nvSpPr>
        <p:spPr>
          <a:xfrm>
            <a:off x="8001000" y="552450"/>
            <a:ext cx="342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200" b="0">
                <a:solidFill>
                  <a:srgbClr val="657487"/>
                </a:solidFill>
                <a:latin typeface="Aptos"/>
                <a:ea typeface="Aptos"/>
                <a:cs typeface="Aptos"/>
              </a:defRPr>
            </a:pPr>
            <a:r>
              <a:rPr sz="1200" b="0">
                <a:solidFill>
                  <a:srgbClr val="657487"/>
                </a:solidFill>
                <a:latin typeface="Aptos"/>
                <a:ea typeface="Aptos"/>
                <a:cs typeface="Aptos"/>
              </a:rPr>
              <a:t>Motivation: catch degradation early.</a:t>
            </a:r>
          </a:p>
        </p:txBody>
      </p:sp>
      <p:sp>
        <p:nvSpPr>
          <p:cNvPr id="6" name="Rectangle 5">
            <a:extLst>
              <a:ext uri="{FF2B5EF4-FFF2-40B4-BE49-F238E27FC236}">
                <a16:creationId xmlns:a16="http://schemas.microsoft.com/office/drawing/2014/main" id="{0A3672A1-C9F4-4906-916A-11D6E7018024}"/>
              </a:ext>
            </a:extLst>
          </p:cNvPr>
          <p:cNvSpPr>
            <a:spLocks noGrp="1"/>
          </p:cNvSpPr>
          <p:nvPr/>
        </p:nvSpPr>
        <p:spPr>
          <a:xfrm>
            <a:off x="533400" y="6496050"/>
            <a:ext cx="66675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750" b="0">
                <a:solidFill>
                  <a:srgbClr val="8793A2"/>
                </a:solidFill>
                <a:latin typeface="Aptos"/>
                <a:ea typeface="Aptos"/>
                <a:cs typeface="Aptos"/>
              </a:defRPr>
            </a:pPr>
            <a:r>
              <a:rPr sz="900">
                <a:latin typeface="Aptos"/>
              </a:rPr>
              <a:t>Smart Predictive Maintenance Decision-Support System</a:t>
            </a:r>
          </a:p>
        </p:txBody>
      </p:sp>
      <p:sp>
        <p:nvSpPr>
          <p:cNvPr id="7" name="Rectangle 6">
            <a:extLst>
              <a:ext uri="{FF2B5EF4-FFF2-40B4-BE49-F238E27FC236}">
                <a16:creationId xmlns:a16="http://schemas.microsoft.com/office/drawing/2014/main" id="{8A49BC01-E9C9-48EC-A96D-DEAC32B1994E}"/>
              </a:ext>
            </a:extLst>
          </p:cNvPr>
          <p:cNvSpPr>
            <a:spLocks noGrp="1"/>
          </p:cNvSpPr>
          <p:nvPr/>
        </p:nvSpPr>
        <p:spPr>
          <a:xfrm>
            <a:off x="11277600" y="647700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793A2"/>
                </a:solidFill>
                <a:latin typeface="Aptos"/>
                <a:ea typeface="Aptos"/>
                <a:cs typeface="Aptos"/>
              </a:defRPr>
            </a:pPr>
            <a:r>
              <a:rPr sz="900" b="0">
                <a:solidFill>
                  <a:srgbClr val="8793A2"/>
                </a:solidFill>
                <a:latin typeface="Aptos"/>
                <a:ea typeface="Aptos"/>
                <a:cs typeface="Aptos"/>
              </a:rPr>
              <a:t>02</a:t>
            </a:r>
          </a:p>
        </p:txBody>
      </p:sp>
      <p:sp>
        <p:nvSpPr>
          <p:cNvPr id="8" name="Rectangle 7">
            <a:extLst>
              <a:ext uri="{FF2B5EF4-FFF2-40B4-BE49-F238E27FC236}">
                <a16:creationId xmlns:a16="http://schemas.microsoft.com/office/drawing/2014/main" id="{ECC45F48-4078-4323-B7A1-EF03F28B5913}"/>
              </a:ext>
            </a:extLst>
          </p:cNvPr>
          <p:cNvSpPr>
            <a:spLocks noGrp="1"/>
          </p:cNvSpPr>
          <p:nvPr/>
        </p:nvSpPr>
        <p:spPr>
          <a:xfrm>
            <a:off x="685800" y="154305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B7A75"/>
                </a:solidFill>
                <a:latin typeface="Aptos"/>
                <a:ea typeface="Aptos"/>
                <a:cs typeface="Aptos"/>
              </a:defRPr>
            </a:pPr>
            <a:r>
              <a:rPr sz="1350" b="1">
                <a:solidFill>
                  <a:srgbClr val="0B7A75"/>
                </a:solidFill>
                <a:latin typeface="Aptos"/>
                <a:ea typeface="Aptos"/>
                <a:cs typeface="Aptos"/>
              </a:rPr>
              <a:t>What we are solving</a:t>
            </a:r>
          </a:p>
        </p:txBody>
      </p:sp>
      <p:sp>
        <p:nvSpPr>
          <p:cNvPr id="9" name="Rectangle 8">
            <a:extLst>
              <a:ext uri="{FF2B5EF4-FFF2-40B4-BE49-F238E27FC236}">
                <a16:creationId xmlns:a16="http://schemas.microsoft.com/office/drawing/2014/main" id="{2A7EF320-7493-4AA8-BAC4-9BC2387CD8D8}"/>
              </a:ext>
            </a:extLst>
          </p:cNvPr>
          <p:cNvSpPr>
            <a:spLocks noGrp="1"/>
          </p:cNvSpPr>
          <p:nvPr/>
        </p:nvSpPr>
        <p:spPr>
          <a:xfrm>
            <a:off x="685800" y="1943100"/>
            <a:ext cx="4267200" cy="2057400"/>
          </a:xfrm>
          <a:prstGeom prst="rect">
            <a:avLst/>
          </a:prstGeom>
          <a:solidFill>
            <a:srgbClr val="000000">
              <a:alpha val="0"/>
            </a:srgbClr>
          </a:solidFill>
          <a:ln w="0">
            <a:solidFill>
              <a:srgbClr val="000000">
                <a:alpha val="0"/>
              </a:srgbClr>
            </a:solidFill>
            <a:prstDash val="solid"/>
          </a:ln>
        </p:spPr>
        <p:txBody>
          <a:bodyPr wrap="square" lIns="0" tIns="0" rIns="38100" bIns="0" anchor="t"/>
          <a:lstStyle/>
          <a:p>
            <a:pPr algn="l">
              <a:defRPr sz="1425" b="0">
                <a:solidFill>
                  <a:srgbClr val="243447"/>
                </a:solidFill>
                <a:latin typeface="Aptos"/>
                <a:ea typeface="Aptos"/>
                <a:cs typeface="Aptos"/>
              </a:defRPr>
            </a:pPr>
            <a:r>
              <a:rPr sz="1200" dirty="0">
                <a:latin typeface="Aptos"/>
              </a:rPr>
              <a:t>- Early vibration and temperature changes are hard to notice manually</a:t>
            </a:r>
          </a:p>
          <a:p>
            <a:r>
              <a:rPr sz="1200" dirty="0">
                <a:latin typeface="Aptos"/>
              </a:rPr>
              <a:t>- Faults can occur between scheduled inspections</a:t>
            </a:r>
          </a:p>
          <a:p>
            <a:r>
              <a:rPr sz="1200" dirty="0">
                <a:latin typeface="Aptos"/>
              </a:rPr>
              <a:t>- Breakdowns create downtime, repair cost and safety risk</a:t>
            </a:r>
          </a:p>
          <a:p>
            <a:r>
              <a:rPr sz="1200" dirty="0">
                <a:latin typeface="Aptos"/>
              </a:rPr>
              <a:t>- Operators need clear warning signals, not raw sensor noise</a:t>
            </a:r>
          </a:p>
        </p:txBody>
      </p:sp>
      <p:sp>
        <p:nvSpPr>
          <p:cNvPr id="10" name="Rounded Rectangle 9">
            <a:extLst>
              <a:ext uri="{FF2B5EF4-FFF2-40B4-BE49-F238E27FC236}">
                <a16:creationId xmlns:a16="http://schemas.microsoft.com/office/drawing/2014/main" id="{6F05A631-D13B-4E48-9235-4C85684089FA}"/>
              </a:ext>
            </a:extLst>
          </p:cNvPr>
          <p:cNvSpPr>
            <a:spLocks noGrp="1"/>
          </p:cNvSpPr>
          <p:nvPr/>
        </p:nvSpPr>
        <p:spPr>
          <a:xfrm>
            <a:off x="4953000" y="1790700"/>
            <a:ext cx="2000250" cy="1009144"/>
          </a:xfrm>
          <a:prstGeom prst="roundRect">
            <a:avLst>
              <a:gd name="adj" fmla="val 10000"/>
            </a:avLst>
          </a:prstGeom>
          <a:solidFill>
            <a:srgbClr val="D8F0EC"/>
          </a:solidFill>
          <a:ln w="9525">
            <a:solidFill>
              <a:srgbClr val="9ACFC8"/>
            </a:solidFill>
            <a:prstDash val="solid"/>
          </a:ln>
        </p:spPr>
        <p:txBody>
          <a:bodyPr/>
          <a:lstStyle/>
          <a:p>
            <a:endParaRPr/>
          </a:p>
        </p:txBody>
      </p:sp>
      <p:sp>
        <p:nvSpPr>
          <p:cNvPr id="11" name="Rectangle 10">
            <a:extLst>
              <a:ext uri="{FF2B5EF4-FFF2-40B4-BE49-F238E27FC236}">
                <a16:creationId xmlns:a16="http://schemas.microsoft.com/office/drawing/2014/main" id="{4EB36DCD-534E-48D4-A3FF-6DD0E0CC4857}"/>
              </a:ext>
            </a:extLst>
          </p:cNvPr>
          <p:cNvSpPr>
            <a:spLocks noGrp="1"/>
          </p:cNvSpPr>
          <p:nvPr/>
        </p:nvSpPr>
        <p:spPr>
          <a:xfrm>
            <a:off x="4953000" y="1790700"/>
            <a:ext cx="57150" cy="762000"/>
          </a:xfrm>
          <a:prstGeom prst="rect">
            <a:avLst/>
          </a:prstGeom>
          <a:solidFill>
            <a:srgbClr val="0B7A75"/>
          </a:solidFill>
          <a:ln w="0">
            <a:solidFill>
              <a:srgbClr val="000000">
                <a:alpha val="0"/>
              </a:srgbClr>
            </a:solidFill>
            <a:prstDash val="solid"/>
          </a:ln>
        </p:spPr>
        <p:txBody>
          <a:bodyPr/>
          <a:lstStyle/>
          <a:p>
            <a:endParaRPr/>
          </a:p>
        </p:txBody>
      </p:sp>
      <p:sp>
        <p:nvSpPr>
          <p:cNvPr id="12" name="Rectangle 11">
            <a:extLst>
              <a:ext uri="{FF2B5EF4-FFF2-40B4-BE49-F238E27FC236}">
                <a16:creationId xmlns:a16="http://schemas.microsoft.com/office/drawing/2014/main" id="{8096A726-49B0-4107-9588-06198544731D}"/>
              </a:ext>
            </a:extLst>
          </p:cNvPr>
          <p:cNvSpPr>
            <a:spLocks noGrp="1"/>
          </p:cNvSpPr>
          <p:nvPr/>
        </p:nvSpPr>
        <p:spPr>
          <a:xfrm>
            <a:off x="5105400" y="1924050"/>
            <a:ext cx="1695450" cy="2286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350" b="1">
                <a:solidFill>
                  <a:srgbClr val="17212B"/>
                </a:solidFill>
                <a:latin typeface="Aptos"/>
                <a:ea typeface="Aptos"/>
                <a:cs typeface="Aptos"/>
              </a:defRPr>
            </a:pPr>
            <a:r>
              <a:rPr sz="1200" dirty="0">
                <a:latin typeface="Aptos"/>
              </a:rPr>
              <a:t>Subtle sensor shift</a:t>
            </a:r>
          </a:p>
        </p:txBody>
      </p:sp>
      <p:sp>
        <p:nvSpPr>
          <p:cNvPr id="13" name="Rectangle 12">
            <a:extLst>
              <a:ext uri="{FF2B5EF4-FFF2-40B4-BE49-F238E27FC236}">
                <a16:creationId xmlns:a16="http://schemas.microsoft.com/office/drawing/2014/main" id="{095D69E9-9512-4CE8-8D64-05CA76CBC60E}"/>
              </a:ext>
            </a:extLst>
          </p:cNvPr>
          <p:cNvSpPr>
            <a:spLocks noGrp="1"/>
          </p:cNvSpPr>
          <p:nvPr/>
        </p:nvSpPr>
        <p:spPr>
          <a:xfrm>
            <a:off x="5132422" y="2362200"/>
            <a:ext cx="1695450" cy="2857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1000">
                <a:latin typeface="Aptos"/>
              </a:rPr>
              <a:t>Vibration or heat pattern changes</a:t>
            </a:r>
          </a:p>
        </p:txBody>
      </p:sp>
      <p:sp>
        <p:nvSpPr>
          <p:cNvPr id="14" name="Rectangle 13">
            <a:extLst>
              <a:ext uri="{FF2B5EF4-FFF2-40B4-BE49-F238E27FC236}">
                <a16:creationId xmlns:a16="http://schemas.microsoft.com/office/drawing/2014/main" id="{1E544B16-AF65-4E61-861C-CC27C839BB63}"/>
              </a:ext>
            </a:extLst>
          </p:cNvPr>
          <p:cNvSpPr>
            <a:spLocks noGrp="1"/>
          </p:cNvSpPr>
          <p:nvPr/>
        </p:nvSpPr>
        <p:spPr>
          <a:xfrm>
            <a:off x="7048500" y="2038350"/>
            <a:ext cx="4000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15" name="Rounded Rectangle 14">
            <a:extLst>
              <a:ext uri="{FF2B5EF4-FFF2-40B4-BE49-F238E27FC236}">
                <a16:creationId xmlns:a16="http://schemas.microsoft.com/office/drawing/2014/main" id="{EA45CFC8-A754-4702-8259-A027BC7B3BFB}"/>
              </a:ext>
            </a:extLst>
          </p:cNvPr>
          <p:cNvSpPr>
            <a:spLocks noGrp="1"/>
          </p:cNvSpPr>
          <p:nvPr/>
        </p:nvSpPr>
        <p:spPr>
          <a:xfrm>
            <a:off x="7524750" y="1790699"/>
            <a:ext cx="2000250" cy="923925"/>
          </a:xfrm>
          <a:prstGeom prst="roundRect">
            <a:avLst>
              <a:gd name="adj" fmla="val 10000"/>
            </a:avLst>
          </a:prstGeom>
          <a:solidFill>
            <a:srgbClr val="FFF0D2"/>
          </a:solidFill>
          <a:ln w="9525">
            <a:solidFill>
              <a:srgbClr val="E7B75F"/>
            </a:solidFill>
            <a:prstDash val="solid"/>
          </a:ln>
        </p:spPr>
        <p:txBody>
          <a:bodyPr/>
          <a:lstStyle/>
          <a:p>
            <a:endParaRPr/>
          </a:p>
        </p:txBody>
      </p:sp>
      <p:sp>
        <p:nvSpPr>
          <p:cNvPr id="16" name="Rectangle 15">
            <a:extLst>
              <a:ext uri="{FF2B5EF4-FFF2-40B4-BE49-F238E27FC236}">
                <a16:creationId xmlns:a16="http://schemas.microsoft.com/office/drawing/2014/main" id="{8E40877E-5FBF-4E96-A252-5D291EDB464D}"/>
              </a:ext>
            </a:extLst>
          </p:cNvPr>
          <p:cNvSpPr>
            <a:spLocks noGrp="1"/>
          </p:cNvSpPr>
          <p:nvPr/>
        </p:nvSpPr>
        <p:spPr>
          <a:xfrm>
            <a:off x="7524750" y="1790700"/>
            <a:ext cx="57150" cy="762000"/>
          </a:xfrm>
          <a:prstGeom prst="rect">
            <a:avLst/>
          </a:prstGeom>
          <a:solidFill>
            <a:srgbClr val="D98C00"/>
          </a:solidFill>
          <a:ln w="0">
            <a:solidFill>
              <a:srgbClr val="000000">
                <a:alpha val="0"/>
              </a:srgbClr>
            </a:solidFill>
            <a:prstDash val="solid"/>
          </a:ln>
        </p:spPr>
        <p:txBody>
          <a:bodyPr/>
          <a:lstStyle/>
          <a:p>
            <a:endParaRPr/>
          </a:p>
        </p:txBody>
      </p:sp>
      <p:sp>
        <p:nvSpPr>
          <p:cNvPr id="17" name="Rectangle 16">
            <a:extLst>
              <a:ext uri="{FF2B5EF4-FFF2-40B4-BE49-F238E27FC236}">
                <a16:creationId xmlns:a16="http://schemas.microsoft.com/office/drawing/2014/main" id="{96A3556D-55B5-4A73-8254-76B5F752F138}"/>
              </a:ext>
            </a:extLst>
          </p:cNvPr>
          <p:cNvSpPr>
            <a:spLocks noGrp="1"/>
          </p:cNvSpPr>
          <p:nvPr/>
        </p:nvSpPr>
        <p:spPr>
          <a:xfrm>
            <a:off x="7677150" y="1924050"/>
            <a:ext cx="1695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12B"/>
                </a:solidFill>
                <a:latin typeface="Aptos"/>
                <a:ea typeface="Aptos"/>
                <a:cs typeface="Aptos"/>
              </a:defRPr>
            </a:pPr>
            <a:r>
              <a:rPr sz="1350" b="1">
                <a:solidFill>
                  <a:srgbClr val="17212B"/>
                </a:solidFill>
                <a:latin typeface="Aptos"/>
                <a:ea typeface="Aptos"/>
                <a:cs typeface="Aptos"/>
              </a:rPr>
              <a:t>Degradation begins</a:t>
            </a:r>
          </a:p>
        </p:txBody>
      </p:sp>
      <p:sp>
        <p:nvSpPr>
          <p:cNvPr id="18" name="Rectangle 17">
            <a:extLst>
              <a:ext uri="{FF2B5EF4-FFF2-40B4-BE49-F238E27FC236}">
                <a16:creationId xmlns:a16="http://schemas.microsoft.com/office/drawing/2014/main" id="{8EC3A014-5607-4DB8-BE52-1706C454E562}"/>
              </a:ext>
            </a:extLst>
          </p:cNvPr>
          <p:cNvSpPr>
            <a:spLocks noGrp="1"/>
          </p:cNvSpPr>
          <p:nvPr/>
        </p:nvSpPr>
        <p:spPr>
          <a:xfrm>
            <a:off x="7677150" y="2190750"/>
            <a:ext cx="16954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57487"/>
                </a:solidFill>
                <a:latin typeface="Aptos"/>
                <a:ea typeface="Aptos"/>
                <a:cs typeface="Aptos"/>
              </a:defRPr>
            </a:pPr>
            <a:r>
              <a:rPr sz="975" b="0">
                <a:solidFill>
                  <a:srgbClr val="657487"/>
                </a:solidFill>
                <a:latin typeface="Aptos"/>
                <a:ea typeface="Aptos"/>
                <a:cs typeface="Aptos"/>
              </a:rPr>
              <a:t>Wear or imbalance grows</a:t>
            </a:r>
          </a:p>
        </p:txBody>
      </p:sp>
      <p:sp>
        <p:nvSpPr>
          <p:cNvPr id="19" name="Rectangle 18">
            <a:extLst>
              <a:ext uri="{FF2B5EF4-FFF2-40B4-BE49-F238E27FC236}">
                <a16:creationId xmlns:a16="http://schemas.microsoft.com/office/drawing/2014/main" id="{88E19E6B-9D10-45DC-BB93-62B762752452}"/>
              </a:ext>
            </a:extLst>
          </p:cNvPr>
          <p:cNvSpPr>
            <a:spLocks noGrp="1"/>
          </p:cNvSpPr>
          <p:nvPr/>
        </p:nvSpPr>
        <p:spPr>
          <a:xfrm>
            <a:off x="9620250" y="2038350"/>
            <a:ext cx="4000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20" name="Rounded Rectangle 19">
            <a:extLst>
              <a:ext uri="{FF2B5EF4-FFF2-40B4-BE49-F238E27FC236}">
                <a16:creationId xmlns:a16="http://schemas.microsoft.com/office/drawing/2014/main" id="{AC21DE3E-1422-46DF-8B9C-2A522066B79F}"/>
              </a:ext>
            </a:extLst>
          </p:cNvPr>
          <p:cNvSpPr>
            <a:spLocks noGrp="1"/>
          </p:cNvSpPr>
          <p:nvPr/>
        </p:nvSpPr>
        <p:spPr>
          <a:xfrm>
            <a:off x="10096500" y="1790700"/>
            <a:ext cx="1714500" cy="762000"/>
          </a:xfrm>
          <a:prstGeom prst="roundRect">
            <a:avLst>
              <a:gd name="adj" fmla="val 10000"/>
            </a:avLst>
          </a:prstGeom>
          <a:solidFill>
            <a:srgbClr val="FBE1DE"/>
          </a:solidFill>
          <a:ln w="9525">
            <a:solidFill>
              <a:srgbClr val="E08B86"/>
            </a:solidFill>
            <a:prstDash val="solid"/>
          </a:ln>
        </p:spPr>
        <p:txBody>
          <a:bodyPr/>
          <a:lstStyle/>
          <a:p>
            <a:endParaRPr/>
          </a:p>
        </p:txBody>
      </p:sp>
      <p:sp>
        <p:nvSpPr>
          <p:cNvPr id="21" name="Rectangle 20">
            <a:extLst>
              <a:ext uri="{FF2B5EF4-FFF2-40B4-BE49-F238E27FC236}">
                <a16:creationId xmlns:a16="http://schemas.microsoft.com/office/drawing/2014/main" id="{617BFF8D-E2A7-4B52-B2F2-9C01A656F488}"/>
              </a:ext>
            </a:extLst>
          </p:cNvPr>
          <p:cNvSpPr>
            <a:spLocks noGrp="1"/>
          </p:cNvSpPr>
          <p:nvPr/>
        </p:nvSpPr>
        <p:spPr>
          <a:xfrm>
            <a:off x="10096500" y="1790700"/>
            <a:ext cx="57150" cy="762000"/>
          </a:xfrm>
          <a:prstGeom prst="rect">
            <a:avLst/>
          </a:prstGeom>
          <a:solidFill>
            <a:srgbClr val="C2413B"/>
          </a:solidFill>
          <a:ln w="0">
            <a:solidFill>
              <a:srgbClr val="000000">
                <a:alpha val="0"/>
              </a:srgbClr>
            </a:solidFill>
            <a:prstDash val="solid"/>
          </a:ln>
        </p:spPr>
        <p:txBody>
          <a:bodyPr/>
          <a:lstStyle/>
          <a:p>
            <a:endParaRPr/>
          </a:p>
        </p:txBody>
      </p:sp>
      <p:sp>
        <p:nvSpPr>
          <p:cNvPr id="22" name="Rectangle 21">
            <a:extLst>
              <a:ext uri="{FF2B5EF4-FFF2-40B4-BE49-F238E27FC236}">
                <a16:creationId xmlns:a16="http://schemas.microsoft.com/office/drawing/2014/main" id="{8DD9671F-FB31-4AB3-BAC0-8D216E94DFAE}"/>
              </a:ext>
            </a:extLst>
          </p:cNvPr>
          <p:cNvSpPr>
            <a:spLocks noGrp="1"/>
          </p:cNvSpPr>
          <p:nvPr/>
        </p:nvSpPr>
        <p:spPr>
          <a:xfrm>
            <a:off x="10248900" y="1924050"/>
            <a:ext cx="1409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12B"/>
                </a:solidFill>
                <a:latin typeface="Aptos"/>
                <a:ea typeface="Aptos"/>
                <a:cs typeface="Aptos"/>
              </a:defRPr>
            </a:pPr>
            <a:r>
              <a:rPr sz="1350" b="1">
                <a:solidFill>
                  <a:srgbClr val="17212B"/>
                </a:solidFill>
                <a:latin typeface="Aptos"/>
                <a:ea typeface="Aptos"/>
                <a:cs typeface="Aptos"/>
              </a:rPr>
              <a:t>Failure</a:t>
            </a:r>
          </a:p>
        </p:txBody>
      </p:sp>
      <p:sp>
        <p:nvSpPr>
          <p:cNvPr id="23" name="Rectangle 22">
            <a:extLst>
              <a:ext uri="{FF2B5EF4-FFF2-40B4-BE49-F238E27FC236}">
                <a16:creationId xmlns:a16="http://schemas.microsoft.com/office/drawing/2014/main" id="{837D2B88-6F2C-402A-8DD5-2390B046CC3D}"/>
              </a:ext>
            </a:extLst>
          </p:cNvPr>
          <p:cNvSpPr>
            <a:spLocks noGrp="1"/>
          </p:cNvSpPr>
          <p:nvPr/>
        </p:nvSpPr>
        <p:spPr>
          <a:xfrm>
            <a:off x="10248900" y="2190750"/>
            <a:ext cx="1409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57487"/>
                </a:solidFill>
                <a:latin typeface="Aptos"/>
                <a:ea typeface="Aptos"/>
                <a:cs typeface="Aptos"/>
              </a:defRPr>
            </a:pPr>
            <a:r>
              <a:rPr sz="975" b="0">
                <a:solidFill>
                  <a:srgbClr val="657487"/>
                </a:solidFill>
                <a:latin typeface="Aptos"/>
                <a:ea typeface="Aptos"/>
                <a:cs typeface="Aptos"/>
              </a:rPr>
              <a:t>Downtime and repair</a:t>
            </a:r>
          </a:p>
        </p:txBody>
      </p:sp>
      <p:sp>
        <p:nvSpPr>
          <p:cNvPr id="24" name="Rounded Rectangle 23">
            <a:extLst>
              <a:ext uri="{FF2B5EF4-FFF2-40B4-BE49-F238E27FC236}">
                <a16:creationId xmlns:a16="http://schemas.microsoft.com/office/drawing/2014/main" id="{80F16956-82C5-4632-97CC-C0C184A8B79B}"/>
              </a:ext>
            </a:extLst>
          </p:cNvPr>
          <p:cNvSpPr>
            <a:spLocks noGrp="1"/>
          </p:cNvSpPr>
          <p:nvPr/>
        </p:nvSpPr>
        <p:spPr>
          <a:xfrm>
            <a:off x="6438900" y="3181350"/>
            <a:ext cx="3714750" cy="1047750"/>
          </a:xfrm>
          <a:prstGeom prst="roundRect">
            <a:avLst>
              <a:gd name="adj" fmla="val 9302"/>
            </a:avLst>
          </a:prstGeom>
          <a:solidFill>
            <a:srgbClr val="FFFFFF"/>
          </a:solidFill>
          <a:ln w="19050">
            <a:solidFill>
              <a:srgbClr val="0B7A75"/>
            </a:solidFill>
            <a:prstDash val="solid"/>
          </a:ln>
        </p:spPr>
        <p:txBody>
          <a:bodyPr/>
          <a:lstStyle/>
          <a:p>
            <a:endParaRPr/>
          </a:p>
        </p:txBody>
      </p:sp>
      <p:sp>
        <p:nvSpPr>
          <p:cNvPr id="25" name="Rectangle 24">
            <a:extLst>
              <a:ext uri="{FF2B5EF4-FFF2-40B4-BE49-F238E27FC236}">
                <a16:creationId xmlns:a16="http://schemas.microsoft.com/office/drawing/2014/main" id="{32202DF7-4F8A-4B56-8549-0EA8FDE2B356}"/>
              </a:ext>
            </a:extLst>
          </p:cNvPr>
          <p:cNvSpPr>
            <a:spLocks noGrp="1"/>
          </p:cNvSpPr>
          <p:nvPr/>
        </p:nvSpPr>
        <p:spPr>
          <a:xfrm>
            <a:off x="6648450" y="3324225"/>
            <a:ext cx="1238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0B7A75"/>
                </a:solidFill>
                <a:latin typeface="Aptos"/>
                <a:ea typeface="Aptos"/>
                <a:cs typeface="Aptos"/>
              </a:defRPr>
            </a:pPr>
            <a:r>
              <a:rPr sz="1050" b="1">
                <a:solidFill>
                  <a:srgbClr val="0B7A75"/>
                </a:solidFill>
                <a:latin typeface="Aptos"/>
                <a:ea typeface="Aptos"/>
                <a:cs typeface="Aptos"/>
              </a:rPr>
              <a:t>Opportunity</a:t>
            </a:r>
          </a:p>
        </p:txBody>
      </p:sp>
      <p:sp>
        <p:nvSpPr>
          <p:cNvPr id="26" name="Rectangle 25">
            <a:extLst>
              <a:ext uri="{FF2B5EF4-FFF2-40B4-BE49-F238E27FC236}">
                <a16:creationId xmlns:a16="http://schemas.microsoft.com/office/drawing/2014/main" id="{75C6C617-598B-4BD6-8BFA-49336EC77F2E}"/>
              </a:ext>
            </a:extLst>
          </p:cNvPr>
          <p:cNvSpPr>
            <a:spLocks noGrp="1"/>
          </p:cNvSpPr>
          <p:nvPr/>
        </p:nvSpPr>
        <p:spPr>
          <a:xfrm>
            <a:off x="6648450" y="3571875"/>
            <a:ext cx="3238500" cy="3238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200" b="0">
                <a:solidFill>
                  <a:srgbClr val="243447"/>
                </a:solidFill>
                <a:latin typeface="Aptos"/>
                <a:ea typeface="Aptos"/>
                <a:cs typeface="Aptos"/>
              </a:defRPr>
            </a:pPr>
            <a:r>
              <a:rPr sz="1000">
                <a:latin typeface="Aptos"/>
              </a:rPr>
              <a:t>Detect abnormal multi-sensor behavior during degradation and schedule maintenance before breakdown.</a:t>
            </a:r>
          </a:p>
        </p:txBody>
      </p:sp>
      <p:sp>
        <p:nvSpPr>
          <p:cNvPr id="27" name="Rounded Rectangle 26">
            <a:extLst>
              <a:ext uri="{FF2B5EF4-FFF2-40B4-BE49-F238E27FC236}">
                <a16:creationId xmlns:a16="http://schemas.microsoft.com/office/drawing/2014/main" id="{0083A6A5-B93F-44A8-9A4B-FBA854172D06}"/>
              </a:ext>
            </a:extLst>
          </p:cNvPr>
          <p:cNvSpPr>
            <a:spLocks noGrp="1"/>
          </p:cNvSpPr>
          <p:nvPr/>
        </p:nvSpPr>
        <p:spPr>
          <a:xfrm>
            <a:off x="704850" y="4629150"/>
            <a:ext cx="2333625" cy="990600"/>
          </a:xfrm>
          <a:prstGeom prst="roundRect">
            <a:avLst>
              <a:gd name="adj" fmla="val 7692"/>
            </a:avLst>
          </a:prstGeom>
          <a:solidFill>
            <a:srgbClr val="D8F0EC"/>
          </a:solidFill>
          <a:ln w="0">
            <a:solidFill>
              <a:srgbClr val="000000">
                <a:alpha val="0"/>
              </a:srgbClr>
            </a:solidFill>
            <a:prstDash val="solid"/>
          </a:ln>
        </p:spPr>
        <p:txBody>
          <a:bodyPr/>
          <a:lstStyle/>
          <a:p>
            <a:endParaRPr/>
          </a:p>
        </p:txBody>
      </p:sp>
      <p:sp>
        <p:nvSpPr>
          <p:cNvPr id="28" name="Rectangle 27">
            <a:extLst>
              <a:ext uri="{FF2B5EF4-FFF2-40B4-BE49-F238E27FC236}">
                <a16:creationId xmlns:a16="http://schemas.microsoft.com/office/drawing/2014/main" id="{AC06D4EE-7CBE-4622-97B8-72F1569BEE8D}"/>
              </a:ext>
            </a:extLst>
          </p:cNvPr>
          <p:cNvSpPr>
            <a:spLocks noGrp="1"/>
          </p:cNvSpPr>
          <p:nvPr/>
        </p:nvSpPr>
        <p:spPr>
          <a:xfrm>
            <a:off x="876300" y="4781550"/>
            <a:ext cx="19907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0B7A75"/>
                </a:solidFill>
                <a:latin typeface="Aptos"/>
                <a:ea typeface="Aptos"/>
                <a:cs typeface="Aptos"/>
              </a:defRPr>
            </a:pPr>
            <a:r>
              <a:rPr sz="2400" b="1">
                <a:solidFill>
                  <a:srgbClr val="0B7A75"/>
                </a:solidFill>
                <a:latin typeface="Aptos"/>
                <a:ea typeface="Aptos"/>
                <a:cs typeface="Aptos"/>
              </a:rPr>
              <a:t>Earlier</a:t>
            </a:r>
          </a:p>
        </p:txBody>
      </p:sp>
      <p:sp>
        <p:nvSpPr>
          <p:cNvPr id="29" name="Rectangle 28">
            <a:extLst>
              <a:ext uri="{FF2B5EF4-FFF2-40B4-BE49-F238E27FC236}">
                <a16:creationId xmlns:a16="http://schemas.microsoft.com/office/drawing/2014/main" id="{F57D2E37-39C0-4DF1-9211-CAC2E103989B}"/>
              </a:ext>
            </a:extLst>
          </p:cNvPr>
          <p:cNvSpPr>
            <a:spLocks noGrp="1"/>
          </p:cNvSpPr>
          <p:nvPr/>
        </p:nvSpPr>
        <p:spPr>
          <a:xfrm>
            <a:off x="876300" y="5162550"/>
            <a:ext cx="1990725" cy="3238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050" b="0">
                <a:solidFill>
                  <a:srgbClr val="243447"/>
                </a:solidFill>
                <a:latin typeface="Aptos"/>
                <a:ea typeface="Aptos"/>
                <a:cs typeface="Aptos"/>
              </a:defRPr>
            </a:pPr>
            <a:r>
              <a:rPr sz="1000">
                <a:latin typeface="Aptos"/>
              </a:rPr>
              <a:t>Fault visibility through vibration + temperature patterns</a:t>
            </a:r>
          </a:p>
        </p:txBody>
      </p:sp>
      <p:sp>
        <p:nvSpPr>
          <p:cNvPr id="30" name="Rounded Rectangle 29">
            <a:extLst>
              <a:ext uri="{FF2B5EF4-FFF2-40B4-BE49-F238E27FC236}">
                <a16:creationId xmlns:a16="http://schemas.microsoft.com/office/drawing/2014/main" id="{24B7CC9C-A26F-458D-8EBA-EDCD48D85C1F}"/>
              </a:ext>
            </a:extLst>
          </p:cNvPr>
          <p:cNvSpPr>
            <a:spLocks noGrp="1"/>
          </p:cNvSpPr>
          <p:nvPr/>
        </p:nvSpPr>
        <p:spPr>
          <a:xfrm>
            <a:off x="3286125" y="4629150"/>
            <a:ext cx="2667000" cy="990600"/>
          </a:xfrm>
          <a:prstGeom prst="roundRect">
            <a:avLst>
              <a:gd name="adj" fmla="val 7692"/>
            </a:avLst>
          </a:prstGeom>
          <a:solidFill>
            <a:srgbClr val="DFF2E6"/>
          </a:solidFill>
          <a:ln w="0">
            <a:solidFill>
              <a:srgbClr val="000000">
                <a:alpha val="0"/>
              </a:srgbClr>
            </a:solidFill>
            <a:prstDash val="solid"/>
          </a:ln>
        </p:spPr>
        <p:txBody>
          <a:bodyPr/>
          <a:lstStyle/>
          <a:p>
            <a:endParaRPr/>
          </a:p>
        </p:txBody>
      </p:sp>
      <p:sp>
        <p:nvSpPr>
          <p:cNvPr id="31" name="Rectangle 30">
            <a:extLst>
              <a:ext uri="{FF2B5EF4-FFF2-40B4-BE49-F238E27FC236}">
                <a16:creationId xmlns:a16="http://schemas.microsoft.com/office/drawing/2014/main" id="{2C927774-47E4-4458-A278-C889390BB795}"/>
              </a:ext>
            </a:extLst>
          </p:cNvPr>
          <p:cNvSpPr>
            <a:spLocks noGrp="1"/>
          </p:cNvSpPr>
          <p:nvPr/>
        </p:nvSpPr>
        <p:spPr>
          <a:xfrm>
            <a:off x="3457575" y="4781550"/>
            <a:ext cx="2324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2E7D4F"/>
                </a:solidFill>
                <a:latin typeface="Aptos"/>
                <a:ea typeface="Aptos"/>
                <a:cs typeface="Aptos"/>
              </a:defRPr>
            </a:pPr>
            <a:r>
              <a:rPr sz="2400" b="1">
                <a:solidFill>
                  <a:srgbClr val="2E7D4F"/>
                </a:solidFill>
                <a:latin typeface="Aptos"/>
                <a:ea typeface="Aptos"/>
                <a:cs typeface="Aptos"/>
              </a:rPr>
              <a:t>Lower</a:t>
            </a:r>
          </a:p>
        </p:txBody>
      </p:sp>
      <p:sp>
        <p:nvSpPr>
          <p:cNvPr id="32" name="Rectangle 31">
            <a:extLst>
              <a:ext uri="{FF2B5EF4-FFF2-40B4-BE49-F238E27FC236}">
                <a16:creationId xmlns:a16="http://schemas.microsoft.com/office/drawing/2014/main" id="{48843B86-B3F3-4285-AA50-2955BE181A81}"/>
              </a:ext>
            </a:extLst>
          </p:cNvPr>
          <p:cNvSpPr>
            <a:spLocks noGrp="1"/>
          </p:cNvSpPr>
          <p:nvPr/>
        </p:nvSpPr>
        <p:spPr>
          <a:xfrm>
            <a:off x="3457575" y="5162550"/>
            <a:ext cx="2324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243447"/>
                </a:solidFill>
                <a:latin typeface="Aptos"/>
                <a:ea typeface="Aptos"/>
                <a:cs typeface="Aptos"/>
              </a:defRPr>
            </a:pPr>
            <a:r>
              <a:rPr sz="1050" b="0">
                <a:solidFill>
                  <a:srgbClr val="243447"/>
                </a:solidFill>
                <a:latin typeface="Aptos"/>
                <a:ea typeface="Aptos"/>
                <a:cs typeface="Aptos"/>
              </a:rPr>
              <a:t>Unplanned downtime and emergency repair risk</a:t>
            </a:r>
          </a:p>
        </p:txBody>
      </p:sp>
      <p:sp>
        <p:nvSpPr>
          <p:cNvPr id="33" name="Rounded Rectangle 32">
            <a:extLst>
              <a:ext uri="{FF2B5EF4-FFF2-40B4-BE49-F238E27FC236}">
                <a16:creationId xmlns:a16="http://schemas.microsoft.com/office/drawing/2014/main" id="{98C4D8EA-FAAA-40BE-BB8D-4434E4496EAA}"/>
              </a:ext>
            </a:extLst>
          </p:cNvPr>
          <p:cNvSpPr>
            <a:spLocks noGrp="1"/>
          </p:cNvSpPr>
          <p:nvPr/>
        </p:nvSpPr>
        <p:spPr>
          <a:xfrm>
            <a:off x="6200775" y="4629150"/>
            <a:ext cx="2714625" cy="990600"/>
          </a:xfrm>
          <a:prstGeom prst="roundRect">
            <a:avLst>
              <a:gd name="adj" fmla="val 7692"/>
            </a:avLst>
          </a:prstGeom>
          <a:solidFill>
            <a:srgbClr val="E4EFFA"/>
          </a:solidFill>
          <a:ln w="0">
            <a:solidFill>
              <a:srgbClr val="000000">
                <a:alpha val="0"/>
              </a:srgbClr>
            </a:solidFill>
            <a:prstDash val="solid"/>
          </a:ln>
        </p:spPr>
        <p:txBody>
          <a:bodyPr/>
          <a:lstStyle/>
          <a:p>
            <a:endParaRPr/>
          </a:p>
        </p:txBody>
      </p:sp>
      <p:sp>
        <p:nvSpPr>
          <p:cNvPr id="34" name="Rectangle 33">
            <a:extLst>
              <a:ext uri="{FF2B5EF4-FFF2-40B4-BE49-F238E27FC236}">
                <a16:creationId xmlns:a16="http://schemas.microsoft.com/office/drawing/2014/main" id="{E84F5C8C-E8B9-4A4E-BF8C-974FEDAC0032}"/>
              </a:ext>
            </a:extLst>
          </p:cNvPr>
          <p:cNvSpPr>
            <a:spLocks noGrp="1"/>
          </p:cNvSpPr>
          <p:nvPr/>
        </p:nvSpPr>
        <p:spPr>
          <a:xfrm>
            <a:off x="6372225" y="4781550"/>
            <a:ext cx="23717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2B5F9E"/>
                </a:solidFill>
                <a:latin typeface="Aptos"/>
                <a:ea typeface="Aptos"/>
                <a:cs typeface="Aptos"/>
              </a:defRPr>
            </a:pPr>
            <a:r>
              <a:rPr sz="2400" b="1">
                <a:solidFill>
                  <a:srgbClr val="2B5F9E"/>
                </a:solidFill>
                <a:latin typeface="Aptos"/>
                <a:ea typeface="Aptos"/>
                <a:cs typeface="Aptos"/>
              </a:rPr>
              <a:t>Clearer</a:t>
            </a:r>
          </a:p>
        </p:txBody>
      </p:sp>
      <p:sp>
        <p:nvSpPr>
          <p:cNvPr id="35" name="Rectangle 34">
            <a:extLst>
              <a:ext uri="{FF2B5EF4-FFF2-40B4-BE49-F238E27FC236}">
                <a16:creationId xmlns:a16="http://schemas.microsoft.com/office/drawing/2014/main" id="{367699F0-DEC7-4A69-9F94-F48C8B0779C3}"/>
              </a:ext>
            </a:extLst>
          </p:cNvPr>
          <p:cNvSpPr>
            <a:spLocks noGrp="1"/>
          </p:cNvSpPr>
          <p:nvPr/>
        </p:nvSpPr>
        <p:spPr>
          <a:xfrm>
            <a:off x="6372225" y="5162550"/>
            <a:ext cx="23717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243447"/>
                </a:solidFill>
                <a:latin typeface="Aptos"/>
                <a:ea typeface="Aptos"/>
                <a:cs typeface="Aptos"/>
              </a:defRPr>
            </a:pPr>
            <a:r>
              <a:rPr sz="1050" b="0">
                <a:solidFill>
                  <a:srgbClr val="243447"/>
                </a:solidFill>
                <a:latin typeface="Aptos"/>
                <a:ea typeface="Aptos"/>
                <a:cs typeface="Aptos"/>
              </a:rPr>
              <a:t>Maintenance decisions with trend evidence</a:t>
            </a:r>
          </a:p>
        </p:txBody>
      </p:sp>
      <p:sp>
        <p:nvSpPr>
          <p:cNvPr id="36" name="Rounded Rectangle 35">
            <a:extLst>
              <a:ext uri="{FF2B5EF4-FFF2-40B4-BE49-F238E27FC236}">
                <a16:creationId xmlns:a16="http://schemas.microsoft.com/office/drawing/2014/main" id="{9EFC76DF-1D86-48D0-ADC6-ACF08C23EA63}"/>
              </a:ext>
            </a:extLst>
          </p:cNvPr>
          <p:cNvSpPr>
            <a:spLocks noGrp="1"/>
          </p:cNvSpPr>
          <p:nvPr/>
        </p:nvSpPr>
        <p:spPr>
          <a:xfrm>
            <a:off x="9163050" y="4629150"/>
            <a:ext cx="2333625" cy="990600"/>
          </a:xfrm>
          <a:prstGeom prst="roundRect">
            <a:avLst>
              <a:gd name="adj" fmla="val 7692"/>
            </a:avLst>
          </a:prstGeom>
          <a:solidFill>
            <a:srgbClr val="FFF0D2"/>
          </a:solidFill>
          <a:ln w="0">
            <a:solidFill>
              <a:srgbClr val="000000">
                <a:alpha val="0"/>
              </a:srgbClr>
            </a:solidFill>
            <a:prstDash val="solid"/>
          </a:ln>
        </p:spPr>
        <p:txBody>
          <a:bodyPr/>
          <a:lstStyle/>
          <a:p>
            <a:endParaRPr/>
          </a:p>
        </p:txBody>
      </p:sp>
      <p:sp>
        <p:nvSpPr>
          <p:cNvPr id="37" name="Rectangle 36">
            <a:extLst>
              <a:ext uri="{FF2B5EF4-FFF2-40B4-BE49-F238E27FC236}">
                <a16:creationId xmlns:a16="http://schemas.microsoft.com/office/drawing/2014/main" id="{31679C09-66AA-4F39-8050-DB9F284365F1}"/>
              </a:ext>
            </a:extLst>
          </p:cNvPr>
          <p:cNvSpPr>
            <a:spLocks noGrp="1"/>
          </p:cNvSpPr>
          <p:nvPr/>
        </p:nvSpPr>
        <p:spPr>
          <a:xfrm>
            <a:off x="9334500" y="4781550"/>
            <a:ext cx="19907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D98C00"/>
                </a:solidFill>
                <a:latin typeface="Aptos"/>
                <a:ea typeface="Aptos"/>
                <a:cs typeface="Aptos"/>
              </a:defRPr>
            </a:pPr>
            <a:r>
              <a:rPr sz="2400" b="1">
                <a:solidFill>
                  <a:srgbClr val="D98C00"/>
                </a:solidFill>
                <a:latin typeface="Aptos"/>
                <a:ea typeface="Aptos"/>
                <a:cs typeface="Aptos"/>
              </a:rPr>
              <a:t>Smarter</a:t>
            </a:r>
          </a:p>
        </p:txBody>
      </p:sp>
      <p:sp>
        <p:nvSpPr>
          <p:cNvPr id="38" name="Rectangle 37">
            <a:extLst>
              <a:ext uri="{FF2B5EF4-FFF2-40B4-BE49-F238E27FC236}">
                <a16:creationId xmlns:a16="http://schemas.microsoft.com/office/drawing/2014/main" id="{FB1F8C40-49BF-4408-904B-340448228058}"/>
              </a:ext>
            </a:extLst>
          </p:cNvPr>
          <p:cNvSpPr>
            <a:spLocks noGrp="1"/>
          </p:cNvSpPr>
          <p:nvPr/>
        </p:nvSpPr>
        <p:spPr>
          <a:xfrm>
            <a:off x="9334500" y="5162550"/>
            <a:ext cx="19907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243447"/>
                </a:solidFill>
                <a:latin typeface="Aptos"/>
                <a:ea typeface="Aptos"/>
                <a:cs typeface="Aptos"/>
              </a:defRPr>
            </a:pPr>
            <a:r>
              <a:rPr sz="1050" b="0">
                <a:solidFill>
                  <a:srgbClr val="243447"/>
                </a:solidFill>
                <a:latin typeface="Aptos"/>
                <a:ea typeface="Aptos"/>
                <a:cs typeface="Aptos"/>
              </a:rPr>
              <a:t>Condition-based action instead of fixed timing</a:t>
            </a:r>
          </a:p>
        </p:txBody>
      </p:sp>
    </p:spTree>
    <p:extLst>
      <p:ext uri="{BB962C8B-B14F-4D97-AF65-F5344CB8AC3E}">
        <p14:creationId xmlns:p14="http://schemas.microsoft.com/office/powerpoint/2010/main" val="4040544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xisting_vs_proposed.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276625" y="4710313"/>
            <a:ext cx="8198864" cy="860611"/>
          </a:xfrm>
          <a:prstGeom prst="rect">
            <a:avLst/>
          </a:prstGeom>
          <a:solidFill>
            <a:srgbClr val="F8FBFF"/>
          </a:solidFill>
          <a:ln>
            <a:solidFill>
              <a:srgbClr val="F8F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142B3162-EA6D-4480-935D-2C4056C93903}"/>
              </a:ext>
            </a:extLst>
          </p:cNvPr>
          <p:cNvSpPr>
            <a:spLocks noGrp="1"/>
          </p:cNvSpPr>
          <p:nvPr/>
        </p:nvSpPr>
        <p:spPr>
          <a:xfrm>
            <a:off x="0" y="0"/>
            <a:ext cx="12192000" cy="6858000"/>
          </a:xfrm>
          <a:prstGeom prst="rect">
            <a:avLst/>
          </a:prstGeom>
          <a:solidFill>
            <a:srgbClr val="F7F4EE"/>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089313F7-C043-4950-A663-A5B7DF181B93}"/>
              </a:ext>
            </a:extLst>
          </p:cNvPr>
          <p:cNvSpPr>
            <a:spLocks noGrp="1"/>
          </p:cNvSpPr>
          <p:nvPr/>
        </p:nvSpPr>
        <p:spPr>
          <a:xfrm>
            <a:off x="533400" y="361950"/>
            <a:ext cx="266700" cy="38100"/>
          </a:xfrm>
          <a:prstGeom prst="rect">
            <a:avLst/>
          </a:prstGeom>
          <a:solidFill>
            <a:srgbClr val="0B7A75"/>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92A45103-7E14-42C6-9366-741E80904806}"/>
              </a:ext>
            </a:extLst>
          </p:cNvPr>
          <p:cNvSpPr>
            <a:spLocks noGrp="1"/>
          </p:cNvSpPr>
          <p:nvPr/>
        </p:nvSpPr>
        <p:spPr>
          <a:xfrm>
            <a:off x="895350" y="247650"/>
            <a:ext cx="3429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57487"/>
                </a:solidFill>
                <a:latin typeface="Aptos"/>
                <a:ea typeface="Aptos"/>
                <a:cs typeface="Aptos"/>
              </a:defRPr>
            </a:pPr>
            <a:r>
              <a:rPr sz="975" b="1">
                <a:solidFill>
                  <a:srgbClr val="657487"/>
                </a:solidFill>
                <a:latin typeface="Aptos"/>
                <a:ea typeface="Aptos"/>
                <a:cs typeface="Aptos"/>
              </a:rPr>
              <a:t>PROPOSED SYSTEM</a:t>
            </a:r>
          </a:p>
        </p:txBody>
      </p:sp>
      <p:sp>
        <p:nvSpPr>
          <p:cNvPr id="4" name="Rectangle 3">
            <a:extLst>
              <a:ext uri="{FF2B5EF4-FFF2-40B4-BE49-F238E27FC236}">
                <a16:creationId xmlns:a16="http://schemas.microsoft.com/office/drawing/2014/main" id="{B419CE39-DDB4-4160-9549-146D0A247EF1}"/>
              </a:ext>
            </a:extLst>
          </p:cNvPr>
          <p:cNvSpPr>
            <a:spLocks noGrp="1"/>
          </p:cNvSpPr>
          <p:nvPr/>
        </p:nvSpPr>
        <p:spPr>
          <a:xfrm>
            <a:off x="533400" y="590550"/>
            <a:ext cx="7239000" cy="7429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2550" b="1">
                <a:solidFill>
                  <a:srgbClr val="17212B"/>
                </a:solidFill>
                <a:latin typeface="Aptos Display"/>
                <a:ea typeface="Aptos Display"/>
                <a:cs typeface="Aptos Display"/>
              </a:defRPr>
            </a:pPr>
            <a:r>
              <a:rPr sz="2600">
                <a:latin typeface="Aptos"/>
              </a:rPr>
              <a:t>Our solution turns multi-sensor readings into health, root cause, and next action.</a:t>
            </a:r>
          </a:p>
        </p:txBody>
      </p:sp>
      <p:sp>
        <p:nvSpPr>
          <p:cNvPr id="5" name="Rectangle 4">
            <a:extLst>
              <a:ext uri="{FF2B5EF4-FFF2-40B4-BE49-F238E27FC236}">
                <a16:creationId xmlns:a16="http://schemas.microsoft.com/office/drawing/2014/main" id="{30FC8060-E00A-4BD0-9BD5-69D4BC7C9BF4}"/>
              </a:ext>
            </a:extLst>
          </p:cNvPr>
          <p:cNvSpPr>
            <a:spLocks noGrp="1"/>
          </p:cNvSpPr>
          <p:nvPr/>
        </p:nvSpPr>
        <p:spPr>
          <a:xfrm>
            <a:off x="8001000" y="552450"/>
            <a:ext cx="342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200" b="0">
                <a:solidFill>
                  <a:srgbClr val="657487"/>
                </a:solidFill>
                <a:latin typeface="Aptos"/>
                <a:ea typeface="Aptos"/>
                <a:cs typeface="Aptos"/>
              </a:defRPr>
            </a:pPr>
            <a:r>
              <a:rPr sz="1200" b="0">
                <a:solidFill>
                  <a:srgbClr val="657487"/>
                </a:solidFill>
                <a:latin typeface="Aptos"/>
                <a:ea typeface="Aptos"/>
                <a:cs typeface="Aptos"/>
              </a:rPr>
              <a:t>High-level architecture.</a:t>
            </a:r>
          </a:p>
        </p:txBody>
      </p:sp>
      <p:sp>
        <p:nvSpPr>
          <p:cNvPr id="6" name="Rectangle 5">
            <a:extLst>
              <a:ext uri="{FF2B5EF4-FFF2-40B4-BE49-F238E27FC236}">
                <a16:creationId xmlns:a16="http://schemas.microsoft.com/office/drawing/2014/main" id="{44278BAA-47E7-4EEA-B16E-E94575AB01DE}"/>
              </a:ext>
            </a:extLst>
          </p:cNvPr>
          <p:cNvSpPr>
            <a:spLocks noGrp="1"/>
          </p:cNvSpPr>
          <p:nvPr/>
        </p:nvSpPr>
        <p:spPr>
          <a:xfrm>
            <a:off x="533400" y="6496050"/>
            <a:ext cx="66675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750" b="0">
                <a:solidFill>
                  <a:srgbClr val="8793A2"/>
                </a:solidFill>
                <a:latin typeface="Aptos"/>
                <a:ea typeface="Aptos"/>
                <a:cs typeface="Aptos"/>
              </a:defRPr>
            </a:pPr>
            <a:r>
              <a:rPr sz="900">
                <a:latin typeface="Aptos"/>
              </a:rPr>
              <a:t>Smart Predictive Maintenance Decision-Support System</a:t>
            </a:r>
          </a:p>
        </p:txBody>
      </p:sp>
      <p:sp>
        <p:nvSpPr>
          <p:cNvPr id="7" name="Rectangle 6">
            <a:extLst>
              <a:ext uri="{FF2B5EF4-FFF2-40B4-BE49-F238E27FC236}">
                <a16:creationId xmlns:a16="http://schemas.microsoft.com/office/drawing/2014/main" id="{1FAE981F-AE1E-42C2-90C7-5BB2C9E87565}"/>
              </a:ext>
            </a:extLst>
          </p:cNvPr>
          <p:cNvSpPr>
            <a:spLocks noGrp="1"/>
          </p:cNvSpPr>
          <p:nvPr/>
        </p:nvSpPr>
        <p:spPr>
          <a:xfrm>
            <a:off x="11277600" y="647700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793A2"/>
                </a:solidFill>
                <a:latin typeface="Aptos"/>
                <a:ea typeface="Aptos"/>
                <a:cs typeface="Aptos"/>
              </a:defRPr>
            </a:pPr>
            <a:r>
              <a:rPr sz="900" b="0">
                <a:solidFill>
                  <a:srgbClr val="8793A2"/>
                </a:solidFill>
                <a:latin typeface="Aptos"/>
                <a:ea typeface="Aptos"/>
                <a:cs typeface="Aptos"/>
              </a:rPr>
              <a:t>04</a:t>
            </a:r>
          </a:p>
        </p:txBody>
      </p:sp>
      <p:sp>
        <p:nvSpPr>
          <p:cNvPr id="8" name="Rounded Rectangle 7">
            <a:extLst>
              <a:ext uri="{FF2B5EF4-FFF2-40B4-BE49-F238E27FC236}">
                <a16:creationId xmlns:a16="http://schemas.microsoft.com/office/drawing/2014/main" id="{8E9A125F-7E27-44F2-AC72-6E03D4CEA913}"/>
              </a:ext>
            </a:extLst>
          </p:cNvPr>
          <p:cNvSpPr>
            <a:spLocks noGrp="1"/>
          </p:cNvSpPr>
          <p:nvPr/>
        </p:nvSpPr>
        <p:spPr>
          <a:xfrm>
            <a:off x="590550" y="2247900"/>
            <a:ext cx="1581150" cy="914400"/>
          </a:xfrm>
          <a:prstGeom prst="roundRect">
            <a:avLst>
              <a:gd name="adj" fmla="val 8333"/>
            </a:avLst>
          </a:prstGeom>
          <a:solidFill>
            <a:srgbClr val="D8F0EC"/>
          </a:solidFill>
          <a:ln w="9525">
            <a:solidFill>
              <a:srgbClr val="0B7A75"/>
            </a:solidFill>
            <a:prstDash val="solid"/>
          </a:ln>
        </p:spPr>
        <p:txBody>
          <a:bodyPr/>
          <a:lstStyle/>
          <a:p>
            <a:endParaRPr/>
          </a:p>
        </p:txBody>
      </p:sp>
      <p:sp>
        <p:nvSpPr>
          <p:cNvPr id="9" name="Rectangle 8">
            <a:extLst>
              <a:ext uri="{FF2B5EF4-FFF2-40B4-BE49-F238E27FC236}">
                <a16:creationId xmlns:a16="http://schemas.microsoft.com/office/drawing/2014/main" id="{8955E068-35FC-4B74-9524-6A1E978AF159}"/>
              </a:ext>
            </a:extLst>
          </p:cNvPr>
          <p:cNvSpPr>
            <a:spLocks noGrp="1"/>
          </p:cNvSpPr>
          <p:nvPr/>
        </p:nvSpPr>
        <p:spPr>
          <a:xfrm>
            <a:off x="590550" y="2247900"/>
            <a:ext cx="57150" cy="914400"/>
          </a:xfrm>
          <a:prstGeom prst="rect">
            <a:avLst/>
          </a:prstGeom>
          <a:solidFill>
            <a:srgbClr val="0B7A75"/>
          </a:solidFill>
          <a:ln w="0">
            <a:solidFill>
              <a:srgbClr val="000000">
                <a:alpha val="0"/>
              </a:srgbClr>
            </a:solidFill>
            <a:prstDash val="solid"/>
          </a:ln>
        </p:spPr>
        <p:txBody>
          <a:bodyPr/>
          <a:lstStyle/>
          <a:p>
            <a:endParaRPr/>
          </a:p>
        </p:txBody>
      </p:sp>
      <p:sp>
        <p:nvSpPr>
          <p:cNvPr id="10" name="Rectangle 9">
            <a:extLst>
              <a:ext uri="{FF2B5EF4-FFF2-40B4-BE49-F238E27FC236}">
                <a16:creationId xmlns:a16="http://schemas.microsoft.com/office/drawing/2014/main" id="{8DDD0017-8A11-4C00-A144-8B1E70B06706}"/>
              </a:ext>
            </a:extLst>
          </p:cNvPr>
          <p:cNvSpPr>
            <a:spLocks noGrp="1"/>
          </p:cNvSpPr>
          <p:nvPr/>
        </p:nvSpPr>
        <p:spPr>
          <a:xfrm>
            <a:off x="742950" y="2381250"/>
            <a:ext cx="1276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12B"/>
                </a:solidFill>
                <a:latin typeface="Aptos"/>
                <a:ea typeface="Aptos"/>
                <a:cs typeface="Aptos"/>
              </a:defRPr>
            </a:pPr>
            <a:r>
              <a:rPr sz="1275" b="1">
                <a:solidFill>
                  <a:srgbClr val="17212B"/>
                </a:solidFill>
                <a:latin typeface="Aptos"/>
                <a:ea typeface="Aptos"/>
                <a:cs typeface="Aptos"/>
              </a:rPr>
              <a:t>Machine</a:t>
            </a:r>
          </a:p>
        </p:txBody>
      </p:sp>
      <p:sp>
        <p:nvSpPr>
          <p:cNvPr id="11" name="Rectangle 10">
            <a:extLst>
              <a:ext uri="{FF2B5EF4-FFF2-40B4-BE49-F238E27FC236}">
                <a16:creationId xmlns:a16="http://schemas.microsoft.com/office/drawing/2014/main" id="{7DDC29AB-A4E1-43F7-9ADF-CF53FB67AC93}"/>
              </a:ext>
            </a:extLst>
          </p:cNvPr>
          <p:cNvSpPr>
            <a:spLocks noGrp="1"/>
          </p:cNvSpPr>
          <p:nvPr/>
        </p:nvSpPr>
        <p:spPr>
          <a:xfrm>
            <a:off x="742950" y="2647950"/>
            <a:ext cx="12763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57487"/>
                </a:solidFill>
                <a:latin typeface="Aptos"/>
                <a:ea typeface="Aptos"/>
                <a:cs typeface="Aptos"/>
              </a:defRPr>
            </a:pPr>
            <a:r>
              <a:rPr sz="975" b="0">
                <a:solidFill>
                  <a:srgbClr val="657487"/>
                </a:solidFill>
                <a:latin typeface="Aptos"/>
                <a:ea typeface="Aptos"/>
                <a:cs typeface="Aptos"/>
              </a:rPr>
              <a:t>Motor, pump, fan or bearing</a:t>
            </a:r>
          </a:p>
        </p:txBody>
      </p:sp>
      <p:sp>
        <p:nvSpPr>
          <p:cNvPr id="12" name="Rectangle 11">
            <a:extLst>
              <a:ext uri="{FF2B5EF4-FFF2-40B4-BE49-F238E27FC236}">
                <a16:creationId xmlns:a16="http://schemas.microsoft.com/office/drawing/2014/main" id="{D20B496E-E416-418D-A7CF-5A8D48598ECF}"/>
              </a:ext>
            </a:extLst>
          </p:cNvPr>
          <p:cNvSpPr>
            <a:spLocks noGrp="1"/>
          </p:cNvSpPr>
          <p:nvPr/>
        </p:nvSpPr>
        <p:spPr>
          <a:xfrm>
            <a:off x="2190750" y="2571750"/>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13" name="Rounded Rectangle 12">
            <a:extLst>
              <a:ext uri="{FF2B5EF4-FFF2-40B4-BE49-F238E27FC236}">
                <a16:creationId xmlns:a16="http://schemas.microsoft.com/office/drawing/2014/main" id="{44B3D97B-B257-4205-96FD-260AB4FCFDE1}"/>
              </a:ext>
            </a:extLst>
          </p:cNvPr>
          <p:cNvSpPr>
            <a:spLocks noGrp="1"/>
          </p:cNvSpPr>
          <p:nvPr/>
        </p:nvSpPr>
        <p:spPr>
          <a:xfrm>
            <a:off x="2457450" y="2247900"/>
            <a:ext cx="1581150" cy="914400"/>
          </a:xfrm>
          <a:prstGeom prst="roundRect">
            <a:avLst>
              <a:gd name="adj" fmla="val 8333"/>
            </a:avLst>
          </a:prstGeom>
          <a:solidFill>
            <a:srgbClr val="E4EFFA"/>
          </a:solidFill>
          <a:ln w="9525">
            <a:solidFill>
              <a:srgbClr val="2B5F9E"/>
            </a:solidFill>
            <a:prstDash val="solid"/>
          </a:ln>
        </p:spPr>
        <p:txBody>
          <a:bodyPr/>
          <a:lstStyle/>
          <a:p>
            <a:endParaRPr/>
          </a:p>
        </p:txBody>
      </p:sp>
      <p:sp>
        <p:nvSpPr>
          <p:cNvPr id="14" name="Rectangle 13">
            <a:extLst>
              <a:ext uri="{FF2B5EF4-FFF2-40B4-BE49-F238E27FC236}">
                <a16:creationId xmlns:a16="http://schemas.microsoft.com/office/drawing/2014/main" id="{F53267CA-BA05-45DF-9CDE-2E6DEA8C2627}"/>
              </a:ext>
            </a:extLst>
          </p:cNvPr>
          <p:cNvSpPr>
            <a:spLocks noGrp="1"/>
          </p:cNvSpPr>
          <p:nvPr/>
        </p:nvSpPr>
        <p:spPr>
          <a:xfrm>
            <a:off x="2457450" y="2247900"/>
            <a:ext cx="57150" cy="914400"/>
          </a:xfrm>
          <a:prstGeom prst="rect">
            <a:avLst/>
          </a:prstGeom>
          <a:solidFill>
            <a:srgbClr val="2B5F9E"/>
          </a:solidFill>
          <a:ln w="0">
            <a:solidFill>
              <a:srgbClr val="000000">
                <a:alpha val="0"/>
              </a:srgbClr>
            </a:solidFill>
            <a:prstDash val="solid"/>
          </a:ln>
        </p:spPr>
        <p:txBody>
          <a:bodyPr/>
          <a:lstStyle/>
          <a:p>
            <a:endParaRPr/>
          </a:p>
        </p:txBody>
      </p:sp>
      <p:sp>
        <p:nvSpPr>
          <p:cNvPr id="15" name="Rectangle 14">
            <a:extLst>
              <a:ext uri="{FF2B5EF4-FFF2-40B4-BE49-F238E27FC236}">
                <a16:creationId xmlns:a16="http://schemas.microsoft.com/office/drawing/2014/main" id="{EDE70994-DD1F-41A4-BB88-AED13FECE054}"/>
              </a:ext>
            </a:extLst>
          </p:cNvPr>
          <p:cNvSpPr>
            <a:spLocks noGrp="1"/>
          </p:cNvSpPr>
          <p:nvPr/>
        </p:nvSpPr>
        <p:spPr>
          <a:xfrm>
            <a:off x="2609850" y="2381250"/>
            <a:ext cx="1276350" cy="2286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275" b="1">
                <a:solidFill>
                  <a:srgbClr val="17212B"/>
                </a:solidFill>
                <a:latin typeface="Aptos"/>
                <a:ea typeface="Aptos"/>
                <a:cs typeface="Aptos"/>
              </a:defRPr>
            </a:pPr>
            <a:r>
              <a:rPr sz="1200">
                <a:latin typeface="Aptos"/>
              </a:rPr>
              <a:t>Sensors</a:t>
            </a:r>
          </a:p>
        </p:txBody>
      </p:sp>
      <p:sp>
        <p:nvSpPr>
          <p:cNvPr id="16" name="Rectangle 15">
            <a:extLst>
              <a:ext uri="{FF2B5EF4-FFF2-40B4-BE49-F238E27FC236}">
                <a16:creationId xmlns:a16="http://schemas.microsoft.com/office/drawing/2014/main" id="{DB2B1B92-6F4F-4037-A1A8-637C55DB0559}"/>
              </a:ext>
            </a:extLst>
          </p:cNvPr>
          <p:cNvSpPr>
            <a:spLocks noGrp="1"/>
          </p:cNvSpPr>
          <p:nvPr/>
        </p:nvSpPr>
        <p:spPr>
          <a:xfrm>
            <a:off x="2609850" y="2647950"/>
            <a:ext cx="1276350" cy="4381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1000">
                <a:latin typeface="Aptos"/>
              </a:rPr>
              <a:t>Vibration + temperature data</a:t>
            </a:r>
          </a:p>
        </p:txBody>
      </p:sp>
      <p:sp>
        <p:nvSpPr>
          <p:cNvPr id="17" name="Rectangle 16">
            <a:extLst>
              <a:ext uri="{FF2B5EF4-FFF2-40B4-BE49-F238E27FC236}">
                <a16:creationId xmlns:a16="http://schemas.microsoft.com/office/drawing/2014/main" id="{B34AFEAD-219C-4031-BC98-92E16EBC8D61}"/>
              </a:ext>
            </a:extLst>
          </p:cNvPr>
          <p:cNvSpPr>
            <a:spLocks noGrp="1"/>
          </p:cNvSpPr>
          <p:nvPr/>
        </p:nvSpPr>
        <p:spPr>
          <a:xfrm>
            <a:off x="4057650" y="2571750"/>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18" name="Rounded Rectangle 17">
            <a:extLst>
              <a:ext uri="{FF2B5EF4-FFF2-40B4-BE49-F238E27FC236}">
                <a16:creationId xmlns:a16="http://schemas.microsoft.com/office/drawing/2014/main" id="{3A93C980-5E78-4017-A951-4246A333F33D}"/>
              </a:ext>
            </a:extLst>
          </p:cNvPr>
          <p:cNvSpPr>
            <a:spLocks noGrp="1"/>
          </p:cNvSpPr>
          <p:nvPr/>
        </p:nvSpPr>
        <p:spPr>
          <a:xfrm>
            <a:off x="4324350" y="2247900"/>
            <a:ext cx="1581150" cy="914400"/>
          </a:xfrm>
          <a:prstGeom prst="roundRect">
            <a:avLst>
              <a:gd name="adj" fmla="val 8333"/>
            </a:avLst>
          </a:prstGeom>
          <a:solidFill>
            <a:srgbClr val="EDE7F7"/>
          </a:solidFill>
          <a:ln w="9525">
            <a:solidFill>
              <a:srgbClr val="6E4AA8"/>
            </a:solidFill>
            <a:prstDash val="solid"/>
          </a:ln>
        </p:spPr>
        <p:txBody>
          <a:bodyPr/>
          <a:lstStyle/>
          <a:p>
            <a:endParaRPr/>
          </a:p>
        </p:txBody>
      </p:sp>
      <p:sp>
        <p:nvSpPr>
          <p:cNvPr id="19" name="Rectangle 18">
            <a:extLst>
              <a:ext uri="{FF2B5EF4-FFF2-40B4-BE49-F238E27FC236}">
                <a16:creationId xmlns:a16="http://schemas.microsoft.com/office/drawing/2014/main" id="{73EDCB18-9336-47FD-BCAA-B2BE31BF4C0A}"/>
              </a:ext>
            </a:extLst>
          </p:cNvPr>
          <p:cNvSpPr>
            <a:spLocks noGrp="1"/>
          </p:cNvSpPr>
          <p:nvPr/>
        </p:nvSpPr>
        <p:spPr>
          <a:xfrm>
            <a:off x="4324350" y="2247900"/>
            <a:ext cx="57150" cy="914400"/>
          </a:xfrm>
          <a:prstGeom prst="rect">
            <a:avLst/>
          </a:prstGeom>
          <a:solidFill>
            <a:srgbClr val="6E4AA8"/>
          </a:solidFill>
          <a:ln w="0">
            <a:solidFill>
              <a:srgbClr val="000000">
                <a:alpha val="0"/>
              </a:srgbClr>
            </a:solidFill>
            <a:prstDash val="solid"/>
          </a:ln>
        </p:spPr>
        <p:txBody>
          <a:bodyPr/>
          <a:lstStyle/>
          <a:p>
            <a:endParaRPr/>
          </a:p>
        </p:txBody>
      </p:sp>
      <p:sp>
        <p:nvSpPr>
          <p:cNvPr id="20" name="Rectangle 19">
            <a:extLst>
              <a:ext uri="{FF2B5EF4-FFF2-40B4-BE49-F238E27FC236}">
                <a16:creationId xmlns:a16="http://schemas.microsoft.com/office/drawing/2014/main" id="{F711DE71-9EF0-428B-A5C5-A64A11EEC629}"/>
              </a:ext>
            </a:extLst>
          </p:cNvPr>
          <p:cNvSpPr>
            <a:spLocks noGrp="1"/>
          </p:cNvSpPr>
          <p:nvPr/>
        </p:nvSpPr>
        <p:spPr>
          <a:xfrm>
            <a:off x="4476750" y="2381250"/>
            <a:ext cx="1276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12B"/>
                </a:solidFill>
                <a:latin typeface="Aptos"/>
                <a:ea typeface="Aptos"/>
                <a:cs typeface="Aptos"/>
              </a:defRPr>
            </a:pPr>
            <a:r>
              <a:rPr sz="1275" b="1">
                <a:solidFill>
                  <a:srgbClr val="17212B"/>
                </a:solidFill>
                <a:latin typeface="Aptos"/>
                <a:ea typeface="Aptos"/>
                <a:cs typeface="Aptos"/>
              </a:rPr>
              <a:t>Gateway</a:t>
            </a:r>
          </a:p>
        </p:txBody>
      </p:sp>
      <p:sp>
        <p:nvSpPr>
          <p:cNvPr id="21" name="Rectangle 20">
            <a:extLst>
              <a:ext uri="{FF2B5EF4-FFF2-40B4-BE49-F238E27FC236}">
                <a16:creationId xmlns:a16="http://schemas.microsoft.com/office/drawing/2014/main" id="{C6DB09AB-5353-48D9-B484-F079595B0F25}"/>
              </a:ext>
            </a:extLst>
          </p:cNvPr>
          <p:cNvSpPr>
            <a:spLocks noGrp="1"/>
          </p:cNvSpPr>
          <p:nvPr/>
        </p:nvSpPr>
        <p:spPr>
          <a:xfrm>
            <a:off x="4476750" y="2647950"/>
            <a:ext cx="1276350" cy="4381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1000">
                <a:latin typeface="Aptos"/>
              </a:rPr>
              <a:t>Timestamp, tag machine ID, buffer locally</a:t>
            </a:r>
          </a:p>
        </p:txBody>
      </p:sp>
      <p:sp>
        <p:nvSpPr>
          <p:cNvPr id="22" name="Rectangle 21">
            <a:extLst>
              <a:ext uri="{FF2B5EF4-FFF2-40B4-BE49-F238E27FC236}">
                <a16:creationId xmlns:a16="http://schemas.microsoft.com/office/drawing/2014/main" id="{0CE2EA7D-9CDD-4DEC-995A-1B7FC15947BF}"/>
              </a:ext>
            </a:extLst>
          </p:cNvPr>
          <p:cNvSpPr>
            <a:spLocks noGrp="1"/>
          </p:cNvSpPr>
          <p:nvPr/>
        </p:nvSpPr>
        <p:spPr>
          <a:xfrm>
            <a:off x="5924550" y="2571750"/>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23" name="Rounded Rectangle 22">
            <a:extLst>
              <a:ext uri="{FF2B5EF4-FFF2-40B4-BE49-F238E27FC236}">
                <a16:creationId xmlns:a16="http://schemas.microsoft.com/office/drawing/2014/main" id="{60C49A55-C956-4C92-8519-21E3D32FD455}"/>
              </a:ext>
            </a:extLst>
          </p:cNvPr>
          <p:cNvSpPr>
            <a:spLocks noGrp="1"/>
          </p:cNvSpPr>
          <p:nvPr/>
        </p:nvSpPr>
        <p:spPr>
          <a:xfrm>
            <a:off x="6191250" y="2247900"/>
            <a:ext cx="1581150" cy="914400"/>
          </a:xfrm>
          <a:prstGeom prst="roundRect">
            <a:avLst>
              <a:gd name="adj" fmla="val 8333"/>
            </a:avLst>
          </a:prstGeom>
          <a:solidFill>
            <a:srgbClr val="FFF0D2"/>
          </a:solidFill>
          <a:ln w="9525">
            <a:solidFill>
              <a:srgbClr val="D98C00"/>
            </a:solidFill>
            <a:prstDash val="solid"/>
          </a:ln>
        </p:spPr>
        <p:txBody>
          <a:bodyPr/>
          <a:lstStyle/>
          <a:p>
            <a:endParaRPr/>
          </a:p>
        </p:txBody>
      </p:sp>
      <p:sp>
        <p:nvSpPr>
          <p:cNvPr id="24" name="Rectangle 23">
            <a:extLst>
              <a:ext uri="{FF2B5EF4-FFF2-40B4-BE49-F238E27FC236}">
                <a16:creationId xmlns:a16="http://schemas.microsoft.com/office/drawing/2014/main" id="{901F7654-3475-443E-A36E-8B329F73175F}"/>
              </a:ext>
            </a:extLst>
          </p:cNvPr>
          <p:cNvSpPr>
            <a:spLocks noGrp="1"/>
          </p:cNvSpPr>
          <p:nvPr/>
        </p:nvSpPr>
        <p:spPr>
          <a:xfrm>
            <a:off x="6191250" y="2247900"/>
            <a:ext cx="57150" cy="914400"/>
          </a:xfrm>
          <a:prstGeom prst="rect">
            <a:avLst/>
          </a:prstGeom>
          <a:solidFill>
            <a:srgbClr val="D98C00"/>
          </a:solidFill>
          <a:ln w="0">
            <a:solidFill>
              <a:srgbClr val="000000">
                <a:alpha val="0"/>
              </a:srgbClr>
            </a:solidFill>
            <a:prstDash val="solid"/>
          </a:ln>
        </p:spPr>
        <p:txBody>
          <a:bodyPr/>
          <a:lstStyle/>
          <a:p>
            <a:endParaRPr/>
          </a:p>
        </p:txBody>
      </p:sp>
      <p:sp>
        <p:nvSpPr>
          <p:cNvPr id="25" name="Rectangle 24">
            <a:extLst>
              <a:ext uri="{FF2B5EF4-FFF2-40B4-BE49-F238E27FC236}">
                <a16:creationId xmlns:a16="http://schemas.microsoft.com/office/drawing/2014/main" id="{4802AAC1-908B-42BA-90A4-F311F07C4B01}"/>
              </a:ext>
            </a:extLst>
          </p:cNvPr>
          <p:cNvSpPr>
            <a:spLocks noGrp="1"/>
          </p:cNvSpPr>
          <p:nvPr/>
        </p:nvSpPr>
        <p:spPr>
          <a:xfrm>
            <a:off x="6343650" y="2381250"/>
            <a:ext cx="1276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12B"/>
                </a:solidFill>
                <a:latin typeface="Aptos"/>
                <a:ea typeface="Aptos"/>
                <a:cs typeface="Aptos"/>
              </a:defRPr>
            </a:pPr>
            <a:r>
              <a:rPr sz="1275" b="1">
                <a:solidFill>
                  <a:srgbClr val="17212B"/>
                </a:solidFill>
                <a:latin typeface="Aptos"/>
                <a:ea typeface="Aptos"/>
                <a:cs typeface="Aptos"/>
              </a:rPr>
              <a:t>Processing</a:t>
            </a:r>
          </a:p>
        </p:txBody>
      </p:sp>
      <p:sp>
        <p:nvSpPr>
          <p:cNvPr id="26" name="Rectangle 25">
            <a:extLst>
              <a:ext uri="{FF2B5EF4-FFF2-40B4-BE49-F238E27FC236}">
                <a16:creationId xmlns:a16="http://schemas.microsoft.com/office/drawing/2014/main" id="{164AFC5F-BBB8-4FD3-8615-37DF92159C1C}"/>
              </a:ext>
            </a:extLst>
          </p:cNvPr>
          <p:cNvSpPr>
            <a:spLocks noGrp="1"/>
          </p:cNvSpPr>
          <p:nvPr/>
        </p:nvSpPr>
        <p:spPr>
          <a:xfrm>
            <a:off x="6343650" y="2647950"/>
            <a:ext cx="1276350" cy="4381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1000">
                <a:latin typeface="Aptos"/>
              </a:rPr>
              <a:t>Clean, window, sync, extract features</a:t>
            </a:r>
          </a:p>
        </p:txBody>
      </p:sp>
      <p:sp>
        <p:nvSpPr>
          <p:cNvPr id="27" name="Rectangle 26">
            <a:extLst>
              <a:ext uri="{FF2B5EF4-FFF2-40B4-BE49-F238E27FC236}">
                <a16:creationId xmlns:a16="http://schemas.microsoft.com/office/drawing/2014/main" id="{BCE51676-1917-4D01-8E4A-47BF572C757B}"/>
              </a:ext>
            </a:extLst>
          </p:cNvPr>
          <p:cNvSpPr>
            <a:spLocks noGrp="1"/>
          </p:cNvSpPr>
          <p:nvPr/>
        </p:nvSpPr>
        <p:spPr>
          <a:xfrm>
            <a:off x="7791450" y="2571750"/>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28" name="Rounded Rectangle 27">
            <a:extLst>
              <a:ext uri="{FF2B5EF4-FFF2-40B4-BE49-F238E27FC236}">
                <a16:creationId xmlns:a16="http://schemas.microsoft.com/office/drawing/2014/main" id="{24718316-8861-4090-A480-ADE627AC0D15}"/>
              </a:ext>
            </a:extLst>
          </p:cNvPr>
          <p:cNvSpPr>
            <a:spLocks noGrp="1"/>
          </p:cNvSpPr>
          <p:nvPr/>
        </p:nvSpPr>
        <p:spPr>
          <a:xfrm>
            <a:off x="8058150" y="2247900"/>
            <a:ext cx="1581150" cy="914400"/>
          </a:xfrm>
          <a:prstGeom prst="roundRect">
            <a:avLst>
              <a:gd name="adj" fmla="val 8333"/>
            </a:avLst>
          </a:prstGeom>
          <a:solidFill>
            <a:srgbClr val="DFF2E6"/>
          </a:solidFill>
          <a:ln w="9525">
            <a:solidFill>
              <a:srgbClr val="2E7D4F"/>
            </a:solidFill>
            <a:prstDash val="solid"/>
          </a:ln>
        </p:spPr>
        <p:txBody>
          <a:bodyPr/>
          <a:lstStyle/>
          <a:p>
            <a:endParaRPr/>
          </a:p>
        </p:txBody>
      </p:sp>
      <p:sp>
        <p:nvSpPr>
          <p:cNvPr id="29" name="Rectangle 28">
            <a:extLst>
              <a:ext uri="{FF2B5EF4-FFF2-40B4-BE49-F238E27FC236}">
                <a16:creationId xmlns:a16="http://schemas.microsoft.com/office/drawing/2014/main" id="{2D6F0824-5F3B-4F81-A165-E86F0B1F02A3}"/>
              </a:ext>
            </a:extLst>
          </p:cNvPr>
          <p:cNvSpPr>
            <a:spLocks noGrp="1"/>
          </p:cNvSpPr>
          <p:nvPr/>
        </p:nvSpPr>
        <p:spPr>
          <a:xfrm>
            <a:off x="8058150" y="2247900"/>
            <a:ext cx="57150" cy="914400"/>
          </a:xfrm>
          <a:prstGeom prst="rect">
            <a:avLst/>
          </a:prstGeom>
          <a:solidFill>
            <a:srgbClr val="2E7D4F"/>
          </a:solidFill>
          <a:ln w="0">
            <a:solidFill>
              <a:srgbClr val="000000">
                <a:alpha val="0"/>
              </a:srgbClr>
            </a:solidFill>
            <a:prstDash val="solid"/>
          </a:ln>
        </p:spPr>
        <p:txBody>
          <a:bodyPr/>
          <a:lstStyle/>
          <a:p>
            <a:endParaRPr/>
          </a:p>
        </p:txBody>
      </p:sp>
      <p:sp>
        <p:nvSpPr>
          <p:cNvPr id="30" name="Rectangle 29">
            <a:extLst>
              <a:ext uri="{FF2B5EF4-FFF2-40B4-BE49-F238E27FC236}">
                <a16:creationId xmlns:a16="http://schemas.microsoft.com/office/drawing/2014/main" id="{1DAFFD2C-6CF2-4E45-9AFD-2C4CCE1E23AD}"/>
              </a:ext>
            </a:extLst>
          </p:cNvPr>
          <p:cNvSpPr>
            <a:spLocks noGrp="1"/>
          </p:cNvSpPr>
          <p:nvPr/>
        </p:nvSpPr>
        <p:spPr>
          <a:xfrm>
            <a:off x="8210550" y="2381250"/>
            <a:ext cx="1276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12B"/>
                </a:solidFill>
                <a:latin typeface="Aptos"/>
                <a:ea typeface="Aptos"/>
                <a:cs typeface="Aptos"/>
              </a:defRPr>
            </a:pPr>
            <a:r>
              <a:rPr sz="1275" b="1">
                <a:solidFill>
                  <a:srgbClr val="17212B"/>
                </a:solidFill>
                <a:latin typeface="Aptos"/>
                <a:ea typeface="Aptos"/>
                <a:cs typeface="Aptos"/>
              </a:rPr>
              <a:t>ML model</a:t>
            </a:r>
          </a:p>
        </p:txBody>
      </p:sp>
      <p:sp>
        <p:nvSpPr>
          <p:cNvPr id="31" name="Rectangle 30">
            <a:extLst>
              <a:ext uri="{FF2B5EF4-FFF2-40B4-BE49-F238E27FC236}">
                <a16:creationId xmlns:a16="http://schemas.microsoft.com/office/drawing/2014/main" id="{A034018A-9A92-4A1A-BB5C-71872DFB6D4D}"/>
              </a:ext>
            </a:extLst>
          </p:cNvPr>
          <p:cNvSpPr>
            <a:spLocks noGrp="1"/>
          </p:cNvSpPr>
          <p:nvPr/>
        </p:nvSpPr>
        <p:spPr>
          <a:xfrm>
            <a:off x="8210550" y="2647950"/>
            <a:ext cx="1276350" cy="4381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1000">
                <a:latin typeface="Aptos"/>
              </a:rPr>
              <a:t>Health, risk, probable root cause</a:t>
            </a:r>
          </a:p>
        </p:txBody>
      </p:sp>
      <p:sp>
        <p:nvSpPr>
          <p:cNvPr id="32" name="Rectangle 31">
            <a:extLst>
              <a:ext uri="{FF2B5EF4-FFF2-40B4-BE49-F238E27FC236}">
                <a16:creationId xmlns:a16="http://schemas.microsoft.com/office/drawing/2014/main" id="{1C86620A-F550-4AF7-898A-446B1939B9F6}"/>
              </a:ext>
            </a:extLst>
          </p:cNvPr>
          <p:cNvSpPr>
            <a:spLocks noGrp="1"/>
          </p:cNvSpPr>
          <p:nvPr/>
        </p:nvSpPr>
        <p:spPr>
          <a:xfrm>
            <a:off x="9658350" y="2571750"/>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33" name="Rounded Rectangle 32">
            <a:extLst>
              <a:ext uri="{FF2B5EF4-FFF2-40B4-BE49-F238E27FC236}">
                <a16:creationId xmlns:a16="http://schemas.microsoft.com/office/drawing/2014/main" id="{B2C7E920-5796-4F69-86C3-887F256C45CB}"/>
              </a:ext>
            </a:extLst>
          </p:cNvPr>
          <p:cNvSpPr>
            <a:spLocks noGrp="1"/>
          </p:cNvSpPr>
          <p:nvPr/>
        </p:nvSpPr>
        <p:spPr>
          <a:xfrm>
            <a:off x="9925050" y="2247900"/>
            <a:ext cx="1581150" cy="914400"/>
          </a:xfrm>
          <a:prstGeom prst="roundRect">
            <a:avLst>
              <a:gd name="adj" fmla="val 8333"/>
            </a:avLst>
          </a:prstGeom>
          <a:solidFill>
            <a:srgbClr val="FBE1DE"/>
          </a:solidFill>
          <a:ln w="9525">
            <a:solidFill>
              <a:srgbClr val="C2413B"/>
            </a:solidFill>
            <a:prstDash val="solid"/>
          </a:ln>
        </p:spPr>
        <p:txBody>
          <a:bodyPr/>
          <a:lstStyle/>
          <a:p>
            <a:endParaRPr/>
          </a:p>
        </p:txBody>
      </p:sp>
      <p:sp>
        <p:nvSpPr>
          <p:cNvPr id="34" name="Rectangle 33">
            <a:extLst>
              <a:ext uri="{FF2B5EF4-FFF2-40B4-BE49-F238E27FC236}">
                <a16:creationId xmlns:a16="http://schemas.microsoft.com/office/drawing/2014/main" id="{DE0F5C6A-51E7-49DC-878F-A96E664F1A1A}"/>
              </a:ext>
            </a:extLst>
          </p:cNvPr>
          <p:cNvSpPr>
            <a:spLocks noGrp="1"/>
          </p:cNvSpPr>
          <p:nvPr/>
        </p:nvSpPr>
        <p:spPr>
          <a:xfrm>
            <a:off x="9925050" y="2247900"/>
            <a:ext cx="57150" cy="914400"/>
          </a:xfrm>
          <a:prstGeom prst="rect">
            <a:avLst/>
          </a:prstGeom>
          <a:solidFill>
            <a:srgbClr val="C2413B"/>
          </a:solidFill>
          <a:ln w="0">
            <a:solidFill>
              <a:srgbClr val="000000">
                <a:alpha val="0"/>
              </a:srgbClr>
            </a:solidFill>
            <a:prstDash val="solid"/>
          </a:ln>
        </p:spPr>
        <p:txBody>
          <a:bodyPr/>
          <a:lstStyle/>
          <a:p>
            <a:endParaRPr/>
          </a:p>
        </p:txBody>
      </p:sp>
      <p:sp>
        <p:nvSpPr>
          <p:cNvPr id="35" name="Rectangle 34">
            <a:extLst>
              <a:ext uri="{FF2B5EF4-FFF2-40B4-BE49-F238E27FC236}">
                <a16:creationId xmlns:a16="http://schemas.microsoft.com/office/drawing/2014/main" id="{16B2CCE6-B1D8-447C-A027-C6D25879DEBD}"/>
              </a:ext>
            </a:extLst>
          </p:cNvPr>
          <p:cNvSpPr>
            <a:spLocks noGrp="1"/>
          </p:cNvSpPr>
          <p:nvPr/>
        </p:nvSpPr>
        <p:spPr>
          <a:xfrm>
            <a:off x="10077450" y="2381250"/>
            <a:ext cx="1276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7212B"/>
                </a:solidFill>
                <a:latin typeface="Aptos"/>
                <a:ea typeface="Aptos"/>
                <a:cs typeface="Aptos"/>
              </a:defRPr>
            </a:pPr>
            <a:r>
              <a:rPr sz="1275" b="1">
                <a:solidFill>
                  <a:srgbClr val="17212B"/>
                </a:solidFill>
                <a:latin typeface="Aptos"/>
                <a:ea typeface="Aptos"/>
                <a:cs typeface="Aptos"/>
              </a:rPr>
              <a:t>Dashboard</a:t>
            </a:r>
          </a:p>
        </p:txBody>
      </p:sp>
      <p:sp>
        <p:nvSpPr>
          <p:cNvPr id="36" name="Rectangle 35">
            <a:extLst>
              <a:ext uri="{FF2B5EF4-FFF2-40B4-BE49-F238E27FC236}">
                <a16:creationId xmlns:a16="http://schemas.microsoft.com/office/drawing/2014/main" id="{07909F50-7105-4F20-B3A7-50E12A069523}"/>
              </a:ext>
            </a:extLst>
          </p:cNvPr>
          <p:cNvSpPr>
            <a:spLocks noGrp="1"/>
          </p:cNvSpPr>
          <p:nvPr/>
        </p:nvSpPr>
        <p:spPr>
          <a:xfrm>
            <a:off x="10077450" y="2647950"/>
            <a:ext cx="1276350" cy="4381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1000">
                <a:latin typeface="Aptos"/>
              </a:rPr>
              <a:t>Trends, alerts, history and KPIs</a:t>
            </a:r>
          </a:p>
        </p:txBody>
      </p:sp>
      <p:sp>
        <p:nvSpPr>
          <p:cNvPr id="37" name="Rounded Rectangle 36">
            <a:extLst>
              <a:ext uri="{FF2B5EF4-FFF2-40B4-BE49-F238E27FC236}">
                <a16:creationId xmlns:a16="http://schemas.microsoft.com/office/drawing/2014/main" id="{A8A482E8-DDE4-4742-BF7A-D3B77D555344}"/>
              </a:ext>
            </a:extLst>
          </p:cNvPr>
          <p:cNvSpPr>
            <a:spLocks noGrp="1"/>
          </p:cNvSpPr>
          <p:nvPr/>
        </p:nvSpPr>
        <p:spPr>
          <a:xfrm>
            <a:off x="1190625" y="3886200"/>
            <a:ext cx="9810750" cy="1257300"/>
          </a:xfrm>
          <a:prstGeom prst="roundRect">
            <a:avLst>
              <a:gd name="adj" fmla="val 7273"/>
            </a:avLst>
          </a:prstGeom>
          <a:solidFill>
            <a:srgbClr val="FFFFFF"/>
          </a:solidFill>
          <a:ln w="9525">
            <a:solidFill>
              <a:srgbClr val="D8DEE6"/>
            </a:solidFill>
            <a:prstDash val="solid"/>
          </a:ln>
        </p:spPr>
        <p:txBody>
          <a:bodyPr/>
          <a:lstStyle/>
          <a:p>
            <a:endParaRPr/>
          </a:p>
        </p:txBody>
      </p:sp>
      <p:sp>
        <p:nvSpPr>
          <p:cNvPr id="38" name="Rectangle 37">
            <a:extLst>
              <a:ext uri="{FF2B5EF4-FFF2-40B4-BE49-F238E27FC236}">
                <a16:creationId xmlns:a16="http://schemas.microsoft.com/office/drawing/2014/main" id="{A6318217-B8E0-4B02-A590-E9D3C5E49C91}"/>
              </a:ext>
            </a:extLst>
          </p:cNvPr>
          <p:cNvSpPr>
            <a:spLocks noGrp="1"/>
          </p:cNvSpPr>
          <p:nvPr/>
        </p:nvSpPr>
        <p:spPr>
          <a:xfrm>
            <a:off x="1466850" y="4076700"/>
            <a:ext cx="1619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B7A75"/>
                </a:solidFill>
                <a:latin typeface="Aptos"/>
                <a:ea typeface="Aptos"/>
                <a:cs typeface="Aptos"/>
              </a:defRPr>
            </a:pPr>
            <a:r>
              <a:rPr sz="1125" b="1">
                <a:solidFill>
                  <a:srgbClr val="0B7A75"/>
                </a:solidFill>
                <a:latin typeface="Aptos"/>
                <a:ea typeface="Aptos"/>
                <a:cs typeface="Aptos"/>
              </a:rPr>
              <a:t>Main outcome</a:t>
            </a:r>
          </a:p>
        </p:txBody>
      </p:sp>
      <p:sp>
        <p:nvSpPr>
          <p:cNvPr id="39" name="Rectangle 38">
            <a:extLst>
              <a:ext uri="{FF2B5EF4-FFF2-40B4-BE49-F238E27FC236}">
                <a16:creationId xmlns:a16="http://schemas.microsoft.com/office/drawing/2014/main" id="{09C2CBB5-544C-4697-A5FE-5ACB2178649A}"/>
              </a:ext>
            </a:extLst>
          </p:cNvPr>
          <p:cNvSpPr>
            <a:spLocks noGrp="1"/>
          </p:cNvSpPr>
          <p:nvPr/>
        </p:nvSpPr>
        <p:spPr>
          <a:xfrm>
            <a:off x="1466850" y="4391025"/>
            <a:ext cx="8763000" cy="3048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800" b="1">
                <a:solidFill>
                  <a:srgbClr val="17212B"/>
                </a:solidFill>
                <a:latin typeface="Aptos"/>
                <a:ea typeface="Aptos"/>
                <a:cs typeface="Aptos"/>
              </a:defRPr>
            </a:pPr>
            <a:r>
              <a:rPr sz="1000">
                <a:latin typeface="Aptos"/>
              </a:rPr>
              <a:t>The system supports planned maintenance by detecting abnormal vibration or temperature before a major fault becomes a breakdown.</a:t>
            </a:r>
          </a:p>
        </p:txBody>
      </p:sp>
      <p:sp>
        <p:nvSpPr>
          <p:cNvPr id="40" name="Rounded Rectangle 39">
            <a:extLst>
              <a:ext uri="{FF2B5EF4-FFF2-40B4-BE49-F238E27FC236}">
                <a16:creationId xmlns:a16="http://schemas.microsoft.com/office/drawing/2014/main" id="{DDDD21DB-184C-438D-B62B-4281AEDCA9B2}"/>
              </a:ext>
            </a:extLst>
          </p:cNvPr>
          <p:cNvSpPr>
            <a:spLocks noGrp="1"/>
          </p:cNvSpPr>
          <p:nvPr/>
        </p:nvSpPr>
        <p:spPr>
          <a:xfrm>
            <a:off x="1600200" y="5334000"/>
            <a:ext cx="1809750" cy="323850"/>
          </a:xfrm>
          <a:prstGeom prst="roundRect">
            <a:avLst>
              <a:gd name="adj" fmla="val 23529"/>
            </a:avLst>
          </a:prstGeom>
          <a:solidFill>
            <a:srgbClr val="D8F0EC"/>
          </a:solidFill>
          <a:ln w="9525">
            <a:solidFill>
              <a:srgbClr val="0B7A75"/>
            </a:solidFill>
            <a:prstDash val="solid"/>
          </a:ln>
        </p:spPr>
        <p:txBody>
          <a:bodyPr/>
          <a:lstStyle/>
          <a:p>
            <a:endParaRPr/>
          </a:p>
        </p:txBody>
      </p:sp>
      <p:sp>
        <p:nvSpPr>
          <p:cNvPr id="41" name="Rectangle 40">
            <a:extLst>
              <a:ext uri="{FF2B5EF4-FFF2-40B4-BE49-F238E27FC236}">
                <a16:creationId xmlns:a16="http://schemas.microsoft.com/office/drawing/2014/main" id="{53EFBEC5-4D9B-46B1-9BBC-A5EAAE68F87F}"/>
              </a:ext>
            </a:extLst>
          </p:cNvPr>
          <p:cNvSpPr>
            <a:spLocks noGrp="1"/>
          </p:cNvSpPr>
          <p:nvPr/>
        </p:nvSpPr>
        <p:spPr>
          <a:xfrm>
            <a:off x="1695450" y="5410200"/>
            <a:ext cx="161925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ctr">
              <a:defRPr sz="900" b="1">
                <a:solidFill>
                  <a:srgbClr val="0B7A75"/>
                </a:solidFill>
                <a:latin typeface="Aptos"/>
                <a:ea typeface="Aptos"/>
                <a:cs typeface="Aptos"/>
              </a:defRPr>
            </a:pPr>
            <a:r>
              <a:rPr sz="900">
                <a:latin typeface="Aptos"/>
              </a:rPr>
              <a:t>multi-sensor or dataset input</a:t>
            </a:r>
          </a:p>
        </p:txBody>
      </p:sp>
      <p:sp>
        <p:nvSpPr>
          <p:cNvPr id="42" name="Rounded Rectangle 41">
            <a:extLst>
              <a:ext uri="{FF2B5EF4-FFF2-40B4-BE49-F238E27FC236}">
                <a16:creationId xmlns:a16="http://schemas.microsoft.com/office/drawing/2014/main" id="{34085F58-4126-4A78-89FA-70888E151934}"/>
              </a:ext>
            </a:extLst>
          </p:cNvPr>
          <p:cNvSpPr>
            <a:spLocks noGrp="1"/>
          </p:cNvSpPr>
          <p:nvPr/>
        </p:nvSpPr>
        <p:spPr>
          <a:xfrm>
            <a:off x="3714750" y="5334000"/>
            <a:ext cx="2000250" cy="323850"/>
          </a:xfrm>
          <a:prstGeom prst="roundRect">
            <a:avLst>
              <a:gd name="adj" fmla="val 23529"/>
            </a:avLst>
          </a:prstGeom>
          <a:solidFill>
            <a:srgbClr val="E4EFFA"/>
          </a:solidFill>
          <a:ln w="9525">
            <a:solidFill>
              <a:srgbClr val="2B5F9E"/>
            </a:solidFill>
            <a:prstDash val="solid"/>
          </a:ln>
        </p:spPr>
        <p:txBody>
          <a:bodyPr/>
          <a:lstStyle/>
          <a:p>
            <a:endParaRPr/>
          </a:p>
        </p:txBody>
      </p:sp>
      <p:sp>
        <p:nvSpPr>
          <p:cNvPr id="43" name="Rectangle 42">
            <a:extLst>
              <a:ext uri="{FF2B5EF4-FFF2-40B4-BE49-F238E27FC236}">
                <a16:creationId xmlns:a16="http://schemas.microsoft.com/office/drawing/2014/main" id="{FA1B76EE-F40B-4660-9635-E0228CDCD1B7}"/>
              </a:ext>
            </a:extLst>
          </p:cNvPr>
          <p:cNvSpPr>
            <a:spLocks noGrp="1"/>
          </p:cNvSpPr>
          <p:nvPr/>
        </p:nvSpPr>
        <p:spPr>
          <a:xfrm>
            <a:off x="3810000" y="5410200"/>
            <a:ext cx="180975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ctr">
              <a:defRPr sz="900" b="1">
                <a:solidFill>
                  <a:srgbClr val="2B5F9E"/>
                </a:solidFill>
                <a:latin typeface="Aptos"/>
                <a:ea typeface="Aptos"/>
                <a:cs typeface="Aptos"/>
              </a:defRPr>
            </a:pPr>
            <a:r>
              <a:rPr sz="900">
                <a:latin typeface="Aptos"/>
              </a:rPr>
              <a:t>edge buffer + cloud analysis</a:t>
            </a:r>
          </a:p>
        </p:txBody>
      </p:sp>
      <p:sp>
        <p:nvSpPr>
          <p:cNvPr id="44" name="Rounded Rectangle 43">
            <a:extLst>
              <a:ext uri="{FF2B5EF4-FFF2-40B4-BE49-F238E27FC236}">
                <a16:creationId xmlns:a16="http://schemas.microsoft.com/office/drawing/2014/main" id="{EE63485B-D124-459B-9EC7-35ABEC6C2B9E}"/>
              </a:ext>
            </a:extLst>
          </p:cNvPr>
          <p:cNvSpPr>
            <a:spLocks noGrp="1"/>
          </p:cNvSpPr>
          <p:nvPr/>
        </p:nvSpPr>
        <p:spPr>
          <a:xfrm>
            <a:off x="6019800" y="5334000"/>
            <a:ext cx="1714500" cy="323850"/>
          </a:xfrm>
          <a:prstGeom prst="roundRect">
            <a:avLst>
              <a:gd name="adj" fmla="val 23529"/>
            </a:avLst>
          </a:prstGeom>
          <a:solidFill>
            <a:srgbClr val="DFF2E6"/>
          </a:solidFill>
          <a:ln w="9525">
            <a:solidFill>
              <a:srgbClr val="2E7D4F"/>
            </a:solidFill>
            <a:prstDash val="solid"/>
          </a:ln>
        </p:spPr>
        <p:txBody>
          <a:bodyPr/>
          <a:lstStyle/>
          <a:p>
            <a:endParaRPr/>
          </a:p>
        </p:txBody>
      </p:sp>
      <p:sp>
        <p:nvSpPr>
          <p:cNvPr id="45" name="Rectangle 44">
            <a:extLst>
              <a:ext uri="{FF2B5EF4-FFF2-40B4-BE49-F238E27FC236}">
                <a16:creationId xmlns:a16="http://schemas.microsoft.com/office/drawing/2014/main" id="{6AEA3387-154F-4B95-8413-4378DC749650}"/>
              </a:ext>
            </a:extLst>
          </p:cNvPr>
          <p:cNvSpPr>
            <a:spLocks noGrp="1"/>
          </p:cNvSpPr>
          <p:nvPr/>
        </p:nvSpPr>
        <p:spPr>
          <a:xfrm>
            <a:off x="6115050" y="5410200"/>
            <a:ext cx="15240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ctr">
              <a:defRPr sz="900" b="1">
                <a:solidFill>
                  <a:srgbClr val="2E7D4F"/>
                </a:solidFill>
                <a:latin typeface="Aptos"/>
                <a:ea typeface="Aptos"/>
                <a:cs typeface="Aptos"/>
              </a:defRPr>
            </a:pPr>
            <a:r>
              <a:rPr sz="900">
                <a:latin typeface="Aptos"/>
              </a:rPr>
              <a:t>ML/rules + root cause</a:t>
            </a:r>
          </a:p>
        </p:txBody>
      </p:sp>
      <p:sp>
        <p:nvSpPr>
          <p:cNvPr id="46" name="Rounded Rectangle 45">
            <a:extLst>
              <a:ext uri="{FF2B5EF4-FFF2-40B4-BE49-F238E27FC236}">
                <a16:creationId xmlns:a16="http://schemas.microsoft.com/office/drawing/2014/main" id="{2CCD0F12-60A9-4AB6-9121-A1AABCACB7AC}"/>
              </a:ext>
            </a:extLst>
          </p:cNvPr>
          <p:cNvSpPr>
            <a:spLocks noGrp="1"/>
          </p:cNvSpPr>
          <p:nvPr/>
        </p:nvSpPr>
        <p:spPr>
          <a:xfrm>
            <a:off x="8039100" y="5334000"/>
            <a:ext cx="2095500" cy="323850"/>
          </a:xfrm>
          <a:prstGeom prst="roundRect">
            <a:avLst>
              <a:gd name="adj" fmla="val 23529"/>
            </a:avLst>
          </a:prstGeom>
          <a:solidFill>
            <a:srgbClr val="FFF0D2"/>
          </a:solidFill>
          <a:ln w="9525">
            <a:solidFill>
              <a:srgbClr val="D98C00"/>
            </a:solidFill>
            <a:prstDash val="solid"/>
          </a:ln>
        </p:spPr>
        <p:txBody>
          <a:bodyPr/>
          <a:lstStyle/>
          <a:p>
            <a:endParaRPr/>
          </a:p>
        </p:txBody>
      </p:sp>
      <p:sp>
        <p:nvSpPr>
          <p:cNvPr id="47" name="Rectangle 46">
            <a:extLst>
              <a:ext uri="{FF2B5EF4-FFF2-40B4-BE49-F238E27FC236}">
                <a16:creationId xmlns:a16="http://schemas.microsoft.com/office/drawing/2014/main" id="{39102A28-D9DA-4E8C-AB62-C76290399860}"/>
              </a:ext>
            </a:extLst>
          </p:cNvPr>
          <p:cNvSpPr>
            <a:spLocks noGrp="1"/>
          </p:cNvSpPr>
          <p:nvPr/>
        </p:nvSpPr>
        <p:spPr>
          <a:xfrm>
            <a:off x="8134350" y="5410200"/>
            <a:ext cx="19050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ctr">
              <a:defRPr sz="900" b="1">
                <a:solidFill>
                  <a:srgbClr val="D98C00"/>
                </a:solidFill>
                <a:latin typeface="Aptos"/>
                <a:ea typeface="Aptos"/>
                <a:cs typeface="Aptos"/>
              </a:defRPr>
            </a:pPr>
            <a:r>
              <a:rPr sz="900">
                <a:latin typeface="Aptos"/>
              </a:rPr>
              <a:t>dashboard + KPI output</a:t>
            </a:r>
          </a:p>
        </p:txBody>
      </p:sp>
    </p:spTree>
    <p:extLst>
      <p:ext uri="{BB962C8B-B14F-4D97-AF65-F5344CB8AC3E}">
        <p14:creationId xmlns:p14="http://schemas.microsoft.com/office/powerpoint/2010/main" val="21232993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ystem_context_c4_level_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BAAF6A06-7EC1-472F-83D9-1A9DDA916806}"/>
              </a:ext>
            </a:extLst>
          </p:cNvPr>
          <p:cNvSpPr>
            <a:spLocks noGrp="1"/>
          </p:cNvSpPr>
          <p:nvPr/>
        </p:nvSpPr>
        <p:spPr>
          <a:xfrm>
            <a:off x="0" y="0"/>
            <a:ext cx="12192000" cy="6858000"/>
          </a:xfrm>
          <a:prstGeom prst="rect">
            <a:avLst/>
          </a:prstGeom>
          <a:solidFill>
            <a:srgbClr val="F7F4EE"/>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C916132A-40EB-4132-AEBA-E3602F90233F}"/>
              </a:ext>
            </a:extLst>
          </p:cNvPr>
          <p:cNvSpPr>
            <a:spLocks noGrp="1"/>
          </p:cNvSpPr>
          <p:nvPr/>
        </p:nvSpPr>
        <p:spPr>
          <a:xfrm>
            <a:off x="533400" y="361950"/>
            <a:ext cx="266700" cy="38100"/>
          </a:xfrm>
          <a:prstGeom prst="rect">
            <a:avLst/>
          </a:prstGeom>
          <a:solidFill>
            <a:srgbClr val="0B7A75"/>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8DBBB5B3-3FAF-435F-A97F-272D5DE0FC6D}"/>
              </a:ext>
            </a:extLst>
          </p:cNvPr>
          <p:cNvSpPr>
            <a:spLocks noGrp="1"/>
          </p:cNvSpPr>
          <p:nvPr/>
        </p:nvSpPr>
        <p:spPr>
          <a:xfrm>
            <a:off x="895350" y="247650"/>
            <a:ext cx="3429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57487"/>
                </a:solidFill>
                <a:latin typeface="Aptos"/>
                <a:ea typeface="Aptos"/>
                <a:cs typeface="Aptos"/>
              </a:defRPr>
            </a:pPr>
            <a:r>
              <a:rPr sz="975" b="1">
                <a:solidFill>
                  <a:srgbClr val="657487"/>
                </a:solidFill>
                <a:latin typeface="Aptos"/>
                <a:ea typeface="Aptos"/>
                <a:cs typeface="Aptos"/>
              </a:rPr>
              <a:t>ARCHITECTURE</a:t>
            </a:r>
          </a:p>
        </p:txBody>
      </p:sp>
      <p:sp>
        <p:nvSpPr>
          <p:cNvPr id="4" name="Rectangle 3">
            <a:extLst>
              <a:ext uri="{FF2B5EF4-FFF2-40B4-BE49-F238E27FC236}">
                <a16:creationId xmlns:a16="http://schemas.microsoft.com/office/drawing/2014/main" id="{C93A4D4F-FA0A-47C9-B3A5-EEEFA4F27784}"/>
              </a:ext>
            </a:extLst>
          </p:cNvPr>
          <p:cNvSpPr>
            <a:spLocks noGrp="1"/>
          </p:cNvSpPr>
          <p:nvPr/>
        </p:nvSpPr>
        <p:spPr>
          <a:xfrm>
            <a:off x="533400" y="590550"/>
            <a:ext cx="7239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Modular components make the prototype easier to test, explain, and extend.</a:t>
            </a:r>
          </a:p>
        </p:txBody>
      </p:sp>
      <p:sp>
        <p:nvSpPr>
          <p:cNvPr id="5" name="Rectangle 4">
            <a:extLst>
              <a:ext uri="{FF2B5EF4-FFF2-40B4-BE49-F238E27FC236}">
                <a16:creationId xmlns:a16="http://schemas.microsoft.com/office/drawing/2014/main" id="{22031C7D-01D7-4C82-A330-C9C66B52DAD6}"/>
              </a:ext>
            </a:extLst>
          </p:cNvPr>
          <p:cNvSpPr>
            <a:spLocks noGrp="1"/>
          </p:cNvSpPr>
          <p:nvPr/>
        </p:nvSpPr>
        <p:spPr>
          <a:xfrm>
            <a:off x="8001000" y="552450"/>
            <a:ext cx="342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200" b="0">
                <a:solidFill>
                  <a:srgbClr val="657487"/>
                </a:solidFill>
                <a:latin typeface="Aptos"/>
                <a:ea typeface="Aptos"/>
                <a:cs typeface="Aptos"/>
              </a:defRPr>
            </a:pPr>
            <a:r>
              <a:rPr sz="1200" b="0">
                <a:solidFill>
                  <a:srgbClr val="657487"/>
                </a:solidFill>
                <a:latin typeface="Aptos"/>
                <a:ea typeface="Aptos"/>
                <a:cs typeface="Aptos"/>
              </a:rPr>
              <a:t>Component-level architecture.</a:t>
            </a:r>
          </a:p>
        </p:txBody>
      </p:sp>
      <p:sp>
        <p:nvSpPr>
          <p:cNvPr id="6" name="Rectangle 5">
            <a:extLst>
              <a:ext uri="{FF2B5EF4-FFF2-40B4-BE49-F238E27FC236}">
                <a16:creationId xmlns:a16="http://schemas.microsoft.com/office/drawing/2014/main" id="{1E467305-710E-419D-B5DE-2F82B8DFDC45}"/>
              </a:ext>
            </a:extLst>
          </p:cNvPr>
          <p:cNvSpPr>
            <a:spLocks noGrp="1"/>
          </p:cNvSpPr>
          <p:nvPr/>
        </p:nvSpPr>
        <p:spPr>
          <a:xfrm>
            <a:off x="533400" y="6496050"/>
            <a:ext cx="66675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750" b="0">
                <a:solidFill>
                  <a:srgbClr val="8793A2"/>
                </a:solidFill>
                <a:latin typeface="Aptos"/>
                <a:ea typeface="Aptos"/>
                <a:cs typeface="Aptos"/>
              </a:defRPr>
            </a:pPr>
            <a:r>
              <a:rPr sz="900">
                <a:latin typeface="Aptos"/>
              </a:rPr>
              <a:t>Smart Predictive Maintenance Decision-Support System</a:t>
            </a:r>
          </a:p>
        </p:txBody>
      </p:sp>
      <p:sp>
        <p:nvSpPr>
          <p:cNvPr id="7" name="Rectangle 6">
            <a:extLst>
              <a:ext uri="{FF2B5EF4-FFF2-40B4-BE49-F238E27FC236}">
                <a16:creationId xmlns:a16="http://schemas.microsoft.com/office/drawing/2014/main" id="{40E7B6ED-590A-448D-A4F2-632B7CE6F626}"/>
              </a:ext>
            </a:extLst>
          </p:cNvPr>
          <p:cNvSpPr>
            <a:spLocks noGrp="1"/>
          </p:cNvSpPr>
          <p:nvPr/>
        </p:nvSpPr>
        <p:spPr>
          <a:xfrm>
            <a:off x="11277600" y="647700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793A2"/>
                </a:solidFill>
                <a:latin typeface="Aptos"/>
                <a:ea typeface="Aptos"/>
                <a:cs typeface="Aptos"/>
              </a:defRPr>
            </a:pPr>
            <a:r>
              <a:rPr sz="900" b="0">
                <a:solidFill>
                  <a:srgbClr val="8793A2"/>
                </a:solidFill>
                <a:latin typeface="Aptos"/>
                <a:ea typeface="Aptos"/>
                <a:cs typeface="Aptos"/>
              </a:rPr>
              <a:t>05</a:t>
            </a:r>
          </a:p>
        </p:txBody>
      </p:sp>
      <p:sp>
        <p:nvSpPr>
          <p:cNvPr id="8" name="Rounded Rectangle 7">
            <a:extLst>
              <a:ext uri="{FF2B5EF4-FFF2-40B4-BE49-F238E27FC236}">
                <a16:creationId xmlns:a16="http://schemas.microsoft.com/office/drawing/2014/main" id="{F082EAB4-E32B-4F87-BF8A-FFFC1E684E72}"/>
              </a:ext>
            </a:extLst>
          </p:cNvPr>
          <p:cNvSpPr>
            <a:spLocks noGrp="1"/>
          </p:cNvSpPr>
          <p:nvPr/>
        </p:nvSpPr>
        <p:spPr>
          <a:xfrm>
            <a:off x="781050" y="1562100"/>
            <a:ext cx="1809750" cy="3790950"/>
          </a:xfrm>
          <a:prstGeom prst="roundRect">
            <a:avLst>
              <a:gd name="adj" fmla="val 4211"/>
            </a:avLst>
          </a:prstGeom>
          <a:solidFill>
            <a:srgbClr val="FFFFFF"/>
          </a:solidFill>
          <a:ln w="9525">
            <a:solidFill>
              <a:srgbClr val="D8DEE6"/>
            </a:solidFill>
            <a:prstDash val="solid"/>
          </a:ln>
        </p:spPr>
        <p:txBody>
          <a:bodyPr/>
          <a:lstStyle/>
          <a:p>
            <a:endParaRPr/>
          </a:p>
        </p:txBody>
      </p:sp>
      <p:sp>
        <p:nvSpPr>
          <p:cNvPr id="9" name="Rectangle 8">
            <a:extLst>
              <a:ext uri="{FF2B5EF4-FFF2-40B4-BE49-F238E27FC236}">
                <a16:creationId xmlns:a16="http://schemas.microsoft.com/office/drawing/2014/main" id="{A03F875F-CF3E-4D08-A363-1504156914E6}"/>
              </a:ext>
            </a:extLst>
          </p:cNvPr>
          <p:cNvSpPr>
            <a:spLocks noGrp="1"/>
          </p:cNvSpPr>
          <p:nvPr/>
        </p:nvSpPr>
        <p:spPr>
          <a:xfrm>
            <a:off x="781050" y="1562100"/>
            <a:ext cx="1809750" cy="361950"/>
          </a:xfrm>
          <a:prstGeom prst="rect">
            <a:avLst/>
          </a:prstGeom>
          <a:solidFill>
            <a:srgbClr val="0B7A75"/>
          </a:solidFill>
          <a:ln w="0">
            <a:solidFill>
              <a:srgbClr val="000000">
                <a:alpha val="0"/>
              </a:srgbClr>
            </a:solidFill>
            <a:prstDash val="solid"/>
          </a:ln>
        </p:spPr>
        <p:txBody>
          <a:bodyPr/>
          <a:lstStyle/>
          <a:p>
            <a:endParaRPr/>
          </a:p>
        </p:txBody>
      </p:sp>
      <p:sp>
        <p:nvSpPr>
          <p:cNvPr id="10" name="Rectangle 9">
            <a:extLst>
              <a:ext uri="{FF2B5EF4-FFF2-40B4-BE49-F238E27FC236}">
                <a16:creationId xmlns:a16="http://schemas.microsoft.com/office/drawing/2014/main" id="{7DC2412D-0F35-4DDC-A277-A2F0B110E956}"/>
              </a:ext>
            </a:extLst>
          </p:cNvPr>
          <p:cNvSpPr>
            <a:spLocks noGrp="1"/>
          </p:cNvSpPr>
          <p:nvPr/>
        </p:nvSpPr>
        <p:spPr>
          <a:xfrm>
            <a:off x="895350" y="1666875"/>
            <a:ext cx="15811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Aptos"/>
                <a:ea typeface="Aptos"/>
                <a:cs typeface="Aptos"/>
              </a:defRPr>
            </a:pPr>
            <a:r>
              <a:rPr sz="975" b="1">
                <a:solidFill>
                  <a:srgbClr val="FFFFFF"/>
                </a:solidFill>
                <a:latin typeface="Aptos"/>
                <a:ea typeface="Aptos"/>
                <a:cs typeface="Aptos"/>
              </a:rPr>
              <a:t>Edge acquisition</a:t>
            </a:r>
          </a:p>
        </p:txBody>
      </p:sp>
      <p:sp>
        <p:nvSpPr>
          <p:cNvPr id="11" name="Rounded Rectangle 10">
            <a:extLst>
              <a:ext uri="{FF2B5EF4-FFF2-40B4-BE49-F238E27FC236}">
                <a16:creationId xmlns:a16="http://schemas.microsoft.com/office/drawing/2014/main" id="{96F06102-6E2B-4FF6-B90E-32C5FEC51CE8}"/>
              </a:ext>
            </a:extLst>
          </p:cNvPr>
          <p:cNvSpPr>
            <a:spLocks noGrp="1"/>
          </p:cNvSpPr>
          <p:nvPr/>
        </p:nvSpPr>
        <p:spPr>
          <a:xfrm>
            <a:off x="2876550" y="1562100"/>
            <a:ext cx="1809750" cy="3790950"/>
          </a:xfrm>
          <a:prstGeom prst="roundRect">
            <a:avLst>
              <a:gd name="adj" fmla="val 4211"/>
            </a:avLst>
          </a:prstGeom>
          <a:solidFill>
            <a:srgbClr val="FFFFFF"/>
          </a:solidFill>
          <a:ln w="9525">
            <a:solidFill>
              <a:srgbClr val="D8DEE6"/>
            </a:solidFill>
            <a:prstDash val="solid"/>
          </a:ln>
        </p:spPr>
        <p:txBody>
          <a:bodyPr/>
          <a:lstStyle/>
          <a:p>
            <a:endParaRPr/>
          </a:p>
        </p:txBody>
      </p:sp>
      <p:sp>
        <p:nvSpPr>
          <p:cNvPr id="12" name="Rectangle 11">
            <a:extLst>
              <a:ext uri="{FF2B5EF4-FFF2-40B4-BE49-F238E27FC236}">
                <a16:creationId xmlns:a16="http://schemas.microsoft.com/office/drawing/2014/main" id="{DD6A6BDB-5ACE-43BB-9A3C-330F9FF9CDA7}"/>
              </a:ext>
            </a:extLst>
          </p:cNvPr>
          <p:cNvSpPr>
            <a:spLocks noGrp="1"/>
          </p:cNvSpPr>
          <p:nvPr/>
        </p:nvSpPr>
        <p:spPr>
          <a:xfrm>
            <a:off x="2876550" y="1562100"/>
            <a:ext cx="1809750" cy="361950"/>
          </a:xfrm>
          <a:prstGeom prst="rect">
            <a:avLst/>
          </a:prstGeom>
          <a:solidFill>
            <a:srgbClr val="D98C00"/>
          </a:solidFill>
          <a:ln w="0">
            <a:solidFill>
              <a:srgbClr val="000000">
                <a:alpha val="0"/>
              </a:srgbClr>
            </a:solidFill>
            <a:prstDash val="solid"/>
          </a:ln>
        </p:spPr>
        <p:txBody>
          <a:bodyPr/>
          <a:lstStyle/>
          <a:p>
            <a:endParaRPr/>
          </a:p>
        </p:txBody>
      </p:sp>
      <p:sp>
        <p:nvSpPr>
          <p:cNvPr id="13" name="Rectangle 12">
            <a:extLst>
              <a:ext uri="{FF2B5EF4-FFF2-40B4-BE49-F238E27FC236}">
                <a16:creationId xmlns:a16="http://schemas.microsoft.com/office/drawing/2014/main" id="{7E9221B2-3324-4CEC-BC39-9BD53C0CD193}"/>
              </a:ext>
            </a:extLst>
          </p:cNvPr>
          <p:cNvSpPr>
            <a:spLocks noGrp="1"/>
          </p:cNvSpPr>
          <p:nvPr/>
        </p:nvSpPr>
        <p:spPr>
          <a:xfrm>
            <a:off x="2990850" y="1666875"/>
            <a:ext cx="15811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Aptos"/>
                <a:ea typeface="Aptos"/>
                <a:cs typeface="Aptos"/>
              </a:defRPr>
            </a:pPr>
            <a:r>
              <a:rPr sz="975" b="1">
                <a:solidFill>
                  <a:srgbClr val="FFFFFF"/>
                </a:solidFill>
                <a:latin typeface="Aptos"/>
                <a:ea typeface="Aptos"/>
                <a:cs typeface="Aptos"/>
              </a:rPr>
              <a:t>Signal pipeline</a:t>
            </a:r>
          </a:p>
        </p:txBody>
      </p:sp>
      <p:sp>
        <p:nvSpPr>
          <p:cNvPr id="14" name="Rounded Rectangle 13">
            <a:extLst>
              <a:ext uri="{FF2B5EF4-FFF2-40B4-BE49-F238E27FC236}">
                <a16:creationId xmlns:a16="http://schemas.microsoft.com/office/drawing/2014/main" id="{6856EEBC-381D-46E3-8DE4-E08B45AE1ADA}"/>
              </a:ext>
            </a:extLst>
          </p:cNvPr>
          <p:cNvSpPr>
            <a:spLocks noGrp="1"/>
          </p:cNvSpPr>
          <p:nvPr/>
        </p:nvSpPr>
        <p:spPr>
          <a:xfrm>
            <a:off x="4972050" y="1562100"/>
            <a:ext cx="1809750" cy="3790950"/>
          </a:xfrm>
          <a:prstGeom prst="roundRect">
            <a:avLst>
              <a:gd name="adj" fmla="val 4211"/>
            </a:avLst>
          </a:prstGeom>
          <a:solidFill>
            <a:srgbClr val="FFFFFF"/>
          </a:solidFill>
          <a:ln w="9525">
            <a:solidFill>
              <a:srgbClr val="D8DEE6"/>
            </a:solidFill>
            <a:prstDash val="solid"/>
          </a:ln>
        </p:spPr>
        <p:txBody>
          <a:bodyPr/>
          <a:lstStyle/>
          <a:p>
            <a:endParaRPr/>
          </a:p>
        </p:txBody>
      </p:sp>
      <p:sp>
        <p:nvSpPr>
          <p:cNvPr id="15" name="Rectangle 14">
            <a:extLst>
              <a:ext uri="{FF2B5EF4-FFF2-40B4-BE49-F238E27FC236}">
                <a16:creationId xmlns:a16="http://schemas.microsoft.com/office/drawing/2014/main" id="{BEEF23DF-90A9-480F-9297-CF435351B75E}"/>
              </a:ext>
            </a:extLst>
          </p:cNvPr>
          <p:cNvSpPr>
            <a:spLocks noGrp="1"/>
          </p:cNvSpPr>
          <p:nvPr/>
        </p:nvSpPr>
        <p:spPr>
          <a:xfrm>
            <a:off x="4972050" y="1562100"/>
            <a:ext cx="1809750" cy="361950"/>
          </a:xfrm>
          <a:prstGeom prst="rect">
            <a:avLst/>
          </a:prstGeom>
          <a:solidFill>
            <a:srgbClr val="2B5F9E"/>
          </a:solidFill>
          <a:ln w="0">
            <a:solidFill>
              <a:srgbClr val="000000">
                <a:alpha val="0"/>
              </a:srgbClr>
            </a:solidFill>
            <a:prstDash val="solid"/>
          </a:ln>
        </p:spPr>
        <p:txBody>
          <a:bodyPr/>
          <a:lstStyle/>
          <a:p>
            <a:endParaRPr/>
          </a:p>
        </p:txBody>
      </p:sp>
      <p:sp>
        <p:nvSpPr>
          <p:cNvPr id="16" name="Rectangle 15">
            <a:extLst>
              <a:ext uri="{FF2B5EF4-FFF2-40B4-BE49-F238E27FC236}">
                <a16:creationId xmlns:a16="http://schemas.microsoft.com/office/drawing/2014/main" id="{6F584961-5709-4803-9CBA-32C8CFBDE473}"/>
              </a:ext>
            </a:extLst>
          </p:cNvPr>
          <p:cNvSpPr>
            <a:spLocks noGrp="1"/>
          </p:cNvSpPr>
          <p:nvPr/>
        </p:nvSpPr>
        <p:spPr>
          <a:xfrm>
            <a:off x="5086350" y="1666875"/>
            <a:ext cx="15811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Aptos"/>
                <a:ea typeface="Aptos"/>
                <a:cs typeface="Aptos"/>
              </a:defRPr>
            </a:pPr>
            <a:r>
              <a:rPr sz="975" b="1">
                <a:solidFill>
                  <a:srgbClr val="FFFFFF"/>
                </a:solidFill>
                <a:latin typeface="Aptos"/>
                <a:ea typeface="Aptos"/>
                <a:cs typeface="Aptos"/>
              </a:rPr>
              <a:t>Application services</a:t>
            </a:r>
          </a:p>
        </p:txBody>
      </p:sp>
      <p:sp>
        <p:nvSpPr>
          <p:cNvPr id="17" name="Rounded Rectangle 16">
            <a:extLst>
              <a:ext uri="{FF2B5EF4-FFF2-40B4-BE49-F238E27FC236}">
                <a16:creationId xmlns:a16="http://schemas.microsoft.com/office/drawing/2014/main" id="{3C56CC1B-4E1E-43F5-85D0-753ADA3BCE5D}"/>
              </a:ext>
            </a:extLst>
          </p:cNvPr>
          <p:cNvSpPr>
            <a:spLocks noGrp="1"/>
          </p:cNvSpPr>
          <p:nvPr/>
        </p:nvSpPr>
        <p:spPr>
          <a:xfrm>
            <a:off x="7067550" y="1562100"/>
            <a:ext cx="1809750" cy="3790950"/>
          </a:xfrm>
          <a:prstGeom prst="roundRect">
            <a:avLst>
              <a:gd name="adj" fmla="val 4211"/>
            </a:avLst>
          </a:prstGeom>
          <a:solidFill>
            <a:srgbClr val="FFFFFF"/>
          </a:solidFill>
          <a:ln w="9525">
            <a:solidFill>
              <a:srgbClr val="D8DEE6"/>
            </a:solidFill>
            <a:prstDash val="solid"/>
          </a:ln>
        </p:spPr>
        <p:txBody>
          <a:bodyPr/>
          <a:lstStyle/>
          <a:p>
            <a:endParaRPr/>
          </a:p>
        </p:txBody>
      </p:sp>
      <p:sp>
        <p:nvSpPr>
          <p:cNvPr id="18" name="Rectangle 17">
            <a:extLst>
              <a:ext uri="{FF2B5EF4-FFF2-40B4-BE49-F238E27FC236}">
                <a16:creationId xmlns:a16="http://schemas.microsoft.com/office/drawing/2014/main" id="{728BB939-1328-4DCD-AC5F-C90DAF461CE3}"/>
              </a:ext>
            </a:extLst>
          </p:cNvPr>
          <p:cNvSpPr>
            <a:spLocks noGrp="1"/>
          </p:cNvSpPr>
          <p:nvPr/>
        </p:nvSpPr>
        <p:spPr>
          <a:xfrm>
            <a:off x="7067550" y="1562100"/>
            <a:ext cx="1809750" cy="361950"/>
          </a:xfrm>
          <a:prstGeom prst="rect">
            <a:avLst/>
          </a:prstGeom>
          <a:solidFill>
            <a:srgbClr val="2E7D4F"/>
          </a:solidFill>
          <a:ln w="0">
            <a:solidFill>
              <a:srgbClr val="000000">
                <a:alpha val="0"/>
              </a:srgbClr>
            </a:solidFill>
            <a:prstDash val="solid"/>
          </a:ln>
        </p:spPr>
        <p:txBody>
          <a:bodyPr/>
          <a:lstStyle/>
          <a:p>
            <a:endParaRPr/>
          </a:p>
        </p:txBody>
      </p:sp>
      <p:sp>
        <p:nvSpPr>
          <p:cNvPr id="19" name="Rectangle 18">
            <a:extLst>
              <a:ext uri="{FF2B5EF4-FFF2-40B4-BE49-F238E27FC236}">
                <a16:creationId xmlns:a16="http://schemas.microsoft.com/office/drawing/2014/main" id="{45759BA9-1CB6-4144-8A11-1805F6AE935C}"/>
              </a:ext>
            </a:extLst>
          </p:cNvPr>
          <p:cNvSpPr>
            <a:spLocks noGrp="1"/>
          </p:cNvSpPr>
          <p:nvPr/>
        </p:nvSpPr>
        <p:spPr>
          <a:xfrm>
            <a:off x="7181850" y="1666875"/>
            <a:ext cx="15811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Aptos"/>
                <a:ea typeface="Aptos"/>
                <a:cs typeface="Aptos"/>
              </a:defRPr>
            </a:pPr>
            <a:r>
              <a:rPr sz="975" b="1">
                <a:solidFill>
                  <a:srgbClr val="FFFFFF"/>
                </a:solidFill>
                <a:latin typeface="Aptos"/>
                <a:ea typeface="Aptos"/>
                <a:cs typeface="Aptos"/>
              </a:rPr>
              <a:t>Storage and UI</a:t>
            </a:r>
          </a:p>
        </p:txBody>
      </p:sp>
      <p:sp>
        <p:nvSpPr>
          <p:cNvPr id="20" name="Rounded Rectangle 19">
            <a:extLst>
              <a:ext uri="{FF2B5EF4-FFF2-40B4-BE49-F238E27FC236}">
                <a16:creationId xmlns:a16="http://schemas.microsoft.com/office/drawing/2014/main" id="{CC434053-743F-4826-8780-B923E3172630}"/>
              </a:ext>
            </a:extLst>
          </p:cNvPr>
          <p:cNvSpPr>
            <a:spLocks noGrp="1"/>
          </p:cNvSpPr>
          <p:nvPr/>
        </p:nvSpPr>
        <p:spPr>
          <a:xfrm>
            <a:off x="904875" y="2219325"/>
            <a:ext cx="1428750" cy="666750"/>
          </a:xfrm>
          <a:prstGeom prst="roundRect">
            <a:avLst>
              <a:gd name="adj" fmla="val 11429"/>
            </a:avLst>
          </a:prstGeom>
          <a:solidFill>
            <a:srgbClr val="D8F0EC"/>
          </a:solidFill>
          <a:ln w="9525">
            <a:solidFill>
              <a:srgbClr val="0B7A75"/>
            </a:solidFill>
            <a:prstDash val="solid"/>
          </a:ln>
        </p:spPr>
        <p:txBody>
          <a:bodyPr/>
          <a:lstStyle/>
          <a:p>
            <a:endParaRPr/>
          </a:p>
        </p:txBody>
      </p:sp>
      <p:sp>
        <p:nvSpPr>
          <p:cNvPr id="21" name="Rectangle 20">
            <a:extLst>
              <a:ext uri="{FF2B5EF4-FFF2-40B4-BE49-F238E27FC236}">
                <a16:creationId xmlns:a16="http://schemas.microsoft.com/office/drawing/2014/main" id="{14CFBF13-D8EB-43DE-B8FF-0A448C78AADC}"/>
              </a:ext>
            </a:extLst>
          </p:cNvPr>
          <p:cNvSpPr>
            <a:spLocks noGrp="1"/>
          </p:cNvSpPr>
          <p:nvPr/>
        </p:nvSpPr>
        <p:spPr>
          <a:xfrm>
            <a:off x="1123950" y="22860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Sensor adapter</a:t>
            </a:r>
          </a:p>
        </p:txBody>
      </p:sp>
      <p:sp>
        <p:nvSpPr>
          <p:cNvPr id="22" name="Rectangle 21">
            <a:extLst>
              <a:ext uri="{FF2B5EF4-FFF2-40B4-BE49-F238E27FC236}">
                <a16:creationId xmlns:a16="http://schemas.microsoft.com/office/drawing/2014/main" id="{DE913072-A461-4617-91D3-94C3834F9207}"/>
              </a:ext>
            </a:extLst>
          </p:cNvPr>
          <p:cNvSpPr>
            <a:spLocks noGrp="1"/>
          </p:cNvSpPr>
          <p:nvPr/>
        </p:nvSpPr>
        <p:spPr>
          <a:xfrm>
            <a:off x="1123950" y="2552700"/>
            <a:ext cx="112395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900">
                <a:latin typeface="Aptos"/>
              </a:rPr>
              <a:t>Reads vibration + temperature</a:t>
            </a:r>
          </a:p>
        </p:txBody>
      </p:sp>
      <p:sp>
        <p:nvSpPr>
          <p:cNvPr id="23" name="Rounded Rectangle 22">
            <a:extLst>
              <a:ext uri="{FF2B5EF4-FFF2-40B4-BE49-F238E27FC236}">
                <a16:creationId xmlns:a16="http://schemas.microsoft.com/office/drawing/2014/main" id="{224A7AA5-AA71-44AF-82B3-731CEED759BB}"/>
              </a:ext>
            </a:extLst>
          </p:cNvPr>
          <p:cNvSpPr>
            <a:spLocks noGrp="1"/>
          </p:cNvSpPr>
          <p:nvPr/>
        </p:nvSpPr>
        <p:spPr>
          <a:xfrm>
            <a:off x="904875" y="3133725"/>
            <a:ext cx="1428750" cy="666750"/>
          </a:xfrm>
          <a:prstGeom prst="roundRect">
            <a:avLst>
              <a:gd name="adj" fmla="val 11429"/>
            </a:avLst>
          </a:prstGeom>
          <a:solidFill>
            <a:srgbClr val="D8F0EC"/>
          </a:solidFill>
          <a:ln w="9525">
            <a:solidFill>
              <a:srgbClr val="0B7A75"/>
            </a:solidFill>
            <a:prstDash val="solid"/>
          </a:ln>
        </p:spPr>
        <p:txBody>
          <a:bodyPr/>
          <a:lstStyle/>
          <a:p>
            <a:endParaRPr/>
          </a:p>
        </p:txBody>
      </p:sp>
      <p:sp>
        <p:nvSpPr>
          <p:cNvPr id="24" name="Rectangle 23">
            <a:extLst>
              <a:ext uri="{FF2B5EF4-FFF2-40B4-BE49-F238E27FC236}">
                <a16:creationId xmlns:a16="http://schemas.microsoft.com/office/drawing/2014/main" id="{34D3C91F-7590-4616-804E-100DFF88328F}"/>
              </a:ext>
            </a:extLst>
          </p:cNvPr>
          <p:cNvSpPr>
            <a:spLocks noGrp="1"/>
          </p:cNvSpPr>
          <p:nvPr/>
        </p:nvSpPr>
        <p:spPr>
          <a:xfrm>
            <a:off x="1123950" y="32004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Gateway</a:t>
            </a:r>
          </a:p>
        </p:txBody>
      </p:sp>
      <p:sp>
        <p:nvSpPr>
          <p:cNvPr id="25" name="Rectangle 24">
            <a:extLst>
              <a:ext uri="{FF2B5EF4-FFF2-40B4-BE49-F238E27FC236}">
                <a16:creationId xmlns:a16="http://schemas.microsoft.com/office/drawing/2014/main" id="{18876F98-8743-4995-BFAF-28E3D0AA82E7}"/>
              </a:ext>
            </a:extLst>
          </p:cNvPr>
          <p:cNvSpPr>
            <a:spLocks noGrp="1"/>
          </p:cNvSpPr>
          <p:nvPr/>
        </p:nvSpPr>
        <p:spPr>
          <a:xfrm>
            <a:off x="1123950" y="3467100"/>
            <a:ext cx="112395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900">
                <a:latin typeface="Aptos"/>
              </a:rPr>
              <a:t>Tags time, sensor and machine ID</a:t>
            </a:r>
          </a:p>
        </p:txBody>
      </p:sp>
      <p:sp>
        <p:nvSpPr>
          <p:cNvPr id="26" name="Rounded Rectangle 25">
            <a:extLst>
              <a:ext uri="{FF2B5EF4-FFF2-40B4-BE49-F238E27FC236}">
                <a16:creationId xmlns:a16="http://schemas.microsoft.com/office/drawing/2014/main" id="{A0C3DEF7-B903-4DCF-8C3F-717CDD7919A3}"/>
              </a:ext>
            </a:extLst>
          </p:cNvPr>
          <p:cNvSpPr>
            <a:spLocks noGrp="1"/>
          </p:cNvSpPr>
          <p:nvPr/>
        </p:nvSpPr>
        <p:spPr>
          <a:xfrm>
            <a:off x="904875" y="4048125"/>
            <a:ext cx="1428750" cy="666750"/>
          </a:xfrm>
          <a:prstGeom prst="roundRect">
            <a:avLst>
              <a:gd name="adj" fmla="val 11429"/>
            </a:avLst>
          </a:prstGeom>
          <a:solidFill>
            <a:srgbClr val="D8F0EC"/>
          </a:solidFill>
          <a:ln w="9525">
            <a:solidFill>
              <a:srgbClr val="0B7A75"/>
            </a:solidFill>
            <a:prstDash val="solid"/>
          </a:ln>
        </p:spPr>
        <p:txBody>
          <a:bodyPr/>
          <a:lstStyle/>
          <a:p>
            <a:endParaRPr/>
          </a:p>
        </p:txBody>
      </p:sp>
      <p:sp>
        <p:nvSpPr>
          <p:cNvPr id="27" name="Rectangle 26">
            <a:extLst>
              <a:ext uri="{FF2B5EF4-FFF2-40B4-BE49-F238E27FC236}">
                <a16:creationId xmlns:a16="http://schemas.microsoft.com/office/drawing/2014/main" id="{9755ACBA-EA94-431B-9E42-248A04C957E0}"/>
              </a:ext>
            </a:extLst>
          </p:cNvPr>
          <p:cNvSpPr>
            <a:spLocks noGrp="1"/>
          </p:cNvSpPr>
          <p:nvPr/>
        </p:nvSpPr>
        <p:spPr>
          <a:xfrm>
            <a:off x="1123950" y="41148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Retry buffer</a:t>
            </a:r>
          </a:p>
        </p:txBody>
      </p:sp>
      <p:sp>
        <p:nvSpPr>
          <p:cNvPr id="28" name="Rectangle 27">
            <a:extLst>
              <a:ext uri="{FF2B5EF4-FFF2-40B4-BE49-F238E27FC236}">
                <a16:creationId xmlns:a16="http://schemas.microsoft.com/office/drawing/2014/main" id="{ABE5B237-F3AF-4E09-92C8-986E3D4920BA}"/>
              </a:ext>
            </a:extLst>
          </p:cNvPr>
          <p:cNvSpPr>
            <a:spLocks noGrp="1"/>
          </p:cNvSpPr>
          <p:nvPr/>
        </p:nvSpPr>
        <p:spPr>
          <a:xfrm>
            <a:off x="1123950" y="4381500"/>
            <a:ext cx="1123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57487"/>
                </a:solidFill>
                <a:latin typeface="Aptos"/>
                <a:ea typeface="Aptos"/>
                <a:cs typeface="Aptos"/>
              </a:defRPr>
            </a:pPr>
            <a:r>
              <a:rPr sz="975" b="0">
                <a:solidFill>
                  <a:srgbClr val="657487"/>
                </a:solidFill>
                <a:latin typeface="Aptos"/>
                <a:ea typeface="Aptos"/>
                <a:cs typeface="Aptos"/>
              </a:rPr>
              <a:t>Handles temporary failure</a:t>
            </a:r>
          </a:p>
        </p:txBody>
      </p:sp>
      <p:sp>
        <p:nvSpPr>
          <p:cNvPr id="29" name="Rounded Rectangle 28">
            <a:extLst>
              <a:ext uri="{FF2B5EF4-FFF2-40B4-BE49-F238E27FC236}">
                <a16:creationId xmlns:a16="http://schemas.microsoft.com/office/drawing/2014/main" id="{E45FDA51-0A7C-4825-844D-55696EC083EE}"/>
              </a:ext>
            </a:extLst>
          </p:cNvPr>
          <p:cNvSpPr>
            <a:spLocks noGrp="1"/>
          </p:cNvSpPr>
          <p:nvPr/>
        </p:nvSpPr>
        <p:spPr>
          <a:xfrm>
            <a:off x="3000375" y="2219325"/>
            <a:ext cx="1428750" cy="666750"/>
          </a:xfrm>
          <a:prstGeom prst="roundRect">
            <a:avLst>
              <a:gd name="adj" fmla="val 11429"/>
            </a:avLst>
          </a:prstGeom>
          <a:solidFill>
            <a:srgbClr val="FFF0D2"/>
          </a:solidFill>
          <a:ln w="9525">
            <a:solidFill>
              <a:srgbClr val="D98C00"/>
            </a:solidFill>
            <a:prstDash val="solid"/>
          </a:ln>
        </p:spPr>
        <p:txBody>
          <a:bodyPr/>
          <a:lstStyle/>
          <a:p>
            <a:endParaRPr/>
          </a:p>
        </p:txBody>
      </p:sp>
      <p:sp>
        <p:nvSpPr>
          <p:cNvPr id="30" name="Rectangle 29">
            <a:extLst>
              <a:ext uri="{FF2B5EF4-FFF2-40B4-BE49-F238E27FC236}">
                <a16:creationId xmlns:a16="http://schemas.microsoft.com/office/drawing/2014/main" id="{38338465-B3DD-4E0B-8153-12FD72B246E9}"/>
              </a:ext>
            </a:extLst>
          </p:cNvPr>
          <p:cNvSpPr>
            <a:spLocks noGrp="1"/>
          </p:cNvSpPr>
          <p:nvPr/>
        </p:nvSpPr>
        <p:spPr>
          <a:xfrm>
            <a:off x="3219450" y="22860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Preprocess</a:t>
            </a:r>
          </a:p>
        </p:txBody>
      </p:sp>
      <p:sp>
        <p:nvSpPr>
          <p:cNvPr id="31" name="Rectangle 30">
            <a:extLst>
              <a:ext uri="{FF2B5EF4-FFF2-40B4-BE49-F238E27FC236}">
                <a16:creationId xmlns:a16="http://schemas.microsoft.com/office/drawing/2014/main" id="{0212E0A3-7602-405E-8758-D2EFECB69BE5}"/>
              </a:ext>
            </a:extLst>
          </p:cNvPr>
          <p:cNvSpPr>
            <a:spLocks noGrp="1"/>
          </p:cNvSpPr>
          <p:nvPr/>
        </p:nvSpPr>
        <p:spPr>
          <a:xfrm>
            <a:off x="3219450" y="2552700"/>
            <a:ext cx="1123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657487"/>
                </a:solidFill>
                <a:latin typeface="Aptos"/>
                <a:ea typeface="Aptos"/>
                <a:cs typeface="Aptos"/>
              </a:defRPr>
            </a:pPr>
            <a:r>
              <a:rPr sz="975" b="0">
                <a:solidFill>
                  <a:srgbClr val="657487"/>
                </a:solidFill>
                <a:latin typeface="Aptos"/>
                <a:ea typeface="Aptos"/>
                <a:cs typeface="Aptos"/>
              </a:rPr>
              <a:t>Clean, normalize, window</a:t>
            </a:r>
          </a:p>
        </p:txBody>
      </p:sp>
      <p:sp>
        <p:nvSpPr>
          <p:cNvPr id="32" name="Rounded Rectangle 31">
            <a:extLst>
              <a:ext uri="{FF2B5EF4-FFF2-40B4-BE49-F238E27FC236}">
                <a16:creationId xmlns:a16="http://schemas.microsoft.com/office/drawing/2014/main" id="{2415EB81-6324-438B-BCE6-3563EC378F19}"/>
              </a:ext>
            </a:extLst>
          </p:cNvPr>
          <p:cNvSpPr>
            <a:spLocks noGrp="1"/>
          </p:cNvSpPr>
          <p:nvPr/>
        </p:nvSpPr>
        <p:spPr>
          <a:xfrm>
            <a:off x="3000375" y="3133725"/>
            <a:ext cx="1428750" cy="666750"/>
          </a:xfrm>
          <a:prstGeom prst="roundRect">
            <a:avLst>
              <a:gd name="adj" fmla="val 11429"/>
            </a:avLst>
          </a:prstGeom>
          <a:solidFill>
            <a:srgbClr val="FFF0D2"/>
          </a:solidFill>
          <a:ln w="9525">
            <a:solidFill>
              <a:srgbClr val="D98C00"/>
            </a:solidFill>
            <a:prstDash val="solid"/>
          </a:ln>
        </p:spPr>
        <p:txBody>
          <a:bodyPr/>
          <a:lstStyle/>
          <a:p>
            <a:endParaRPr/>
          </a:p>
        </p:txBody>
      </p:sp>
      <p:sp>
        <p:nvSpPr>
          <p:cNvPr id="33" name="Rectangle 32">
            <a:extLst>
              <a:ext uri="{FF2B5EF4-FFF2-40B4-BE49-F238E27FC236}">
                <a16:creationId xmlns:a16="http://schemas.microsoft.com/office/drawing/2014/main" id="{B353F9AE-DCFF-4A91-AB51-9CED6982C839}"/>
              </a:ext>
            </a:extLst>
          </p:cNvPr>
          <p:cNvSpPr>
            <a:spLocks noGrp="1"/>
          </p:cNvSpPr>
          <p:nvPr/>
        </p:nvSpPr>
        <p:spPr>
          <a:xfrm>
            <a:off x="3219450" y="32004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Features</a:t>
            </a:r>
          </a:p>
        </p:txBody>
      </p:sp>
      <p:sp>
        <p:nvSpPr>
          <p:cNvPr id="34" name="Rectangle 33">
            <a:extLst>
              <a:ext uri="{FF2B5EF4-FFF2-40B4-BE49-F238E27FC236}">
                <a16:creationId xmlns:a16="http://schemas.microsoft.com/office/drawing/2014/main" id="{03DC8820-2F8E-4ACB-BCBE-369F52F8D3E4}"/>
              </a:ext>
            </a:extLst>
          </p:cNvPr>
          <p:cNvSpPr>
            <a:spLocks noGrp="1"/>
          </p:cNvSpPr>
          <p:nvPr/>
        </p:nvSpPr>
        <p:spPr>
          <a:xfrm>
            <a:off x="3219450" y="3467100"/>
            <a:ext cx="112395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900">
                <a:latin typeface="Aptos"/>
              </a:rPr>
              <a:t>RMS, peak, temp trend</a:t>
            </a:r>
          </a:p>
        </p:txBody>
      </p:sp>
      <p:sp>
        <p:nvSpPr>
          <p:cNvPr id="35" name="Rounded Rectangle 34">
            <a:extLst>
              <a:ext uri="{FF2B5EF4-FFF2-40B4-BE49-F238E27FC236}">
                <a16:creationId xmlns:a16="http://schemas.microsoft.com/office/drawing/2014/main" id="{73B9DBC7-C28F-47CC-8A57-9050D6542271}"/>
              </a:ext>
            </a:extLst>
          </p:cNvPr>
          <p:cNvSpPr>
            <a:spLocks noGrp="1"/>
          </p:cNvSpPr>
          <p:nvPr/>
        </p:nvSpPr>
        <p:spPr>
          <a:xfrm>
            <a:off x="3000375" y="4048125"/>
            <a:ext cx="1428750" cy="666750"/>
          </a:xfrm>
          <a:prstGeom prst="roundRect">
            <a:avLst>
              <a:gd name="adj" fmla="val 11429"/>
            </a:avLst>
          </a:prstGeom>
          <a:solidFill>
            <a:srgbClr val="FFF0D2"/>
          </a:solidFill>
          <a:ln w="9525">
            <a:solidFill>
              <a:srgbClr val="D98C00"/>
            </a:solidFill>
            <a:prstDash val="solid"/>
          </a:ln>
        </p:spPr>
        <p:txBody>
          <a:bodyPr/>
          <a:lstStyle/>
          <a:p>
            <a:endParaRPr/>
          </a:p>
        </p:txBody>
      </p:sp>
      <p:sp>
        <p:nvSpPr>
          <p:cNvPr id="36" name="Rectangle 35">
            <a:extLst>
              <a:ext uri="{FF2B5EF4-FFF2-40B4-BE49-F238E27FC236}">
                <a16:creationId xmlns:a16="http://schemas.microsoft.com/office/drawing/2014/main" id="{7F17B9AF-0CE0-4566-8AF0-2B40001678EC}"/>
              </a:ext>
            </a:extLst>
          </p:cNvPr>
          <p:cNvSpPr>
            <a:spLocks noGrp="1"/>
          </p:cNvSpPr>
          <p:nvPr/>
        </p:nvSpPr>
        <p:spPr>
          <a:xfrm>
            <a:off x="3219450" y="41148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Prediction</a:t>
            </a:r>
          </a:p>
        </p:txBody>
      </p:sp>
      <p:sp>
        <p:nvSpPr>
          <p:cNvPr id="37" name="Rectangle 36">
            <a:extLst>
              <a:ext uri="{FF2B5EF4-FFF2-40B4-BE49-F238E27FC236}">
                <a16:creationId xmlns:a16="http://schemas.microsoft.com/office/drawing/2014/main" id="{11656CBB-78CE-4A4C-8639-D16ABA4E60AF}"/>
              </a:ext>
            </a:extLst>
          </p:cNvPr>
          <p:cNvSpPr>
            <a:spLocks noGrp="1"/>
          </p:cNvSpPr>
          <p:nvPr/>
        </p:nvSpPr>
        <p:spPr>
          <a:xfrm>
            <a:off x="3219450" y="4381500"/>
            <a:ext cx="112395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900">
                <a:latin typeface="Aptos"/>
              </a:rPr>
              <a:t>Classify health + risk</a:t>
            </a:r>
          </a:p>
        </p:txBody>
      </p:sp>
      <p:sp>
        <p:nvSpPr>
          <p:cNvPr id="38" name="Rounded Rectangle 37">
            <a:extLst>
              <a:ext uri="{FF2B5EF4-FFF2-40B4-BE49-F238E27FC236}">
                <a16:creationId xmlns:a16="http://schemas.microsoft.com/office/drawing/2014/main" id="{514210CE-8EA4-4249-A67C-7C9728940538}"/>
              </a:ext>
            </a:extLst>
          </p:cNvPr>
          <p:cNvSpPr>
            <a:spLocks noGrp="1"/>
          </p:cNvSpPr>
          <p:nvPr/>
        </p:nvSpPr>
        <p:spPr>
          <a:xfrm>
            <a:off x="5162550" y="2381250"/>
            <a:ext cx="1428750" cy="723900"/>
          </a:xfrm>
          <a:prstGeom prst="roundRect">
            <a:avLst>
              <a:gd name="adj" fmla="val 10526"/>
            </a:avLst>
          </a:prstGeom>
          <a:solidFill>
            <a:srgbClr val="E4EFFA"/>
          </a:solidFill>
          <a:ln w="9525">
            <a:solidFill>
              <a:srgbClr val="2B5F9E"/>
            </a:solidFill>
            <a:prstDash val="solid"/>
          </a:ln>
        </p:spPr>
        <p:txBody>
          <a:bodyPr/>
          <a:lstStyle/>
          <a:p>
            <a:endParaRPr/>
          </a:p>
        </p:txBody>
      </p:sp>
      <p:sp>
        <p:nvSpPr>
          <p:cNvPr id="39" name="Rectangle 38">
            <a:extLst>
              <a:ext uri="{FF2B5EF4-FFF2-40B4-BE49-F238E27FC236}">
                <a16:creationId xmlns:a16="http://schemas.microsoft.com/office/drawing/2014/main" id="{B76CE70F-B9AF-4A82-AF91-7938965CB43F}"/>
              </a:ext>
            </a:extLst>
          </p:cNvPr>
          <p:cNvSpPr>
            <a:spLocks noGrp="1"/>
          </p:cNvSpPr>
          <p:nvPr/>
        </p:nvSpPr>
        <p:spPr>
          <a:xfrm>
            <a:off x="5314950" y="25146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Alert manager</a:t>
            </a:r>
          </a:p>
        </p:txBody>
      </p:sp>
      <p:sp>
        <p:nvSpPr>
          <p:cNvPr id="40" name="Rectangle 39">
            <a:extLst>
              <a:ext uri="{FF2B5EF4-FFF2-40B4-BE49-F238E27FC236}">
                <a16:creationId xmlns:a16="http://schemas.microsoft.com/office/drawing/2014/main" id="{879189B9-5F85-4CB6-9A2A-B346FCFC37C6}"/>
              </a:ext>
            </a:extLst>
          </p:cNvPr>
          <p:cNvSpPr>
            <a:spLocks noGrp="1"/>
          </p:cNvSpPr>
          <p:nvPr/>
        </p:nvSpPr>
        <p:spPr>
          <a:xfrm>
            <a:off x="5314950" y="2781300"/>
            <a:ext cx="1123950" cy="2476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900">
                <a:latin typeface="Aptos"/>
              </a:rPr>
              <a:t>Root cause, severity, action</a:t>
            </a:r>
          </a:p>
        </p:txBody>
      </p:sp>
      <p:sp>
        <p:nvSpPr>
          <p:cNvPr id="41" name="Rounded Rectangle 40">
            <a:extLst>
              <a:ext uri="{FF2B5EF4-FFF2-40B4-BE49-F238E27FC236}">
                <a16:creationId xmlns:a16="http://schemas.microsoft.com/office/drawing/2014/main" id="{AD30FFC1-3277-4260-99D1-7CA7F391F8AD}"/>
              </a:ext>
            </a:extLst>
          </p:cNvPr>
          <p:cNvSpPr>
            <a:spLocks noGrp="1"/>
          </p:cNvSpPr>
          <p:nvPr/>
        </p:nvSpPr>
        <p:spPr>
          <a:xfrm>
            <a:off x="5162550" y="3676650"/>
            <a:ext cx="1428750" cy="723900"/>
          </a:xfrm>
          <a:prstGeom prst="roundRect">
            <a:avLst>
              <a:gd name="adj" fmla="val 10526"/>
            </a:avLst>
          </a:prstGeom>
          <a:solidFill>
            <a:srgbClr val="E4EFFA"/>
          </a:solidFill>
          <a:ln w="9525">
            <a:solidFill>
              <a:srgbClr val="2B5F9E"/>
            </a:solidFill>
            <a:prstDash val="solid"/>
          </a:ln>
        </p:spPr>
        <p:txBody>
          <a:bodyPr/>
          <a:lstStyle/>
          <a:p>
            <a:endParaRPr/>
          </a:p>
        </p:txBody>
      </p:sp>
      <p:sp>
        <p:nvSpPr>
          <p:cNvPr id="42" name="Rectangle 41">
            <a:extLst>
              <a:ext uri="{FF2B5EF4-FFF2-40B4-BE49-F238E27FC236}">
                <a16:creationId xmlns:a16="http://schemas.microsoft.com/office/drawing/2014/main" id="{2681C54F-DBBC-4AF6-B92E-61004CB4BE87}"/>
              </a:ext>
            </a:extLst>
          </p:cNvPr>
          <p:cNvSpPr>
            <a:spLocks noGrp="1"/>
          </p:cNvSpPr>
          <p:nvPr/>
        </p:nvSpPr>
        <p:spPr>
          <a:xfrm>
            <a:off x="5314950" y="38100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Trend service</a:t>
            </a:r>
          </a:p>
        </p:txBody>
      </p:sp>
      <p:sp>
        <p:nvSpPr>
          <p:cNvPr id="43" name="Rectangle 42">
            <a:extLst>
              <a:ext uri="{FF2B5EF4-FFF2-40B4-BE49-F238E27FC236}">
                <a16:creationId xmlns:a16="http://schemas.microsoft.com/office/drawing/2014/main" id="{1D52E1EF-A594-4B85-8FB2-06C8CC919000}"/>
              </a:ext>
            </a:extLst>
          </p:cNvPr>
          <p:cNvSpPr>
            <a:spLocks noGrp="1"/>
          </p:cNvSpPr>
          <p:nvPr/>
        </p:nvSpPr>
        <p:spPr>
          <a:xfrm>
            <a:off x="5314950" y="4076700"/>
            <a:ext cx="1123950" cy="2476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900">
                <a:latin typeface="Aptos"/>
              </a:rPr>
              <a:t>History + KPI tracking</a:t>
            </a:r>
          </a:p>
        </p:txBody>
      </p:sp>
      <p:sp>
        <p:nvSpPr>
          <p:cNvPr id="44" name="Rounded Rectangle 43">
            <a:extLst>
              <a:ext uri="{FF2B5EF4-FFF2-40B4-BE49-F238E27FC236}">
                <a16:creationId xmlns:a16="http://schemas.microsoft.com/office/drawing/2014/main" id="{89EA8B62-ED18-4B02-86A1-A89B302A2C7E}"/>
              </a:ext>
            </a:extLst>
          </p:cNvPr>
          <p:cNvSpPr>
            <a:spLocks noGrp="1"/>
          </p:cNvSpPr>
          <p:nvPr/>
        </p:nvSpPr>
        <p:spPr>
          <a:xfrm>
            <a:off x="7258050" y="2381250"/>
            <a:ext cx="1428750" cy="723900"/>
          </a:xfrm>
          <a:prstGeom prst="roundRect">
            <a:avLst>
              <a:gd name="adj" fmla="val 10526"/>
            </a:avLst>
          </a:prstGeom>
          <a:solidFill>
            <a:srgbClr val="DFF2E6"/>
          </a:solidFill>
          <a:ln w="9525">
            <a:solidFill>
              <a:srgbClr val="2E7D4F"/>
            </a:solidFill>
            <a:prstDash val="solid"/>
          </a:ln>
        </p:spPr>
        <p:txBody>
          <a:bodyPr/>
          <a:lstStyle/>
          <a:p>
            <a:endParaRPr/>
          </a:p>
        </p:txBody>
      </p:sp>
      <p:sp>
        <p:nvSpPr>
          <p:cNvPr id="45" name="Rectangle 44">
            <a:extLst>
              <a:ext uri="{FF2B5EF4-FFF2-40B4-BE49-F238E27FC236}">
                <a16:creationId xmlns:a16="http://schemas.microsoft.com/office/drawing/2014/main" id="{CCD7EDEC-98C8-4CA3-A54D-B8F8373F952C}"/>
              </a:ext>
            </a:extLst>
          </p:cNvPr>
          <p:cNvSpPr>
            <a:spLocks noGrp="1"/>
          </p:cNvSpPr>
          <p:nvPr/>
        </p:nvSpPr>
        <p:spPr>
          <a:xfrm>
            <a:off x="7410450" y="25146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Data store</a:t>
            </a:r>
          </a:p>
        </p:txBody>
      </p:sp>
      <p:sp>
        <p:nvSpPr>
          <p:cNvPr id="46" name="Rectangle 45">
            <a:extLst>
              <a:ext uri="{FF2B5EF4-FFF2-40B4-BE49-F238E27FC236}">
                <a16:creationId xmlns:a16="http://schemas.microsoft.com/office/drawing/2014/main" id="{F1A45D22-20B0-4489-9381-53358F874498}"/>
              </a:ext>
            </a:extLst>
          </p:cNvPr>
          <p:cNvSpPr>
            <a:spLocks noGrp="1"/>
          </p:cNvSpPr>
          <p:nvPr/>
        </p:nvSpPr>
        <p:spPr>
          <a:xfrm>
            <a:off x="7410450" y="2781300"/>
            <a:ext cx="1123950" cy="2476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900">
                <a:latin typeface="Aptos"/>
              </a:rPr>
              <a:t>Sensors, predictions, maintenance</a:t>
            </a:r>
          </a:p>
        </p:txBody>
      </p:sp>
      <p:sp>
        <p:nvSpPr>
          <p:cNvPr id="47" name="Rounded Rectangle 46">
            <a:extLst>
              <a:ext uri="{FF2B5EF4-FFF2-40B4-BE49-F238E27FC236}">
                <a16:creationId xmlns:a16="http://schemas.microsoft.com/office/drawing/2014/main" id="{BADFCC0D-6C97-4638-B493-76D9A4CCB39C}"/>
              </a:ext>
            </a:extLst>
          </p:cNvPr>
          <p:cNvSpPr>
            <a:spLocks noGrp="1"/>
          </p:cNvSpPr>
          <p:nvPr/>
        </p:nvSpPr>
        <p:spPr>
          <a:xfrm>
            <a:off x="7258050" y="3676650"/>
            <a:ext cx="1428750" cy="723900"/>
          </a:xfrm>
          <a:prstGeom prst="roundRect">
            <a:avLst>
              <a:gd name="adj" fmla="val 10526"/>
            </a:avLst>
          </a:prstGeom>
          <a:solidFill>
            <a:srgbClr val="DFF2E6"/>
          </a:solidFill>
          <a:ln w="9525">
            <a:solidFill>
              <a:srgbClr val="2E7D4F"/>
            </a:solidFill>
            <a:prstDash val="solid"/>
          </a:ln>
        </p:spPr>
        <p:txBody>
          <a:bodyPr/>
          <a:lstStyle/>
          <a:p>
            <a:endParaRPr/>
          </a:p>
        </p:txBody>
      </p:sp>
      <p:sp>
        <p:nvSpPr>
          <p:cNvPr id="48" name="Rectangle 47">
            <a:extLst>
              <a:ext uri="{FF2B5EF4-FFF2-40B4-BE49-F238E27FC236}">
                <a16:creationId xmlns:a16="http://schemas.microsoft.com/office/drawing/2014/main" id="{22A334D2-12A5-4CB2-9741-756EE82AF725}"/>
              </a:ext>
            </a:extLst>
          </p:cNvPr>
          <p:cNvSpPr>
            <a:spLocks noGrp="1"/>
          </p:cNvSpPr>
          <p:nvPr/>
        </p:nvSpPr>
        <p:spPr>
          <a:xfrm>
            <a:off x="7410450" y="38100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12B"/>
                </a:solidFill>
                <a:latin typeface="Aptos"/>
                <a:ea typeface="Aptos"/>
                <a:cs typeface="Aptos"/>
              </a:defRPr>
            </a:pPr>
            <a:r>
              <a:rPr sz="1125" b="1">
                <a:solidFill>
                  <a:srgbClr val="17212B"/>
                </a:solidFill>
                <a:latin typeface="Aptos"/>
                <a:ea typeface="Aptos"/>
                <a:cs typeface="Aptos"/>
              </a:rPr>
              <a:t>Dashboard</a:t>
            </a:r>
          </a:p>
        </p:txBody>
      </p:sp>
      <p:sp>
        <p:nvSpPr>
          <p:cNvPr id="49" name="Rectangle 48">
            <a:extLst>
              <a:ext uri="{FF2B5EF4-FFF2-40B4-BE49-F238E27FC236}">
                <a16:creationId xmlns:a16="http://schemas.microsoft.com/office/drawing/2014/main" id="{4E6ED78B-B5EA-4701-BB81-A0B40729AA39}"/>
              </a:ext>
            </a:extLst>
          </p:cNvPr>
          <p:cNvSpPr>
            <a:spLocks noGrp="1"/>
          </p:cNvSpPr>
          <p:nvPr/>
        </p:nvSpPr>
        <p:spPr>
          <a:xfrm>
            <a:off x="7410450" y="4076700"/>
            <a:ext cx="1123950" cy="2476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657487"/>
                </a:solidFill>
                <a:latin typeface="Aptos"/>
                <a:ea typeface="Aptos"/>
                <a:cs typeface="Aptos"/>
              </a:defRPr>
            </a:pPr>
            <a:r>
              <a:rPr sz="900">
                <a:latin typeface="Aptos"/>
              </a:rPr>
              <a:t>Status, cause, KPIs</a:t>
            </a:r>
          </a:p>
        </p:txBody>
      </p:sp>
      <p:sp>
        <p:nvSpPr>
          <p:cNvPr id="50" name="Rectangle 49">
            <a:extLst>
              <a:ext uri="{FF2B5EF4-FFF2-40B4-BE49-F238E27FC236}">
                <a16:creationId xmlns:a16="http://schemas.microsoft.com/office/drawing/2014/main" id="{E4DEE934-66E5-4FA9-9F51-1C2BCC3FE361}"/>
              </a:ext>
            </a:extLst>
          </p:cNvPr>
          <p:cNvSpPr>
            <a:spLocks noGrp="1"/>
          </p:cNvSpPr>
          <p:nvPr/>
        </p:nvSpPr>
        <p:spPr>
          <a:xfrm>
            <a:off x="2609850" y="3257550"/>
            <a:ext cx="3429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51" name="Rectangle 50">
            <a:extLst>
              <a:ext uri="{FF2B5EF4-FFF2-40B4-BE49-F238E27FC236}">
                <a16:creationId xmlns:a16="http://schemas.microsoft.com/office/drawing/2014/main" id="{A288E38F-BFD6-4872-B841-E581496431C9}"/>
              </a:ext>
            </a:extLst>
          </p:cNvPr>
          <p:cNvSpPr>
            <a:spLocks noGrp="1"/>
          </p:cNvSpPr>
          <p:nvPr/>
        </p:nvSpPr>
        <p:spPr>
          <a:xfrm>
            <a:off x="4705350" y="3257550"/>
            <a:ext cx="3429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52" name="Rectangle 51">
            <a:extLst>
              <a:ext uri="{FF2B5EF4-FFF2-40B4-BE49-F238E27FC236}">
                <a16:creationId xmlns:a16="http://schemas.microsoft.com/office/drawing/2014/main" id="{D5977DF0-187F-41D5-A19C-0E0C4ABAA899}"/>
              </a:ext>
            </a:extLst>
          </p:cNvPr>
          <p:cNvSpPr>
            <a:spLocks noGrp="1"/>
          </p:cNvSpPr>
          <p:nvPr/>
        </p:nvSpPr>
        <p:spPr>
          <a:xfrm>
            <a:off x="6800850" y="3257550"/>
            <a:ext cx="3429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53" name="Rectangle 52">
            <a:extLst>
              <a:ext uri="{FF2B5EF4-FFF2-40B4-BE49-F238E27FC236}">
                <a16:creationId xmlns:a16="http://schemas.microsoft.com/office/drawing/2014/main" id="{7DB66329-CB60-4801-9224-D50DC5D8752D}"/>
              </a:ext>
            </a:extLst>
          </p:cNvPr>
          <p:cNvSpPr>
            <a:spLocks noGrp="1"/>
          </p:cNvSpPr>
          <p:nvPr/>
        </p:nvSpPr>
        <p:spPr>
          <a:xfrm>
            <a:off x="895350" y="5695950"/>
            <a:ext cx="9810750" cy="3238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650" b="1">
                <a:solidFill>
                  <a:srgbClr val="17212B"/>
                </a:solidFill>
                <a:latin typeface="Aptos"/>
                <a:ea typeface="Aptos"/>
                <a:cs typeface="Aptos"/>
              </a:defRPr>
            </a:pPr>
            <a:r>
              <a:rPr sz="1000">
                <a:latin typeface="Aptos"/>
              </a:rPr>
              <a:t>Design decision: edge and cloud responsibilities stay separate; each module owns one responsibility and can be improved independently.</a:t>
            </a:r>
          </a:p>
        </p:txBody>
      </p:sp>
    </p:spTree>
    <p:extLst>
      <p:ext uri="{BB962C8B-B14F-4D97-AF65-F5344CB8AC3E}">
        <p14:creationId xmlns:p14="http://schemas.microsoft.com/office/powerpoint/2010/main" val="9894715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ainer_architecture_c4_level_2.png"/>
          <p:cNvPicPr>
            <a:picLocks noChangeAspect="1"/>
          </p:cNvPicPr>
          <p:nvPr/>
        </p:nvPicPr>
        <p:blipFill>
          <a:blip r:embed="rId2"/>
          <a:stretch>
            <a:fillRect/>
          </a:stretch>
        </p:blipFill>
        <p:spPr>
          <a:xfrm>
            <a:off x="0" y="236434"/>
            <a:ext cx="12192000" cy="68580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_journe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nd_to_end_seque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E5C2097-8C55-4BD7-AD6C-B7832DE1B4E4}"/>
              </a:ext>
            </a:extLst>
          </p:cNvPr>
          <p:cNvSpPr>
            <a:spLocks noGrp="1"/>
          </p:cNvSpPr>
          <p:nvPr/>
        </p:nvSpPr>
        <p:spPr>
          <a:xfrm>
            <a:off x="0" y="0"/>
            <a:ext cx="12192000" cy="6858000"/>
          </a:xfrm>
          <a:prstGeom prst="rect">
            <a:avLst/>
          </a:prstGeom>
          <a:solidFill>
            <a:srgbClr val="F7F4EE"/>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247E1BB-F2E0-4EDA-8BAB-512016047C7B}"/>
              </a:ext>
            </a:extLst>
          </p:cNvPr>
          <p:cNvSpPr>
            <a:spLocks noGrp="1"/>
          </p:cNvSpPr>
          <p:nvPr/>
        </p:nvSpPr>
        <p:spPr>
          <a:xfrm>
            <a:off x="533400" y="361950"/>
            <a:ext cx="266700" cy="38100"/>
          </a:xfrm>
          <a:prstGeom prst="rect">
            <a:avLst/>
          </a:prstGeom>
          <a:solidFill>
            <a:srgbClr val="0B7A75"/>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3FE9F047-7B18-40B7-BC06-E31A34C6DFA6}"/>
              </a:ext>
            </a:extLst>
          </p:cNvPr>
          <p:cNvSpPr>
            <a:spLocks noGrp="1"/>
          </p:cNvSpPr>
          <p:nvPr/>
        </p:nvSpPr>
        <p:spPr>
          <a:xfrm>
            <a:off x="895350" y="247650"/>
            <a:ext cx="3429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57487"/>
                </a:solidFill>
                <a:latin typeface="Aptos"/>
                <a:ea typeface="Aptos"/>
                <a:cs typeface="Aptos"/>
              </a:defRPr>
            </a:pPr>
            <a:r>
              <a:rPr sz="975" b="1">
                <a:solidFill>
                  <a:srgbClr val="657487"/>
                </a:solidFill>
                <a:latin typeface="Aptos"/>
                <a:ea typeface="Aptos"/>
                <a:cs typeface="Aptos"/>
              </a:rPr>
              <a:t>IMPLEMENTATION</a:t>
            </a:r>
          </a:p>
        </p:txBody>
      </p:sp>
      <p:sp>
        <p:nvSpPr>
          <p:cNvPr id="4" name="Rectangle 3">
            <a:extLst>
              <a:ext uri="{FF2B5EF4-FFF2-40B4-BE49-F238E27FC236}">
                <a16:creationId xmlns:a16="http://schemas.microsoft.com/office/drawing/2014/main" id="{D0FCBA83-08DF-472C-B7DF-3C2AB6E59DFF}"/>
              </a:ext>
            </a:extLst>
          </p:cNvPr>
          <p:cNvSpPr>
            <a:spLocks noGrp="1"/>
          </p:cNvSpPr>
          <p:nvPr/>
        </p:nvSpPr>
        <p:spPr>
          <a:xfrm>
            <a:off x="533400" y="590550"/>
            <a:ext cx="7239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The prototype uses accessible technologies with a clear scaling path.</a:t>
            </a:r>
          </a:p>
        </p:txBody>
      </p:sp>
      <p:sp>
        <p:nvSpPr>
          <p:cNvPr id="5" name="Rectangle 4">
            <a:extLst>
              <a:ext uri="{FF2B5EF4-FFF2-40B4-BE49-F238E27FC236}">
                <a16:creationId xmlns:a16="http://schemas.microsoft.com/office/drawing/2014/main" id="{1B761D89-ABE7-4943-B4EC-D18618E380F0}"/>
              </a:ext>
            </a:extLst>
          </p:cNvPr>
          <p:cNvSpPr>
            <a:spLocks noGrp="1"/>
          </p:cNvSpPr>
          <p:nvPr/>
        </p:nvSpPr>
        <p:spPr>
          <a:xfrm>
            <a:off x="8001000" y="552450"/>
            <a:ext cx="342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200" b="0">
                <a:solidFill>
                  <a:srgbClr val="657487"/>
                </a:solidFill>
                <a:latin typeface="Aptos"/>
                <a:ea typeface="Aptos"/>
                <a:cs typeface="Aptos"/>
              </a:defRPr>
            </a:pPr>
            <a:r>
              <a:rPr sz="1200" b="0">
                <a:solidFill>
                  <a:srgbClr val="657487"/>
                </a:solidFill>
                <a:latin typeface="Aptos"/>
                <a:ea typeface="Aptos"/>
                <a:cs typeface="Aptos"/>
              </a:rPr>
              <a:t>Implementation choices.</a:t>
            </a:r>
          </a:p>
        </p:txBody>
      </p:sp>
      <p:sp>
        <p:nvSpPr>
          <p:cNvPr id="6" name="Rectangle 5">
            <a:extLst>
              <a:ext uri="{FF2B5EF4-FFF2-40B4-BE49-F238E27FC236}">
                <a16:creationId xmlns:a16="http://schemas.microsoft.com/office/drawing/2014/main" id="{9EC4A786-6318-4B22-B828-3FE9DB75AF21}"/>
              </a:ext>
            </a:extLst>
          </p:cNvPr>
          <p:cNvSpPr>
            <a:spLocks noGrp="1"/>
          </p:cNvSpPr>
          <p:nvPr/>
        </p:nvSpPr>
        <p:spPr>
          <a:xfrm>
            <a:off x="533400" y="6496050"/>
            <a:ext cx="66675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750" b="0">
                <a:solidFill>
                  <a:srgbClr val="8793A2"/>
                </a:solidFill>
                <a:latin typeface="Aptos"/>
                <a:ea typeface="Aptos"/>
                <a:cs typeface="Aptos"/>
              </a:defRPr>
            </a:pPr>
            <a:r>
              <a:rPr sz="900">
                <a:latin typeface="Aptos"/>
              </a:rPr>
              <a:t>Smart Predictive Maintenance Decision-Support System</a:t>
            </a:r>
          </a:p>
        </p:txBody>
      </p:sp>
      <p:sp>
        <p:nvSpPr>
          <p:cNvPr id="7" name="Rectangle 6">
            <a:extLst>
              <a:ext uri="{FF2B5EF4-FFF2-40B4-BE49-F238E27FC236}">
                <a16:creationId xmlns:a16="http://schemas.microsoft.com/office/drawing/2014/main" id="{2E950D9A-C25F-421D-9B1A-61CBDE0D8C37}"/>
              </a:ext>
            </a:extLst>
          </p:cNvPr>
          <p:cNvSpPr>
            <a:spLocks noGrp="1"/>
          </p:cNvSpPr>
          <p:nvPr/>
        </p:nvSpPr>
        <p:spPr>
          <a:xfrm>
            <a:off x="11277600" y="647700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793A2"/>
                </a:solidFill>
                <a:latin typeface="Aptos"/>
                <a:ea typeface="Aptos"/>
                <a:cs typeface="Aptos"/>
              </a:defRPr>
            </a:pPr>
            <a:r>
              <a:rPr sz="900" b="0">
                <a:solidFill>
                  <a:srgbClr val="8793A2"/>
                </a:solidFill>
                <a:latin typeface="Aptos"/>
                <a:ea typeface="Aptos"/>
                <a:cs typeface="Aptos"/>
              </a:rPr>
              <a:t>09</a:t>
            </a:r>
          </a:p>
        </p:txBody>
      </p:sp>
      <p:sp>
        <p:nvSpPr>
          <p:cNvPr id="8" name="Rounded Rectangle 7">
            <a:extLst>
              <a:ext uri="{FF2B5EF4-FFF2-40B4-BE49-F238E27FC236}">
                <a16:creationId xmlns:a16="http://schemas.microsoft.com/office/drawing/2014/main" id="{3919DA94-8E03-48F5-AA15-4DAC62435578}"/>
              </a:ext>
            </a:extLst>
          </p:cNvPr>
          <p:cNvSpPr>
            <a:spLocks noGrp="1"/>
          </p:cNvSpPr>
          <p:nvPr/>
        </p:nvSpPr>
        <p:spPr>
          <a:xfrm>
            <a:off x="933450" y="1600200"/>
            <a:ext cx="9048750" cy="533400"/>
          </a:xfrm>
          <a:prstGeom prst="roundRect">
            <a:avLst>
              <a:gd name="adj" fmla="val 14286"/>
            </a:avLst>
          </a:prstGeom>
          <a:solidFill>
            <a:srgbClr val="D8F0EC"/>
          </a:solidFill>
          <a:ln w="9525">
            <a:solidFill>
              <a:srgbClr val="0B7A75"/>
            </a:solidFill>
            <a:prstDash val="solid"/>
          </a:ln>
        </p:spPr>
        <p:txBody>
          <a:bodyPr/>
          <a:lstStyle/>
          <a:p>
            <a:endParaRPr/>
          </a:p>
        </p:txBody>
      </p:sp>
      <p:sp>
        <p:nvSpPr>
          <p:cNvPr id="9" name="Rectangle 8">
            <a:extLst>
              <a:ext uri="{FF2B5EF4-FFF2-40B4-BE49-F238E27FC236}">
                <a16:creationId xmlns:a16="http://schemas.microsoft.com/office/drawing/2014/main" id="{D2F04D08-C729-4A85-A3D0-9E6D652407B0}"/>
              </a:ext>
            </a:extLst>
          </p:cNvPr>
          <p:cNvSpPr>
            <a:spLocks noGrp="1"/>
          </p:cNvSpPr>
          <p:nvPr/>
        </p:nvSpPr>
        <p:spPr>
          <a:xfrm>
            <a:off x="933450" y="1600200"/>
            <a:ext cx="1619250" cy="533400"/>
          </a:xfrm>
          <a:prstGeom prst="rect">
            <a:avLst/>
          </a:prstGeom>
          <a:solidFill>
            <a:srgbClr val="0B7A75"/>
          </a:solidFill>
          <a:ln w="0">
            <a:solidFill>
              <a:srgbClr val="000000">
                <a:alpha val="0"/>
              </a:srgbClr>
            </a:solidFill>
            <a:prstDash val="solid"/>
          </a:ln>
        </p:spPr>
        <p:txBody>
          <a:bodyPr/>
          <a:lstStyle/>
          <a:p>
            <a:endParaRPr/>
          </a:p>
        </p:txBody>
      </p:sp>
      <p:sp>
        <p:nvSpPr>
          <p:cNvPr id="10" name="Rectangle 9">
            <a:extLst>
              <a:ext uri="{FF2B5EF4-FFF2-40B4-BE49-F238E27FC236}">
                <a16:creationId xmlns:a16="http://schemas.microsoft.com/office/drawing/2014/main" id="{8EDD9A33-2B2A-4E13-B8EC-B6A10B4669D4}"/>
              </a:ext>
            </a:extLst>
          </p:cNvPr>
          <p:cNvSpPr>
            <a:spLocks noGrp="1"/>
          </p:cNvSpPr>
          <p:nvPr/>
        </p:nvSpPr>
        <p:spPr>
          <a:xfrm>
            <a:off x="1104900" y="1771650"/>
            <a:ext cx="1276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Hardware</a:t>
            </a:r>
          </a:p>
        </p:txBody>
      </p:sp>
      <p:sp>
        <p:nvSpPr>
          <p:cNvPr id="11" name="Rectangle 10">
            <a:extLst>
              <a:ext uri="{FF2B5EF4-FFF2-40B4-BE49-F238E27FC236}">
                <a16:creationId xmlns:a16="http://schemas.microsoft.com/office/drawing/2014/main" id="{72A2FBC5-B77F-4256-9B00-7D0E3A9EACB1}"/>
              </a:ext>
            </a:extLst>
          </p:cNvPr>
          <p:cNvSpPr>
            <a:spLocks noGrp="1"/>
          </p:cNvSpPr>
          <p:nvPr/>
        </p:nvSpPr>
        <p:spPr>
          <a:xfrm>
            <a:off x="2819400" y="1771650"/>
            <a:ext cx="666750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275" b="0">
                <a:solidFill>
                  <a:srgbClr val="243447"/>
                </a:solidFill>
                <a:latin typeface="Aptos"/>
                <a:ea typeface="Aptos"/>
                <a:cs typeface="Aptos"/>
              </a:defRPr>
            </a:pPr>
            <a:r>
              <a:rPr sz="1000">
                <a:latin typeface="Aptos"/>
              </a:rPr>
              <a:t>Vibration sensor, temperature sensor, Arduino, ESP32 or Raspberry Pi</a:t>
            </a:r>
          </a:p>
        </p:txBody>
      </p:sp>
      <p:sp>
        <p:nvSpPr>
          <p:cNvPr id="12" name="Rounded Rectangle 11">
            <a:extLst>
              <a:ext uri="{FF2B5EF4-FFF2-40B4-BE49-F238E27FC236}">
                <a16:creationId xmlns:a16="http://schemas.microsoft.com/office/drawing/2014/main" id="{CFB4EBF4-231A-4127-8865-A1144BBA875D}"/>
              </a:ext>
            </a:extLst>
          </p:cNvPr>
          <p:cNvSpPr>
            <a:spLocks noGrp="1"/>
          </p:cNvSpPr>
          <p:nvPr/>
        </p:nvSpPr>
        <p:spPr>
          <a:xfrm>
            <a:off x="933450" y="2343150"/>
            <a:ext cx="9048750" cy="533400"/>
          </a:xfrm>
          <a:prstGeom prst="roundRect">
            <a:avLst>
              <a:gd name="adj" fmla="val 14286"/>
            </a:avLst>
          </a:prstGeom>
          <a:solidFill>
            <a:srgbClr val="E4EFFA"/>
          </a:solidFill>
          <a:ln w="9525">
            <a:solidFill>
              <a:srgbClr val="2B5F9E"/>
            </a:solidFill>
            <a:prstDash val="solid"/>
          </a:ln>
        </p:spPr>
        <p:txBody>
          <a:bodyPr/>
          <a:lstStyle/>
          <a:p>
            <a:endParaRPr/>
          </a:p>
        </p:txBody>
      </p:sp>
      <p:sp>
        <p:nvSpPr>
          <p:cNvPr id="13" name="Rectangle 12">
            <a:extLst>
              <a:ext uri="{FF2B5EF4-FFF2-40B4-BE49-F238E27FC236}">
                <a16:creationId xmlns:a16="http://schemas.microsoft.com/office/drawing/2014/main" id="{908B283D-D194-42D7-A52F-4654EAACA016}"/>
              </a:ext>
            </a:extLst>
          </p:cNvPr>
          <p:cNvSpPr>
            <a:spLocks noGrp="1"/>
          </p:cNvSpPr>
          <p:nvPr/>
        </p:nvSpPr>
        <p:spPr>
          <a:xfrm>
            <a:off x="933450" y="2343150"/>
            <a:ext cx="1619250" cy="533400"/>
          </a:xfrm>
          <a:prstGeom prst="rect">
            <a:avLst/>
          </a:prstGeom>
          <a:solidFill>
            <a:srgbClr val="2B5F9E"/>
          </a:solidFill>
          <a:ln w="0">
            <a:solidFill>
              <a:srgbClr val="000000">
                <a:alpha val="0"/>
              </a:srgbClr>
            </a:solidFill>
            <a:prstDash val="solid"/>
          </a:ln>
        </p:spPr>
        <p:txBody>
          <a:bodyPr/>
          <a:lstStyle/>
          <a:p>
            <a:endParaRPr/>
          </a:p>
        </p:txBody>
      </p:sp>
      <p:sp>
        <p:nvSpPr>
          <p:cNvPr id="14" name="Rectangle 13">
            <a:extLst>
              <a:ext uri="{FF2B5EF4-FFF2-40B4-BE49-F238E27FC236}">
                <a16:creationId xmlns:a16="http://schemas.microsoft.com/office/drawing/2014/main" id="{661546B7-5357-49FE-BD16-3F54745D2A7B}"/>
              </a:ext>
            </a:extLst>
          </p:cNvPr>
          <p:cNvSpPr>
            <a:spLocks noGrp="1"/>
          </p:cNvSpPr>
          <p:nvPr/>
        </p:nvSpPr>
        <p:spPr>
          <a:xfrm>
            <a:off x="1104900" y="2514600"/>
            <a:ext cx="1276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Communication</a:t>
            </a:r>
          </a:p>
        </p:txBody>
      </p:sp>
      <p:sp>
        <p:nvSpPr>
          <p:cNvPr id="15" name="Rectangle 14">
            <a:extLst>
              <a:ext uri="{FF2B5EF4-FFF2-40B4-BE49-F238E27FC236}">
                <a16:creationId xmlns:a16="http://schemas.microsoft.com/office/drawing/2014/main" id="{0F1BE71C-436E-42E6-88AB-57EFEDED7D12}"/>
              </a:ext>
            </a:extLst>
          </p:cNvPr>
          <p:cNvSpPr>
            <a:spLocks noGrp="1"/>
          </p:cNvSpPr>
          <p:nvPr/>
        </p:nvSpPr>
        <p:spPr>
          <a:xfrm>
            <a:off x="2819400" y="2514600"/>
            <a:ext cx="666750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275" b="0">
                <a:solidFill>
                  <a:srgbClr val="243447"/>
                </a:solidFill>
                <a:latin typeface="Aptos"/>
                <a:ea typeface="Aptos"/>
                <a:cs typeface="Aptos"/>
              </a:defRPr>
            </a:pPr>
            <a:r>
              <a:rPr sz="1000">
                <a:latin typeface="Aptos"/>
              </a:rPr>
              <a:t>Serial, Wi-Fi, MQTT, HTTP, Bluetooth, edge buffering and cloud sync</a:t>
            </a:r>
          </a:p>
        </p:txBody>
      </p:sp>
      <p:sp>
        <p:nvSpPr>
          <p:cNvPr id="16" name="Rounded Rectangle 15">
            <a:extLst>
              <a:ext uri="{FF2B5EF4-FFF2-40B4-BE49-F238E27FC236}">
                <a16:creationId xmlns:a16="http://schemas.microsoft.com/office/drawing/2014/main" id="{834BC429-F6EE-41E3-8B78-76F9A91AC7F2}"/>
              </a:ext>
            </a:extLst>
          </p:cNvPr>
          <p:cNvSpPr>
            <a:spLocks noGrp="1"/>
          </p:cNvSpPr>
          <p:nvPr/>
        </p:nvSpPr>
        <p:spPr>
          <a:xfrm>
            <a:off x="933450" y="3086100"/>
            <a:ext cx="9048750" cy="533400"/>
          </a:xfrm>
          <a:prstGeom prst="roundRect">
            <a:avLst>
              <a:gd name="adj" fmla="val 14286"/>
            </a:avLst>
          </a:prstGeom>
          <a:solidFill>
            <a:srgbClr val="FFF0D2"/>
          </a:solidFill>
          <a:ln w="9525">
            <a:solidFill>
              <a:srgbClr val="D98C00"/>
            </a:solidFill>
            <a:prstDash val="solid"/>
          </a:ln>
        </p:spPr>
        <p:txBody>
          <a:bodyPr/>
          <a:lstStyle/>
          <a:p>
            <a:endParaRPr/>
          </a:p>
        </p:txBody>
      </p:sp>
      <p:sp>
        <p:nvSpPr>
          <p:cNvPr id="17" name="Rectangle 16">
            <a:extLst>
              <a:ext uri="{FF2B5EF4-FFF2-40B4-BE49-F238E27FC236}">
                <a16:creationId xmlns:a16="http://schemas.microsoft.com/office/drawing/2014/main" id="{52EEDFCA-2085-493C-BE3D-5E9FE28FDFDF}"/>
              </a:ext>
            </a:extLst>
          </p:cNvPr>
          <p:cNvSpPr>
            <a:spLocks noGrp="1"/>
          </p:cNvSpPr>
          <p:nvPr/>
        </p:nvSpPr>
        <p:spPr>
          <a:xfrm>
            <a:off x="933450" y="3086100"/>
            <a:ext cx="1619250" cy="533400"/>
          </a:xfrm>
          <a:prstGeom prst="rect">
            <a:avLst/>
          </a:prstGeom>
          <a:solidFill>
            <a:srgbClr val="D98C00"/>
          </a:solidFill>
          <a:ln w="0">
            <a:solidFill>
              <a:srgbClr val="000000">
                <a:alpha val="0"/>
              </a:srgbClr>
            </a:solidFill>
            <a:prstDash val="solid"/>
          </a:ln>
        </p:spPr>
        <p:txBody>
          <a:bodyPr/>
          <a:lstStyle/>
          <a:p>
            <a:endParaRPr/>
          </a:p>
        </p:txBody>
      </p:sp>
      <p:sp>
        <p:nvSpPr>
          <p:cNvPr id="18" name="Rectangle 17">
            <a:extLst>
              <a:ext uri="{FF2B5EF4-FFF2-40B4-BE49-F238E27FC236}">
                <a16:creationId xmlns:a16="http://schemas.microsoft.com/office/drawing/2014/main" id="{9A00A1C0-97BD-48FD-9CBD-6F43FC4068B2}"/>
              </a:ext>
            </a:extLst>
          </p:cNvPr>
          <p:cNvSpPr>
            <a:spLocks noGrp="1"/>
          </p:cNvSpPr>
          <p:nvPr/>
        </p:nvSpPr>
        <p:spPr>
          <a:xfrm>
            <a:off x="1104900" y="3257550"/>
            <a:ext cx="1276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Processing</a:t>
            </a:r>
          </a:p>
        </p:txBody>
      </p:sp>
      <p:sp>
        <p:nvSpPr>
          <p:cNvPr id="19" name="Rectangle 18">
            <a:extLst>
              <a:ext uri="{FF2B5EF4-FFF2-40B4-BE49-F238E27FC236}">
                <a16:creationId xmlns:a16="http://schemas.microsoft.com/office/drawing/2014/main" id="{FF142F5F-C4B2-44EE-B9FD-EC1AD27C8AFE}"/>
              </a:ext>
            </a:extLst>
          </p:cNvPr>
          <p:cNvSpPr>
            <a:spLocks noGrp="1"/>
          </p:cNvSpPr>
          <p:nvPr/>
        </p:nvSpPr>
        <p:spPr>
          <a:xfrm>
            <a:off x="2819400" y="3257550"/>
            <a:ext cx="666750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275" b="0">
                <a:solidFill>
                  <a:srgbClr val="243447"/>
                </a:solidFill>
                <a:latin typeface="Aptos"/>
                <a:ea typeface="Aptos"/>
                <a:cs typeface="Aptos"/>
              </a:defRPr>
            </a:pPr>
            <a:r>
              <a:rPr sz="1000">
                <a:latin typeface="Aptos"/>
              </a:rPr>
              <a:t>Python signal cleaning, normalization, windowing and KPI calculation</a:t>
            </a:r>
          </a:p>
        </p:txBody>
      </p:sp>
      <p:sp>
        <p:nvSpPr>
          <p:cNvPr id="20" name="Rounded Rectangle 19">
            <a:extLst>
              <a:ext uri="{FF2B5EF4-FFF2-40B4-BE49-F238E27FC236}">
                <a16:creationId xmlns:a16="http://schemas.microsoft.com/office/drawing/2014/main" id="{B7EF2B8C-6774-47BC-833C-08238404C2CA}"/>
              </a:ext>
            </a:extLst>
          </p:cNvPr>
          <p:cNvSpPr>
            <a:spLocks noGrp="1"/>
          </p:cNvSpPr>
          <p:nvPr/>
        </p:nvSpPr>
        <p:spPr>
          <a:xfrm>
            <a:off x="933450" y="3829050"/>
            <a:ext cx="9048750" cy="533400"/>
          </a:xfrm>
          <a:prstGeom prst="roundRect">
            <a:avLst>
              <a:gd name="adj" fmla="val 14286"/>
            </a:avLst>
          </a:prstGeom>
          <a:solidFill>
            <a:srgbClr val="DFF2E6"/>
          </a:solidFill>
          <a:ln w="9525">
            <a:solidFill>
              <a:srgbClr val="2E7D4F"/>
            </a:solidFill>
            <a:prstDash val="solid"/>
          </a:ln>
        </p:spPr>
        <p:txBody>
          <a:bodyPr/>
          <a:lstStyle/>
          <a:p>
            <a:endParaRPr/>
          </a:p>
        </p:txBody>
      </p:sp>
      <p:sp>
        <p:nvSpPr>
          <p:cNvPr id="21" name="Rectangle 20">
            <a:extLst>
              <a:ext uri="{FF2B5EF4-FFF2-40B4-BE49-F238E27FC236}">
                <a16:creationId xmlns:a16="http://schemas.microsoft.com/office/drawing/2014/main" id="{6752F1D4-42E0-40A5-8338-696966EE00DF}"/>
              </a:ext>
            </a:extLst>
          </p:cNvPr>
          <p:cNvSpPr>
            <a:spLocks noGrp="1"/>
          </p:cNvSpPr>
          <p:nvPr/>
        </p:nvSpPr>
        <p:spPr>
          <a:xfrm>
            <a:off x="933450" y="3829050"/>
            <a:ext cx="1619250" cy="533400"/>
          </a:xfrm>
          <a:prstGeom prst="rect">
            <a:avLst/>
          </a:prstGeom>
          <a:solidFill>
            <a:srgbClr val="2E7D4F"/>
          </a:solidFill>
          <a:ln w="0">
            <a:solidFill>
              <a:srgbClr val="000000">
                <a:alpha val="0"/>
              </a:srgbClr>
            </a:solidFill>
            <a:prstDash val="solid"/>
          </a:ln>
        </p:spPr>
        <p:txBody>
          <a:bodyPr/>
          <a:lstStyle/>
          <a:p>
            <a:endParaRPr/>
          </a:p>
        </p:txBody>
      </p:sp>
      <p:sp>
        <p:nvSpPr>
          <p:cNvPr id="22" name="Rectangle 21">
            <a:extLst>
              <a:ext uri="{FF2B5EF4-FFF2-40B4-BE49-F238E27FC236}">
                <a16:creationId xmlns:a16="http://schemas.microsoft.com/office/drawing/2014/main" id="{D1E3B69F-E3B6-4E05-A0A6-897C0A251085}"/>
              </a:ext>
            </a:extLst>
          </p:cNvPr>
          <p:cNvSpPr>
            <a:spLocks noGrp="1"/>
          </p:cNvSpPr>
          <p:nvPr/>
        </p:nvSpPr>
        <p:spPr>
          <a:xfrm>
            <a:off x="1104900" y="4000500"/>
            <a:ext cx="1276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Model</a:t>
            </a:r>
          </a:p>
        </p:txBody>
      </p:sp>
      <p:sp>
        <p:nvSpPr>
          <p:cNvPr id="23" name="Rectangle 22">
            <a:extLst>
              <a:ext uri="{FF2B5EF4-FFF2-40B4-BE49-F238E27FC236}">
                <a16:creationId xmlns:a16="http://schemas.microsoft.com/office/drawing/2014/main" id="{D4478A18-809A-404C-8F6B-702513B05C8B}"/>
              </a:ext>
            </a:extLst>
          </p:cNvPr>
          <p:cNvSpPr>
            <a:spLocks noGrp="1"/>
          </p:cNvSpPr>
          <p:nvPr/>
        </p:nvSpPr>
        <p:spPr>
          <a:xfrm>
            <a:off x="2819400" y="4000500"/>
            <a:ext cx="666750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275" b="0">
                <a:solidFill>
                  <a:srgbClr val="243447"/>
                </a:solidFill>
                <a:latin typeface="Aptos"/>
                <a:ea typeface="Aptos"/>
                <a:cs typeface="Aptos"/>
              </a:defRPr>
            </a:pPr>
            <a:r>
              <a:rPr sz="1000">
                <a:latin typeface="Aptos"/>
              </a:rPr>
              <a:t>ML/rule baseline for health state, risk score and probable root cause</a:t>
            </a:r>
          </a:p>
        </p:txBody>
      </p:sp>
      <p:sp>
        <p:nvSpPr>
          <p:cNvPr id="24" name="Rounded Rectangle 23">
            <a:extLst>
              <a:ext uri="{FF2B5EF4-FFF2-40B4-BE49-F238E27FC236}">
                <a16:creationId xmlns:a16="http://schemas.microsoft.com/office/drawing/2014/main" id="{BBB942FE-8B6D-425D-B205-597733D110B1}"/>
              </a:ext>
            </a:extLst>
          </p:cNvPr>
          <p:cNvSpPr>
            <a:spLocks noGrp="1"/>
          </p:cNvSpPr>
          <p:nvPr/>
        </p:nvSpPr>
        <p:spPr>
          <a:xfrm>
            <a:off x="933450" y="4572000"/>
            <a:ext cx="9048750" cy="533400"/>
          </a:xfrm>
          <a:prstGeom prst="roundRect">
            <a:avLst>
              <a:gd name="adj" fmla="val 14286"/>
            </a:avLst>
          </a:prstGeom>
          <a:solidFill>
            <a:srgbClr val="EDE7F7"/>
          </a:solidFill>
          <a:ln w="9525">
            <a:solidFill>
              <a:srgbClr val="6E4AA8"/>
            </a:solidFill>
            <a:prstDash val="solid"/>
          </a:ln>
        </p:spPr>
        <p:txBody>
          <a:bodyPr/>
          <a:lstStyle/>
          <a:p>
            <a:endParaRPr/>
          </a:p>
        </p:txBody>
      </p:sp>
      <p:sp>
        <p:nvSpPr>
          <p:cNvPr id="25" name="Rectangle 24">
            <a:extLst>
              <a:ext uri="{FF2B5EF4-FFF2-40B4-BE49-F238E27FC236}">
                <a16:creationId xmlns:a16="http://schemas.microsoft.com/office/drawing/2014/main" id="{46C4591D-9AF0-4797-8DA4-DB27F44994C0}"/>
              </a:ext>
            </a:extLst>
          </p:cNvPr>
          <p:cNvSpPr>
            <a:spLocks noGrp="1"/>
          </p:cNvSpPr>
          <p:nvPr/>
        </p:nvSpPr>
        <p:spPr>
          <a:xfrm>
            <a:off x="933450" y="4572000"/>
            <a:ext cx="1619250" cy="533400"/>
          </a:xfrm>
          <a:prstGeom prst="rect">
            <a:avLst/>
          </a:prstGeom>
          <a:solidFill>
            <a:srgbClr val="6E4AA8"/>
          </a:solidFill>
          <a:ln w="0">
            <a:solidFill>
              <a:srgbClr val="000000">
                <a:alpha val="0"/>
              </a:srgbClr>
            </a:solidFill>
            <a:prstDash val="solid"/>
          </a:ln>
        </p:spPr>
        <p:txBody>
          <a:bodyPr/>
          <a:lstStyle/>
          <a:p>
            <a:endParaRPr/>
          </a:p>
        </p:txBody>
      </p:sp>
      <p:sp>
        <p:nvSpPr>
          <p:cNvPr id="26" name="Rectangle 25">
            <a:extLst>
              <a:ext uri="{FF2B5EF4-FFF2-40B4-BE49-F238E27FC236}">
                <a16:creationId xmlns:a16="http://schemas.microsoft.com/office/drawing/2014/main" id="{621C687A-BD2E-4157-BBB7-060135BC0C3A}"/>
              </a:ext>
            </a:extLst>
          </p:cNvPr>
          <p:cNvSpPr>
            <a:spLocks noGrp="1"/>
          </p:cNvSpPr>
          <p:nvPr/>
        </p:nvSpPr>
        <p:spPr>
          <a:xfrm>
            <a:off x="1104900" y="4743450"/>
            <a:ext cx="1276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Storage + UI</a:t>
            </a:r>
          </a:p>
        </p:txBody>
      </p:sp>
      <p:sp>
        <p:nvSpPr>
          <p:cNvPr id="27" name="Rectangle 26">
            <a:extLst>
              <a:ext uri="{FF2B5EF4-FFF2-40B4-BE49-F238E27FC236}">
                <a16:creationId xmlns:a16="http://schemas.microsoft.com/office/drawing/2014/main" id="{ACB53713-FC27-4FDE-BCD9-1FC73C01E46A}"/>
              </a:ext>
            </a:extLst>
          </p:cNvPr>
          <p:cNvSpPr>
            <a:spLocks noGrp="1"/>
          </p:cNvSpPr>
          <p:nvPr/>
        </p:nvSpPr>
        <p:spPr>
          <a:xfrm>
            <a:off x="2819400" y="4743450"/>
            <a:ext cx="6667500" cy="1905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275" b="0">
                <a:solidFill>
                  <a:srgbClr val="243447"/>
                </a:solidFill>
                <a:latin typeface="Aptos"/>
                <a:ea typeface="Aptos"/>
                <a:cs typeface="Aptos"/>
              </a:defRPr>
            </a:pPr>
            <a:r>
              <a:rPr sz="1000">
                <a:latin typeface="Aptos"/>
              </a:rPr>
              <a:t>CSV, SQLite, cloud DB, alert log, maintenance history, dashboard/report</a:t>
            </a:r>
          </a:p>
        </p:txBody>
      </p:sp>
      <p:sp>
        <p:nvSpPr>
          <p:cNvPr id="28" name="Rounded Rectangle 27">
            <a:extLst>
              <a:ext uri="{FF2B5EF4-FFF2-40B4-BE49-F238E27FC236}">
                <a16:creationId xmlns:a16="http://schemas.microsoft.com/office/drawing/2014/main" id="{46B45EFC-81F1-4F13-9469-7E7839F4942E}"/>
              </a:ext>
            </a:extLst>
          </p:cNvPr>
          <p:cNvSpPr>
            <a:spLocks noGrp="1"/>
          </p:cNvSpPr>
          <p:nvPr/>
        </p:nvSpPr>
        <p:spPr>
          <a:xfrm>
            <a:off x="1752600" y="5562600"/>
            <a:ext cx="7810500" cy="438150"/>
          </a:xfrm>
          <a:prstGeom prst="roundRect">
            <a:avLst>
              <a:gd name="adj" fmla="val 17391"/>
            </a:avLst>
          </a:prstGeom>
          <a:solidFill>
            <a:srgbClr val="17212B"/>
          </a:solidFill>
          <a:ln w="0">
            <a:solidFill>
              <a:srgbClr val="000000">
                <a:alpha val="0"/>
              </a:srgbClr>
            </a:solidFill>
            <a:prstDash val="solid"/>
          </a:ln>
        </p:spPr>
        <p:txBody>
          <a:bodyPr/>
          <a:lstStyle/>
          <a:p>
            <a:endParaRPr/>
          </a:p>
        </p:txBody>
      </p:sp>
      <p:sp>
        <p:nvSpPr>
          <p:cNvPr id="29" name="Rectangle 28">
            <a:extLst>
              <a:ext uri="{FF2B5EF4-FFF2-40B4-BE49-F238E27FC236}">
                <a16:creationId xmlns:a16="http://schemas.microsoft.com/office/drawing/2014/main" id="{AE39DBF5-37D0-4523-BFD5-BB97B85E2977}"/>
              </a:ext>
            </a:extLst>
          </p:cNvPr>
          <p:cNvSpPr>
            <a:spLocks noGrp="1"/>
          </p:cNvSpPr>
          <p:nvPr/>
        </p:nvSpPr>
        <p:spPr>
          <a:xfrm>
            <a:off x="2000250" y="5695950"/>
            <a:ext cx="73152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ctr">
              <a:defRPr sz="1275" b="1">
                <a:solidFill>
                  <a:srgbClr val="FFFFFF"/>
                </a:solidFill>
                <a:latin typeface="Aptos"/>
                <a:ea typeface="Aptos"/>
                <a:cs typeface="Aptos"/>
              </a:defRPr>
            </a:pPr>
            <a:r>
              <a:rPr sz="1000">
                <a:latin typeface="Aptos"/>
              </a:rPr>
              <a:t>Design choice: same pipeline can run on live multi-sensor readings or stored datasets.</a:t>
            </a:r>
          </a:p>
        </p:txBody>
      </p:sp>
    </p:spTree>
    <p:extLst>
      <p:ext uri="{BB962C8B-B14F-4D97-AF65-F5344CB8AC3E}">
        <p14:creationId xmlns:p14="http://schemas.microsoft.com/office/powerpoint/2010/main" val="10985199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9536" y="237744"/>
            <a:ext cx="3291840" cy="256032"/>
          </a:xfrm>
          <a:prstGeom prst="rect">
            <a:avLst/>
          </a:prstGeom>
          <a:noFill/>
        </p:spPr>
        <p:txBody>
          <a:bodyPr wrap="square">
            <a:spAutoFit/>
          </a:bodyPr>
          <a:lstStyle/>
          <a:p>
            <a:r>
              <a:rPr sz="1200" b="1">
                <a:solidFill>
                  <a:srgbClr val="1F4E79"/>
                </a:solidFill>
                <a:latin typeface="Aptos"/>
              </a:rPr>
              <a:t>KPI FRAME</a:t>
            </a:r>
          </a:p>
        </p:txBody>
      </p:sp>
      <p:sp>
        <p:nvSpPr>
          <p:cNvPr id="3" name="TextBox 2"/>
          <p:cNvSpPr txBox="1"/>
          <p:nvPr/>
        </p:nvSpPr>
        <p:spPr>
          <a:xfrm>
            <a:off x="512064" y="566928"/>
            <a:ext cx="6949440" cy="731520"/>
          </a:xfrm>
          <a:prstGeom prst="rect">
            <a:avLst/>
          </a:prstGeom>
          <a:noFill/>
        </p:spPr>
        <p:txBody>
          <a:bodyPr wrap="square">
            <a:spAutoFit/>
          </a:bodyPr>
          <a:lstStyle/>
          <a:p>
            <a:r>
              <a:rPr sz="2500" b="1" dirty="0">
                <a:solidFill>
                  <a:srgbClr val="182B37"/>
                </a:solidFill>
                <a:latin typeface="Aptos"/>
              </a:rPr>
              <a:t>Evaluation covers machine condition, maintenance response, model quality, and system reliability.</a:t>
            </a:r>
          </a:p>
        </p:txBody>
      </p:sp>
      <p:sp>
        <p:nvSpPr>
          <p:cNvPr id="4" name="TextBox 3"/>
          <p:cNvSpPr txBox="1"/>
          <p:nvPr/>
        </p:nvSpPr>
        <p:spPr>
          <a:xfrm>
            <a:off x="7680960" y="530352"/>
            <a:ext cx="3154680" cy="502920"/>
          </a:xfrm>
          <a:prstGeom prst="rect">
            <a:avLst/>
          </a:prstGeom>
          <a:noFill/>
        </p:spPr>
        <p:txBody>
          <a:bodyPr wrap="square">
            <a:spAutoFit/>
          </a:bodyPr>
          <a:lstStyle/>
          <a:p>
            <a:r>
              <a:rPr sz="1200">
                <a:solidFill>
                  <a:srgbClr val="5B6974"/>
                </a:solidFill>
                <a:latin typeface="Aptos"/>
              </a:rPr>
              <a:t>How the prototype will be judged.</a:t>
            </a:r>
          </a:p>
        </p:txBody>
      </p:sp>
      <p:sp>
        <p:nvSpPr>
          <p:cNvPr id="5" name="TextBox 4"/>
          <p:cNvSpPr txBox="1"/>
          <p:nvPr/>
        </p:nvSpPr>
        <p:spPr>
          <a:xfrm>
            <a:off x="512064" y="6236208"/>
            <a:ext cx="6400800" cy="182880"/>
          </a:xfrm>
          <a:prstGeom prst="rect">
            <a:avLst/>
          </a:prstGeom>
          <a:noFill/>
        </p:spPr>
        <p:txBody>
          <a:bodyPr wrap="square">
            <a:spAutoFit/>
          </a:bodyPr>
          <a:lstStyle/>
          <a:p>
            <a:r>
              <a:rPr sz="900">
                <a:solidFill>
                  <a:srgbClr val="5B6974"/>
                </a:solidFill>
                <a:latin typeface="Aptos"/>
              </a:rPr>
              <a:t>Smart Predictive Maintenance Decision-Support System</a:t>
            </a:r>
          </a:p>
        </p:txBody>
      </p:sp>
      <p:sp>
        <p:nvSpPr>
          <p:cNvPr id="6" name="TextBox 5"/>
          <p:cNvSpPr txBox="1"/>
          <p:nvPr/>
        </p:nvSpPr>
        <p:spPr>
          <a:xfrm>
            <a:off x="10826496" y="6217920"/>
            <a:ext cx="365760" cy="201168"/>
          </a:xfrm>
          <a:prstGeom prst="rect">
            <a:avLst/>
          </a:prstGeom>
          <a:noFill/>
        </p:spPr>
        <p:txBody>
          <a:bodyPr wrap="square">
            <a:spAutoFit/>
          </a:bodyPr>
          <a:lstStyle/>
          <a:p>
            <a:pPr algn="r"/>
            <a:r>
              <a:rPr sz="900">
                <a:solidFill>
                  <a:srgbClr val="5B6974"/>
                </a:solidFill>
                <a:latin typeface="Aptos"/>
              </a:rPr>
              <a:t>11</a:t>
            </a:r>
          </a:p>
        </p:txBody>
      </p:sp>
      <p:sp>
        <p:nvSpPr>
          <p:cNvPr id="7" name="Rectangle 6"/>
          <p:cNvSpPr/>
          <p:nvPr/>
        </p:nvSpPr>
        <p:spPr>
          <a:xfrm>
            <a:off x="512064" y="6108192"/>
            <a:ext cx="10241280" cy="9144"/>
          </a:xfrm>
          <a:prstGeom prst="rect">
            <a:avLst/>
          </a:prstGeom>
          <a:solidFill>
            <a:srgbClr val="C6D2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1444752"/>
            <a:ext cx="2971800" cy="1207008"/>
          </a:xfrm>
          <a:prstGeom prst="roundRect">
            <a:avLst/>
          </a:prstGeom>
          <a:solidFill>
            <a:srgbClr val="EDF3F8"/>
          </a:solidFill>
          <a:ln w="9525">
            <a:solidFill>
              <a:srgbClr val="C6D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58368" y="1444752"/>
            <a:ext cx="64008" cy="1207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1591056"/>
            <a:ext cx="2624328" cy="256032"/>
          </a:xfrm>
          <a:prstGeom prst="rect">
            <a:avLst/>
          </a:prstGeom>
          <a:noFill/>
        </p:spPr>
        <p:txBody>
          <a:bodyPr wrap="square">
            <a:spAutoFit/>
          </a:bodyPr>
          <a:lstStyle/>
          <a:p>
            <a:r>
              <a:rPr sz="1200" b="1">
                <a:solidFill>
                  <a:srgbClr val="182B37"/>
                </a:solidFill>
                <a:latin typeface="Aptos"/>
              </a:rPr>
              <a:t>Machine health</a:t>
            </a:r>
          </a:p>
        </p:txBody>
      </p:sp>
      <p:sp>
        <p:nvSpPr>
          <p:cNvPr id="11" name="TextBox 10"/>
          <p:cNvSpPr txBox="1"/>
          <p:nvPr/>
        </p:nvSpPr>
        <p:spPr>
          <a:xfrm>
            <a:off x="859536" y="1911096"/>
            <a:ext cx="2624328" cy="676656"/>
          </a:xfrm>
          <a:prstGeom prst="rect">
            <a:avLst/>
          </a:prstGeom>
          <a:noFill/>
        </p:spPr>
        <p:txBody>
          <a:bodyPr wrap="square">
            <a:spAutoFit/>
          </a:bodyPr>
          <a:lstStyle/>
          <a:p>
            <a:r>
              <a:rPr sz="940">
                <a:solidFill>
                  <a:srgbClr val="5B6974"/>
                </a:solidFill>
                <a:latin typeface="Aptos"/>
              </a:rPr>
              <a:t>Health status</a:t>
            </a:r>
          </a:p>
          <a:p>
            <a:r>
              <a:rPr sz="940">
                <a:solidFill>
                  <a:srgbClr val="5B6974"/>
                </a:solidFill>
                <a:latin typeface="Aptos"/>
              </a:rPr>
              <a:t>Vibration severity</a:t>
            </a:r>
          </a:p>
          <a:p>
            <a:r>
              <a:rPr sz="940">
                <a:solidFill>
                  <a:srgbClr val="5B6974"/>
                </a:solidFill>
                <a:latin typeface="Aptos"/>
              </a:rPr>
              <a:t>Temperature severity</a:t>
            </a:r>
          </a:p>
          <a:p>
            <a:r>
              <a:rPr sz="940">
                <a:solidFill>
                  <a:srgbClr val="5B6974"/>
                </a:solidFill>
                <a:latin typeface="Aptos"/>
              </a:rPr>
              <a:t>Combined risk score</a:t>
            </a:r>
          </a:p>
        </p:txBody>
      </p:sp>
      <p:sp>
        <p:nvSpPr>
          <p:cNvPr id="12" name="Rounded Rectangle 11"/>
          <p:cNvSpPr/>
          <p:nvPr/>
        </p:nvSpPr>
        <p:spPr>
          <a:xfrm>
            <a:off x="4114800" y="1444752"/>
            <a:ext cx="2971800" cy="1207008"/>
          </a:xfrm>
          <a:prstGeom prst="roundRect">
            <a:avLst/>
          </a:prstGeom>
          <a:solidFill>
            <a:srgbClr val="EDF3F8"/>
          </a:solidFill>
          <a:ln w="9525">
            <a:solidFill>
              <a:srgbClr val="C6D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14800" y="1444752"/>
            <a:ext cx="64008" cy="1207008"/>
          </a:xfrm>
          <a:prstGeom prst="rect">
            <a:avLst/>
          </a:prstGeom>
          <a:solidFill>
            <a:srgbClr val="4A81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15968" y="1591056"/>
            <a:ext cx="2624328" cy="256032"/>
          </a:xfrm>
          <a:prstGeom prst="rect">
            <a:avLst/>
          </a:prstGeom>
          <a:noFill/>
        </p:spPr>
        <p:txBody>
          <a:bodyPr wrap="square">
            <a:spAutoFit/>
          </a:bodyPr>
          <a:lstStyle/>
          <a:p>
            <a:r>
              <a:rPr sz="1200" b="1">
                <a:solidFill>
                  <a:srgbClr val="182B37"/>
                </a:solidFill>
                <a:latin typeface="Aptos"/>
              </a:rPr>
              <a:t>Maintenance</a:t>
            </a:r>
          </a:p>
        </p:txBody>
      </p:sp>
      <p:sp>
        <p:nvSpPr>
          <p:cNvPr id="15" name="TextBox 14"/>
          <p:cNvSpPr txBox="1"/>
          <p:nvPr/>
        </p:nvSpPr>
        <p:spPr>
          <a:xfrm>
            <a:off x="4315968" y="1911096"/>
            <a:ext cx="2624328" cy="676656"/>
          </a:xfrm>
          <a:prstGeom prst="rect">
            <a:avLst/>
          </a:prstGeom>
          <a:noFill/>
        </p:spPr>
        <p:txBody>
          <a:bodyPr wrap="square">
            <a:spAutoFit/>
          </a:bodyPr>
          <a:lstStyle/>
          <a:p>
            <a:r>
              <a:rPr sz="940">
                <a:solidFill>
                  <a:srgbClr val="5B6974"/>
                </a:solidFill>
                <a:latin typeface="Aptos"/>
              </a:rPr>
              <a:t>Last service date</a:t>
            </a:r>
          </a:p>
          <a:p>
            <a:r>
              <a:rPr sz="940">
                <a:solidFill>
                  <a:srgbClr val="5B6974"/>
                </a:solidFill>
                <a:latin typeface="Aptos"/>
              </a:rPr>
              <a:t>Days since service</a:t>
            </a:r>
          </a:p>
          <a:p>
            <a:r>
              <a:rPr sz="940">
                <a:solidFill>
                  <a:srgbClr val="5B6974"/>
                </a:solidFill>
                <a:latin typeface="Aptos"/>
              </a:rPr>
              <a:t>Unresolved alerts</a:t>
            </a:r>
          </a:p>
          <a:p>
            <a:r>
              <a:rPr sz="940">
                <a:solidFill>
                  <a:srgbClr val="5B6974"/>
                </a:solidFill>
                <a:latin typeface="Aptos"/>
              </a:rPr>
              <a:t>Machines due for inspection</a:t>
            </a:r>
          </a:p>
        </p:txBody>
      </p:sp>
      <p:sp>
        <p:nvSpPr>
          <p:cNvPr id="16" name="Rounded Rectangle 15"/>
          <p:cNvSpPr/>
          <p:nvPr/>
        </p:nvSpPr>
        <p:spPr>
          <a:xfrm>
            <a:off x="7571231" y="1444752"/>
            <a:ext cx="2971800" cy="1207008"/>
          </a:xfrm>
          <a:prstGeom prst="roundRect">
            <a:avLst/>
          </a:prstGeom>
          <a:solidFill>
            <a:srgbClr val="EDF3F8"/>
          </a:solidFill>
          <a:ln w="9525">
            <a:solidFill>
              <a:srgbClr val="C6D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571231" y="1444752"/>
            <a:ext cx="64008" cy="1207008"/>
          </a:xfrm>
          <a:prstGeom prst="rect">
            <a:avLst/>
          </a:prstGeom>
          <a:solidFill>
            <a:srgbClr val="B4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399" y="1591056"/>
            <a:ext cx="2624328" cy="256032"/>
          </a:xfrm>
          <a:prstGeom prst="rect">
            <a:avLst/>
          </a:prstGeom>
          <a:noFill/>
        </p:spPr>
        <p:txBody>
          <a:bodyPr wrap="square">
            <a:spAutoFit/>
          </a:bodyPr>
          <a:lstStyle/>
          <a:p>
            <a:r>
              <a:rPr sz="1200" b="1">
                <a:solidFill>
                  <a:srgbClr val="182B37"/>
                </a:solidFill>
                <a:latin typeface="Aptos"/>
              </a:rPr>
              <a:t>Prediction</a:t>
            </a:r>
          </a:p>
        </p:txBody>
      </p:sp>
      <p:sp>
        <p:nvSpPr>
          <p:cNvPr id="19" name="TextBox 18"/>
          <p:cNvSpPr txBox="1"/>
          <p:nvPr/>
        </p:nvSpPr>
        <p:spPr>
          <a:xfrm>
            <a:off x="7772399" y="1911096"/>
            <a:ext cx="2624328" cy="676656"/>
          </a:xfrm>
          <a:prstGeom prst="rect">
            <a:avLst/>
          </a:prstGeom>
          <a:noFill/>
        </p:spPr>
        <p:txBody>
          <a:bodyPr wrap="square">
            <a:spAutoFit/>
          </a:bodyPr>
          <a:lstStyle/>
          <a:p>
            <a:r>
              <a:rPr sz="940">
                <a:solidFill>
                  <a:srgbClr val="5B6974"/>
                </a:solidFill>
                <a:latin typeface="Aptos"/>
              </a:rPr>
              <a:t>Accuracy</a:t>
            </a:r>
          </a:p>
          <a:p>
            <a:r>
              <a:rPr sz="940">
                <a:solidFill>
                  <a:srgbClr val="5B6974"/>
                </a:solidFill>
                <a:latin typeface="Aptos"/>
              </a:rPr>
              <a:t>False alarms</a:t>
            </a:r>
          </a:p>
          <a:p>
            <a:r>
              <a:rPr sz="940">
                <a:solidFill>
                  <a:srgbClr val="5B6974"/>
                </a:solidFill>
                <a:latin typeface="Aptos"/>
              </a:rPr>
              <a:t>Missed faults</a:t>
            </a:r>
          </a:p>
          <a:p>
            <a:r>
              <a:rPr sz="940">
                <a:solidFill>
                  <a:srgbClr val="5B6974"/>
                </a:solidFill>
                <a:latin typeface="Aptos"/>
              </a:rPr>
              <a:t>Root-cause confidence</a:t>
            </a:r>
          </a:p>
        </p:txBody>
      </p:sp>
      <p:sp>
        <p:nvSpPr>
          <p:cNvPr id="20" name="Rounded Rectangle 19"/>
          <p:cNvSpPr/>
          <p:nvPr/>
        </p:nvSpPr>
        <p:spPr>
          <a:xfrm>
            <a:off x="658368" y="3108960"/>
            <a:ext cx="4251960" cy="1207008"/>
          </a:xfrm>
          <a:prstGeom prst="roundRect">
            <a:avLst/>
          </a:prstGeom>
          <a:solidFill>
            <a:srgbClr val="EDF3F8"/>
          </a:solidFill>
          <a:ln w="9525">
            <a:solidFill>
              <a:srgbClr val="C6D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8368" y="3108960"/>
            <a:ext cx="64008" cy="1207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536" y="3255264"/>
            <a:ext cx="3904488" cy="256032"/>
          </a:xfrm>
          <a:prstGeom prst="rect">
            <a:avLst/>
          </a:prstGeom>
          <a:noFill/>
        </p:spPr>
        <p:txBody>
          <a:bodyPr wrap="square">
            <a:spAutoFit/>
          </a:bodyPr>
          <a:lstStyle/>
          <a:p>
            <a:r>
              <a:rPr sz="1200" b="1">
                <a:solidFill>
                  <a:srgbClr val="182B37"/>
                </a:solidFill>
                <a:latin typeface="Aptos"/>
              </a:rPr>
              <a:t>System</a:t>
            </a:r>
          </a:p>
        </p:txBody>
      </p:sp>
      <p:sp>
        <p:nvSpPr>
          <p:cNvPr id="23" name="TextBox 22"/>
          <p:cNvSpPr txBox="1"/>
          <p:nvPr/>
        </p:nvSpPr>
        <p:spPr>
          <a:xfrm>
            <a:off x="859536" y="3575304"/>
            <a:ext cx="3904488" cy="676656"/>
          </a:xfrm>
          <a:prstGeom prst="rect">
            <a:avLst/>
          </a:prstGeom>
          <a:noFill/>
        </p:spPr>
        <p:txBody>
          <a:bodyPr wrap="square">
            <a:spAutoFit/>
          </a:bodyPr>
          <a:lstStyle/>
          <a:p>
            <a:r>
              <a:rPr sz="940">
                <a:solidFill>
                  <a:srgbClr val="5B6974"/>
                </a:solidFill>
                <a:latin typeface="Aptos"/>
              </a:rPr>
              <a:t>Collection rate</a:t>
            </a:r>
          </a:p>
          <a:p>
            <a:r>
              <a:rPr sz="940">
                <a:solidFill>
                  <a:srgbClr val="5B6974"/>
                </a:solidFill>
                <a:latin typeface="Aptos"/>
              </a:rPr>
              <a:t>Transmission success</a:t>
            </a:r>
          </a:p>
          <a:p>
            <a:r>
              <a:rPr sz="940">
                <a:solidFill>
                  <a:srgbClr val="5B6974"/>
                </a:solidFill>
                <a:latin typeface="Aptos"/>
              </a:rPr>
              <a:t>Edge buffer usage</a:t>
            </a:r>
          </a:p>
          <a:p>
            <a:r>
              <a:rPr sz="940">
                <a:solidFill>
                  <a:srgbClr val="5B6974"/>
                </a:solidFill>
                <a:latin typeface="Aptos"/>
              </a:rPr>
              <a:t>Dashboard latency</a:t>
            </a:r>
          </a:p>
        </p:txBody>
      </p:sp>
      <p:sp>
        <p:nvSpPr>
          <p:cNvPr id="24" name="Rounded Rectangle 23"/>
          <p:cNvSpPr/>
          <p:nvPr/>
        </p:nvSpPr>
        <p:spPr>
          <a:xfrm>
            <a:off x="4114800" y="3108960"/>
            <a:ext cx="4251960" cy="1207008"/>
          </a:xfrm>
          <a:prstGeom prst="roundRect">
            <a:avLst/>
          </a:prstGeom>
          <a:solidFill>
            <a:srgbClr val="EDF3F8"/>
          </a:solidFill>
          <a:ln w="9525">
            <a:solidFill>
              <a:srgbClr val="C6D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114800" y="3108960"/>
            <a:ext cx="64008" cy="1207008"/>
          </a:xfrm>
          <a:prstGeom prst="rect">
            <a:avLst/>
          </a:prstGeom>
          <a:solidFill>
            <a:srgbClr val="4A81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15968" y="3255264"/>
            <a:ext cx="3904488" cy="256032"/>
          </a:xfrm>
          <a:prstGeom prst="rect">
            <a:avLst/>
          </a:prstGeom>
          <a:noFill/>
        </p:spPr>
        <p:txBody>
          <a:bodyPr wrap="square">
            <a:spAutoFit/>
          </a:bodyPr>
          <a:lstStyle/>
          <a:p>
            <a:r>
              <a:rPr sz="1200" b="1">
                <a:solidFill>
                  <a:srgbClr val="182B37"/>
                </a:solidFill>
                <a:latin typeface="Aptos"/>
              </a:rPr>
              <a:t>Operational value</a:t>
            </a:r>
          </a:p>
        </p:txBody>
      </p:sp>
      <p:sp>
        <p:nvSpPr>
          <p:cNvPr id="27" name="TextBox 26"/>
          <p:cNvSpPr txBox="1"/>
          <p:nvPr/>
        </p:nvSpPr>
        <p:spPr>
          <a:xfrm>
            <a:off x="4315968" y="3575304"/>
            <a:ext cx="3904488" cy="676656"/>
          </a:xfrm>
          <a:prstGeom prst="rect">
            <a:avLst/>
          </a:prstGeom>
          <a:noFill/>
        </p:spPr>
        <p:txBody>
          <a:bodyPr wrap="square">
            <a:spAutoFit/>
          </a:bodyPr>
          <a:lstStyle/>
          <a:p>
            <a:r>
              <a:rPr sz="940">
                <a:solidFill>
                  <a:srgbClr val="5B6974"/>
                </a:solidFill>
                <a:latin typeface="Aptos"/>
              </a:rPr>
              <a:t>Faults detected before failure</a:t>
            </a:r>
          </a:p>
          <a:p>
            <a:r>
              <a:rPr sz="940">
                <a:solidFill>
                  <a:srgbClr val="5B6974"/>
                </a:solidFill>
                <a:latin typeface="Aptos"/>
              </a:rPr>
              <a:t>Planned actions improved</a:t>
            </a:r>
          </a:p>
          <a:p>
            <a:r>
              <a:rPr sz="940">
                <a:solidFill>
                  <a:srgbClr val="5B6974"/>
                </a:solidFill>
                <a:latin typeface="Aptos"/>
              </a:rPr>
              <a:t>Emergency cases reduced</a:t>
            </a:r>
          </a:p>
        </p:txBody>
      </p:sp>
      <p:sp>
        <p:nvSpPr>
          <p:cNvPr id="28" name="Rectangle 27"/>
          <p:cNvSpPr/>
          <p:nvPr/>
        </p:nvSpPr>
        <p:spPr>
          <a:xfrm>
            <a:off x="804672" y="4709160"/>
            <a:ext cx="9829800" cy="6400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4128" y="4855464"/>
            <a:ext cx="9372600" cy="329184"/>
          </a:xfrm>
          <a:prstGeom prst="rect">
            <a:avLst/>
          </a:prstGeom>
          <a:noFill/>
        </p:spPr>
        <p:txBody>
          <a:bodyPr wrap="square">
            <a:spAutoFit/>
          </a:bodyPr>
          <a:lstStyle/>
          <a:p>
            <a:r>
              <a:rPr sz="1400" b="1">
                <a:solidFill>
                  <a:srgbClr val="FFFFFF"/>
                </a:solidFill>
                <a:latin typeface="Aptos"/>
              </a:rPr>
              <a:t>A machine with abnormal readings and a long time since last maintenance becomes the highest-priority inspection candidate.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492EF41E-1393-422D-8BA1-CF0938E20F16}"/>
              </a:ext>
            </a:extLst>
          </p:cNvPr>
          <p:cNvSpPr>
            <a:spLocks noGrp="1"/>
          </p:cNvSpPr>
          <p:nvPr/>
        </p:nvSpPr>
        <p:spPr>
          <a:xfrm>
            <a:off x="0" y="0"/>
            <a:ext cx="12192000" cy="6858000"/>
          </a:xfrm>
          <a:prstGeom prst="rect">
            <a:avLst/>
          </a:prstGeom>
          <a:solidFill>
            <a:srgbClr val="F7F4EE"/>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D629F705-7B6E-4C22-B139-4AF320A605D1}"/>
              </a:ext>
            </a:extLst>
          </p:cNvPr>
          <p:cNvSpPr>
            <a:spLocks noGrp="1"/>
          </p:cNvSpPr>
          <p:nvPr/>
        </p:nvSpPr>
        <p:spPr>
          <a:xfrm>
            <a:off x="533400" y="361950"/>
            <a:ext cx="266700" cy="38100"/>
          </a:xfrm>
          <a:prstGeom prst="rect">
            <a:avLst/>
          </a:prstGeom>
          <a:solidFill>
            <a:srgbClr val="0B7A75"/>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93D0DBDE-B1BF-4269-90DF-E2D8D4C40389}"/>
              </a:ext>
            </a:extLst>
          </p:cNvPr>
          <p:cNvSpPr>
            <a:spLocks noGrp="1"/>
          </p:cNvSpPr>
          <p:nvPr/>
        </p:nvSpPr>
        <p:spPr>
          <a:xfrm>
            <a:off x="895350" y="247650"/>
            <a:ext cx="3429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57487"/>
                </a:solidFill>
                <a:latin typeface="Aptos"/>
                <a:ea typeface="Aptos"/>
                <a:cs typeface="Aptos"/>
              </a:defRPr>
            </a:pPr>
            <a:r>
              <a:rPr sz="975" b="1">
                <a:solidFill>
                  <a:srgbClr val="657487"/>
                </a:solidFill>
                <a:latin typeface="Aptos"/>
                <a:ea typeface="Aptos"/>
                <a:cs typeface="Aptos"/>
              </a:rPr>
              <a:t>ROADMAP</a:t>
            </a:r>
          </a:p>
        </p:txBody>
      </p:sp>
      <p:sp>
        <p:nvSpPr>
          <p:cNvPr id="4" name="Rectangle 3">
            <a:extLst>
              <a:ext uri="{FF2B5EF4-FFF2-40B4-BE49-F238E27FC236}">
                <a16:creationId xmlns:a16="http://schemas.microsoft.com/office/drawing/2014/main" id="{4AB78B91-C289-4C41-B240-65C948AF542C}"/>
              </a:ext>
            </a:extLst>
          </p:cNvPr>
          <p:cNvSpPr>
            <a:spLocks noGrp="1"/>
          </p:cNvSpPr>
          <p:nvPr/>
        </p:nvSpPr>
        <p:spPr>
          <a:xfrm>
            <a:off x="533400" y="590550"/>
            <a:ext cx="7239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7212B"/>
                </a:solidFill>
                <a:latin typeface="Aptos Display"/>
                <a:ea typeface="Aptos Display"/>
                <a:cs typeface="Aptos Display"/>
              </a:defRPr>
            </a:pPr>
            <a:r>
              <a:rPr sz="2550" b="1">
                <a:solidFill>
                  <a:srgbClr val="17212B"/>
                </a:solidFill>
                <a:latin typeface="Aptos Display"/>
                <a:ea typeface="Aptos Display"/>
                <a:cs typeface="Aptos Display"/>
              </a:rPr>
              <a:t>Current limitations define a credible path for future research.</a:t>
            </a:r>
          </a:p>
        </p:txBody>
      </p:sp>
      <p:sp>
        <p:nvSpPr>
          <p:cNvPr id="5" name="Rectangle 4">
            <a:extLst>
              <a:ext uri="{FF2B5EF4-FFF2-40B4-BE49-F238E27FC236}">
                <a16:creationId xmlns:a16="http://schemas.microsoft.com/office/drawing/2014/main" id="{514CCC8D-5A91-4F2D-9271-B3DF4EA4D503}"/>
              </a:ext>
            </a:extLst>
          </p:cNvPr>
          <p:cNvSpPr>
            <a:spLocks noGrp="1"/>
          </p:cNvSpPr>
          <p:nvPr/>
        </p:nvSpPr>
        <p:spPr>
          <a:xfrm>
            <a:off x="8001000" y="552450"/>
            <a:ext cx="342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200" b="0">
                <a:solidFill>
                  <a:srgbClr val="657487"/>
                </a:solidFill>
                <a:latin typeface="Aptos"/>
                <a:ea typeface="Aptos"/>
                <a:cs typeface="Aptos"/>
              </a:defRPr>
            </a:pPr>
            <a:r>
              <a:rPr sz="1200" b="0">
                <a:solidFill>
                  <a:srgbClr val="657487"/>
                </a:solidFill>
                <a:latin typeface="Aptos"/>
                <a:ea typeface="Aptos"/>
                <a:cs typeface="Aptos"/>
              </a:rPr>
              <a:t>Challenges and future enhancements.</a:t>
            </a:r>
          </a:p>
        </p:txBody>
      </p:sp>
      <p:sp>
        <p:nvSpPr>
          <p:cNvPr id="6" name="Rectangle 5">
            <a:extLst>
              <a:ext uri="{FF2B5EF4-FFF2-40B4-BE49-F238E27FC236}">
                <a16:creationId xmlns:a16="http://schemas.microsoft.com/office/drawing/2014/main" id="{5787D59B-E8F2-4493-870E-8C54CFBEA1E7}"/>
              </a:ext>
            </a:extLst>
          </p:cNvPr>
          <p:cNvSpPr>
            <a:spLocks noGrp="1"/>
          </p:cNvSpPr>
          <p:nvPr/>
        </p:nvSpPr>
        <p:spPr>
          <a:xfrm>
            <a:off x="533400" y="6496050"/>
            <a:ext cx="66675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750" b="0">
                <a:solidFill>
                  <a:srgbClr val="8793A2"/>
                </a:solidFill>
                <a:latin typeface="Aptos"/>
                <a:ea typeface="Aptos"/>
                <a:cs typeface="Aptos"/>
              </a:defRPr>
            </a:pPr>
            <a:r>
              <a:rPr sz="900">
                <a:latin typeface="Aptos"/>
              </a:rPr>
              <a:t>Smart Predictive Maintenance Decision-Support System</a:t>
            </a:r>
          </a:p>
        </p:txBody>
      </p:sp>
      <p:sp>
        <p:nvSpPr>
          <p:cNvPr id="7" name="Rectangle 6">
            <a:extLst>
              <a:ext uri="{FF2B5EF4-FFF2-40B4-BE49-F238E27FC236}">
                <a16:creationId xmlns:a16="http://schemas.microsoft.com/office/drawing/2014/main" id="{B368248A-8680-4C9C-8C46-0772B7FC13C1}"/>
              </a:ext>
            </a:extLst>
          </p:cNvPr>
          <p:cNvSpPr>
            <a:spLocks noGrp="1"/>
          </p:cNvSpPr>
          <p:nvPr/>
        </p:nvSpPr>
        <p:spPr>
          <a:xfrm>
            <a:off x="11277600" y="6477000"/>
            <a:ext cx="381000" cy="2095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r">
              <a:defRPr sz="900" b="0">
                <a:solidFill>
                  <a:srgbClr val="8793A2"/>
                </a:solidFill>
                <a:latin typeface="Aptos"/>
                <a:ea typeface="Aptos"/>
                <a:cs typeface="Aptos"/>
              </a:defRPr>
            </a:pPr>
            <a:r>
              <a:rPr sz="900">
                <a:latin typeface="Aptos"/>
              </a:rPr>
              <a:t>13</a:t>
            </a:r>
          </a:p>
        </p:txBody>
      </p:sp>
      <p:sp>
        <p:nvSpPr>
          <p:cNvPr id="8" name="Rounded Rectangle 7">
            <a:extLst>
              <a:ext uri="{FF2B5EF4-FFF2-40B4-BE49-F238E27FC236}">
                <a16:creationId xmlns:a16="http://schemas.microsoft.com/office/drawing/2014/main" id="{8B5786F3-01A7-4E18-B188-40C277BDE7FB}"/>
              </a:ext>
            </a:extLst>
          </p:cNvPr>
          <p:cNvSpPr>
            <a:spLocks noGrp="1"/>
          </p:cNvSpPr>
          <p:nvPr/>
        </p:nvSpPr>
        <p:spPr>
          <a:xfrm>
            <a:off x="742950" y="1600200"/>
            <a:ext cx="4667250" cy="3505200"/>
          </a:xfrm>
          <a:prstGeom prst="roundRect">
            <a:avLst>
              <a:gd name="adj" fmla="val 2174"/>
            </a:avLst>
          </a:prstGeom>
          <a:solidFill>
            <a:srgbClr val="FFFFFF"/>
          </a:solidFill>
          <a:ln w="9525">
            <a:solidFill>
              <a:srgbClr val="D8DEE6"/>
            </a:solidFill>
            <a:prstDash val="solid"/>
          </a:ln>
        </p:spPr>
        <p:txBody>
          <a:bodyPr/>
          <a:lstStyle/>
          <a:p>
            <a:endParaRPr/>
          </a:p>
        </p:txBody>
      </p:sp>
      <p:sp>
        <p:nvSpPr>
          <p:cNvPr id="9" name="Rectangle 8">
            <a:extLst>
              <a:ext uri="{FF2B5EF4-FFF2-40B4-BE49-F238E27FC236}">
                <a16:creationId xmlns:a16="http://schemas.microsoft.com/office/drawing/2014/main" id="{C40282D0-EC01-410A-B2F4-C85180073D11}"/>
              </a:ext>
            </a:extLst>
          </p:cNvPr>
          <p:cNvSpPr>
            <a:spLocks noGrp="1"/>
          </p:cNvSpPr>
          <p:nvPr/>
        </p:nvSpPr>
        <p:spPr>
          <a:xfrm>
            <a:off x="1009650" y="1847850"/>
            <a:ext cx="3429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C2413B"/>
                </a:solidFill>
                <a:latin typeface="Aptos"/>
                <a:ea typeface="Aptos"/>
                <a:cs typeface="Aptos"/>
              </a:defRPr>
            </a:pPr>
            <a:r>
              <a:rPr sz="1650" b="1">
                <a:solidFill>
                  <a:srgbClr val="C2413B"/>
                </a:solidFill>
                <a:latin typeface="Aptos"/>
                <a:ea typeface="Aptos"/>
                <a:cs typeface="Aptos"/>
              </a:rPr>
              <a:t>Challenges and limitations</a:t>
            </a:r>
          </a:p>
        </p:txBody>
      </p:sp>
      <p:sp>
        <p:nvSpPr>
          <p:cNvPr id="10" name="Rectangle 9">
            <a:extLst>
              <a:ext uri="{FF2B5EF4-FFF2-40B4-BE49-F238E27FC236}">
                <a16:creationId xmlns:a16="http://schemas.microsoft.com/office/drawing/2014/main" id="{9AE92DD4-0AD0-4F81-AA99-1476B8DDEB4D}"/>
              </a:ext>
            </a:extLst>
          </p:cNvPr>
          <p:cNvSpPr>
            <a:spLocks noGrp="1"/>
          </p:cNvSpPr>
          <p:nvPr/>
        </p:nvSpPr>
        <p:spPr>
          <a:xfrm>
            <a:off x="1047750" y="2381250"/>
            <a:ext cx="3790950" cy="1676400"/>
          </a:xfrm>
          <a:prstGeom prst="rect">
            <a:avLst/>
          </a:prstGeom>
          <a:solidFill>
            <a:srgbClr val="000000">
              <a:alpha val="0"/>
            </a:srgbClr>
          </a:solidFill>
          <a:ln w="0">
            <a:solidFill>
              <a:srgbClr val="000000">
                <a:alpha val="0"/>
              </a:srgbClr>
            </a:solidFill>
            <a:prstDash val="solid"/>
          </a:ln>
        </p:spPr>
        <p:txBody>
          <a:bodyPr wrap="square" lIns="0" tIns="0" rIns="38100" bIns="0" anchor="t"/>
          <a:lstStyle/>
          <a:p>
            <a:pPr algn="l">
              <a:defRPr sz="1350" b="0">
                <a:solidFill>
                  <a:srgbClr val="243447"/>
                </a:solidFill>
                <a:latin typeface="Aptos"/>
                <a:ea typeface="Aptos"/>
                <a:cs typeface="Aptos"/>
              </a:defRPr>
            </a:pPr>
            <a:r>
              <a:rPr sz="1000">
                <a:latin typeface="Aptos"/>
              </a:rPr>
              <a:t>- Noisy vibration/temperature readings and sensor placement affect accuracy</a:t>
            </a:r>
          </a:p>
          <a:p>
            <a:r>
              <a:rPr sz="1000">
                <a:latin typeface="Aptos"/>
              </a:rPr>
              <a:t>- Limited labeled fault and root-cause data restricts model quality</a:t>
            </a:r>
          </a:p>
          <a:p>
            <a:r>
              <a:rPr sz="1000">
                <a:latin typeface="Aptos"/>
              </a:rPr>
              <a:t>- Prototype is not a full industrial deployment</a:t>
            </a:r>
          </a:p>
          <a:p>
            <a:r>
              <a:rPr sz="1000">
                <a:latin typeface="Aptos"/>
              </a:rPr>
              <a:t>- Human verification is still required before major action</a:t>
            </a:r>
          </a:p>
        </p:txBody>
      </p:sp>
      <p:sp>
        <p:nvSpPr>
          <p:cNvPr id="11" name="Rounded Rectangle 10">
            <a:extLst>
              <a:ext uri="{FF2B5EF4-FFF2-40B4-BE49-F238E27FC236}">
                <a16:creationId xmlns:a16="http://schemas.microsoft.com/office/drawing/2014/main" id="{7C46DB32-B4FB-4F3F-9080-AA97CEE5F0E8}"/>
              </a:ext>
            </a:extLst>
          </p:cNvPr>
          <p:cNvSpPr>
            <a:spLocks noGrp="1"/>
          </p:cNvSpPr>
          <p:nvPr/>
        </p:nvSpPr>
        <p:spPr>
          <a:xfrm>
            <a:off x="5867400" y="1600200"/>
            <a:ext cx="5048250" cy="3505200"/>
          </a:xfrm>
          <a:prstGeom prst="roundRect">
            <a:avLst>
              <a:gd name="adj" fmla="val 2174"/>
            </a:avLst>
          </a:prstGeom>
          <a:solidFill>
            <a:srgbClr val="17212B"/>
          </a:solidFill>
          <a:ln w="0">
            <a:solidFill>
              <a:srgbClr val="000000">
                <a:alpha val="0"/>
              </a:srgbClr>
            </a:solidFill>
            <a:prstDash val="solid"/>
          </a:ln>
        </p:spPr>
        <p:txBody>
          <a:bodyPr/>
          <a:lstStyle/>
          <a:p>
            <a:endParaRPr/>
          </a:p>
        </p:txBody>
      </p:sp>
      <p:sp>
        <p:nvSpPr>
          <p:cNvPr id="12" name="Rectangle 11">
            <a:extLst>
              <a:ext uri="{FF2B5EF4-FFF2-40B4-BE49-F238E27FC236}">
                <a16:creationId xmlns:a16="http://schemas.microsoft.com/office/drawing/2014/main" id="{41B2C8D7-50EA-4F4D-9D45-8FF0E3EE318C}"/>
              </a:ext>
            </a:extLst>
          </p:cNvPr>
          <p:cNvSpPr>
            <a:spLocks noGrp="1"/>
          </p:cNvSpPr>
          <p:nvPr/>
        </p:nvSpPr>
        <p:spPr>
          <a:xfrm>
            <a:off x="6153150" y="1847850"/>
            <a:ext cx="3429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D98C00"/>
                </a:solidFill>
                <a:latin typeface="Aptos"/>
                <a:ea typeface="Aptos"/>
                <a:cs typeface="Aptos"/>
              </a:defRPr>
            </a:pPr>
            <a:r>
              <a:rPr sz="1650" b="1">
                <a:solidFill>
                  <a:srgbClr val="D98C00"/>
                </a:solidFill>
                <a:latin typeface="Aptos"/>
                <a:ea typeface="Aptos"/>
                <a:cs typeface="Aptos"/>
              </a:rPr>
              <a:t>Future enhancements</a:t>
            </a:r>
          </a:p>
        </p:txBody>
      </p:sp>
      <p:sp>
        <p:nvSpPr>
          <p:cNvPr id="13" name="Rectangle 12">
            <a:extLst>
              <a:ext uri="{FF2B5EF4-FFF2-40B4-BE49-F238E27FC236}">
                <a16:creationId xmlns:a16="http://schemas.microsoft.com/office/drawing/2014/main" id="{B6631E7D-CF28-434E-9F9C-41EB1FED34BF}"/>
              </a:ext>
            </a:extLst>
          </p:cNvPr>
          <p:cNvSpPr>
            <a:spLocks noGrp="1"/>
          </p:cNvSpPr>
          <p:nvPr/>
        </p:nvSpPr>
        <p:spPr>
          <a:xfrm>
            <a:off x="6324600" y="2562225"/>
            <a:ext cx="3200400" cy="19050"/>
          </a:xfrm>
          <a:prstGeom prst="rect">
            <a:avLst/>
          </a:prstGeom>
          <a:solidFill>
            <a:srgbClr val="D98C00"/>
          </a:solidFill>
          <a:ln w="0">
            <a:solidFill>
              <a:srgbClr val="000000">
                <a:alpha val="0"/>
              </a:srgbClr>
            </a:solidFill>
            <a:prstDash val="solid"/>
          </a:ln>
        </p:spPr>
        <p:txBody>
          <a:bodyPr/>
          <a:lstStyle/>
          <a:p>
            <a:endParaRPr/>
          </a:p>
        </p:txBody>
      </p:sp>
      <p:sp>
        <p:nvSpPr>
          <p:cNvPr id="14" name="Rounded Rectangle 13">
            <a:extLst>
              <a:ext uri="{FF2B5EF4-FFF2-40B4-BE49-F238E27FC236}">
                <a16:creationId xmlns:a16="http://schemas.microsoft.com/office/drawing/2014/main" id="{2DC25874-CF76-4619-A107-60872BD8E55A}"/>
              </a:ext>
            </a:extLst>
          </p:cNvPr>
          <p:cNvSpPr>
            <a:spLocks noGrp="1"/>
          </p:cNvSpPr>
          <p:nvPr/>
        </p:nvSpPr>
        <p:spPr>
          <a:xfrm>
            <a:off x="6134100" y="2400300"/>
            <a:ext cx="304800" cy="304800"/>
          </a:xfrm>
          <a:prstGeom prst="roundRect">
            <a:avLst>
              <a:gd name="adj" fmla="val 25000"/>
            </a:avLst>
          </a:prstGeom>
          <a:solidFill>
            <a:srgbClr val="0B7A75"/>
          </a:solidFill>
          <a:ln w="0">
            <a:solidFill>
              <a:srgbClr val="000000">
                <a:alpha val="0"/>
              </a:srgbClr>
            </a:solidFill>
            <a:prstDash val="solid"/>
          </a:ln>
        </p:spPr>
        <p:txBody>
          <a:bodyPr/>
          <a:lstStyle/>
          <a:p>
            <a:endParaRPr/>
          </a:p>
        </p:txBody>
      </p:sp>
      <p:sp>
        <p:nvSpPr>
          <p:cNvPr id="15" name="Rectangle 14">
            <a:extLst>
              <a:ext uri="{FF2B5EF4-FFF2-40B4-BE49-F238E27FC236}">
                <a16:creationId xmlns:a16="http://schemas.microsoft.com/office/drawing/2014/main" id="{310D4E65-D683-4ED7-8A0F-D682436B5C49}"/>
              </a:ext>
            </a:extLst>
          </p:cNvPr>
          <p:cNvSpPr>
            <a:spLocks noGrp="1"/>
          </p:cNvSpPr>
          <p:nvPr/>
        </p:nvSpPr>
        <p:spPr>
          <a:xfrm>
            <a:off x="6648450" y="238125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Prototype</a:t>
            </a:r>
          </a:p>
        </p:txBody>
      </p:sp>
      <p:sp>
        <p:nvSpPr>
          <p:cNvPr id="16" name="Rectangle 15">
            <a:extLst>
              <a:ext uri="{FF2B5EF4-FFF2-40B4-BE49-F238E27FC236}">
                <a16:creationId xmlns:a16="http://schemas.microsoft.com/office/drawing/2014/main" id="{2DE379EB-C3A9-4EF4-86A7-19D0C68CCA81}"/>
              </a:ext>
            </a:extLst>
          </p:cNvPr>
          <p:cNvSpPr>
            <a:spLocks noGrp="1"/>
          </p:cNvSpPr>
          <p:nvPr/>
        </p:nvSpPr>
        <p:spPr>
          <a:xfrm>
            <a:off x="6648450" y="2628900"/>
            <a:ext cx="34290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C9D5DF"/>
                </a:solidFill>
                <a:latin typeface="Aptos"/>
                <a:ea typeface="Aptos"/>
                <a:cs typeface="Aptos"/>
              </a:defRPr>
            </a:pPr>
            <a:r>
              <a:rPr sz="900">
                <a:latin typeface="Aptos"/>
              </a:rPr>
              <a:t>sensor/dataset + health/risk classification</a:t>
            </a:r>
          </a:p>
        </p:txBody>
      </p:sp>
      <p:sp>
        <p:nvSpPr>
          <p:cNvPr id="17" name="Rectangle 16">
            <a:extLst>
              <a:ext uri="{FF2B5EF4-FFF2-40B4-BE49-F238E27FC236}">
                <a16:creationId xmlns:a16="http://schemas.microsoft.com/office/drawing/2014/main" id="{0833D094-B1E0-4B6A-AB41-1554ABFB2F6E}"/>
              </a:ext>
            </a:extLst>
          </p:cNvPr>
          <p:cNvSpPr>
            <a:spLocks noGrp="1"/>
          </p:cNvSpPr>
          <p:nvPr/>
        </p:nvSpPr>
        <p:spPr>
          <a:xfrm>
            <a:off x="6324600" y="3190875"/>
            <a:ext cx="3200400" cy="19050"/>
          </a:xfrm>
          <a:prstGeom prst="rect">
            <a:avLst/>
          </a:prstGeom>
          <a:solidFill>
            <a:srgbClr val="D98C00"/>
          </a:solidFill>
          <a:ln w="0">
            <a:solidFill>
              <a:srgbClr val="000000">
                <a:alpha val="0"/>
              </a:srgbClr>
            </a:solidFill>
            <a:prstDash val="solid"/>
          </a:ln>
        </p:spPr>
        <p:txBody>
          <a:bodyPr/>
          <a:lstStyle/>
          <a:p>
            <a:endParaRPr/>
          </a:p>
        </p:txBody>
      </p:sp>
      <p:sp>
        <p:nvSpPr>
          <p:cNvPr id="18" name="Rounded Rectangle 17">
            <a:extLst>
              <a:ext uri="{FF2B5EF4-FFF2-40B4-BE49-F238E27FC236}">
                <a16:creationId xmlns:a16="http://schemas.microsoft.com/office/drawing/2014/main" id="{54835BAD-CA57-40AA-82B8-4A50C50FE024}"/>
              </a:ext>
            </a:extLst>
          </p:cNvPr>
          <p:cNvSpPr>
            <a:spLocks noGrp="1"/>
          </p:cNvSpPr>
          <p:nvPr/>
        </p:nvSpPr>
        <p:spPr>
          <a:xfrm>
            <a:off x="6134100" y="2990850"/>
            <a:ext cx="304800" cy="304800"/>
          </a:xfrm>
          <a:prstGeom prst="roundRect">
            <a:avLst>
              <a:gd name="adj" fmla="val 25000"/>
            </a:avLst>
          </a:prstGeom>
          <a:solidFill>
            <a:srgbClr val="D98C00"/>
          </a:solidFill>
          <a:ln w="0">
            <a:solidFill>
              <a:srgbClr val="000000">
                <a:alpha val="0"/>
              </a:srgbClr>
            </a:solidFill>
            <a:prstDash val="solid"/>
          </a:ln>
        </p:spPr>
        <p:txBody>
          <a:bodyPr/>
          <a:lstStyle/>
          <a:p>
            <a:endParaRPr/>
          </a:p>
        </p:txBody>
      </p:sp>
      <p:sp>
        <p:nvSpPr>
          <p:cNvPr id="19" name="Rectangle 18">
            <a:extLst>
              <a:ext uri="{FF2B5EF4-FFF2-40B4-BE49-F238E27FC236}">
                <a16:creationId xmlns:a16="http://schemas.microsoft.com/office/drawing/2014/main" id="{3EBDC546-3FF0-439F-93DA-A0B932DAEFA8}"/>
              </a:ext>
            </a:extLst>
          </p:cNvPr>
          <p:cNvSpPr>
            <a:spLocks noGrp="1"/>
          </p:cNvSpPr>
          <p:nvPr/>
        </p:nvSpPr>
        <p:spPr>
          <a:xfrm>
            <a:off x="6648450" y="297180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Improved model</a:t>
            </a:r>
          </a:p>
        </p:txBody>
      </p:sp>
      <p:sp>
        <p:nvSpPr>
          <p:cNvPr id="20" name="Rectangle 19">
            <a:extLst>
              <a:ext uri="{FF2B5EF4-FFF2-40B4-BE49-F238E27FC236}">
                <a16:creationId xmlns:a16="http://schemas.microsoft.com/office/drawing/2014/main" id="{E9BD64DE-E670-40CB-9BAA-BEAED101129F}"/>
              </a:ext>
            </a:extLst>
          </p:cNvPr>
          <p:cNvSpPr>
            <a:spLocks noGrp="1"/>
          </p:cNvSpPr>
          <p:nvPr/>
        </p:nvSpPr>
        <p:spPr>
          <a:xfrm>
            <a:off x="6648450" y="3219450"/>
            <a:ext cx="34290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C9D5DF"/>
                </a:solidFill>
                <a:latin typeface="Aptos"/>
                <a:ea typeface="Aptos"/>
                <a:cs typeface="Aptos"/>
              </a:defRPr>
            </a:pPr>
            <a:r>
              <a:rPr sz="900">
                <a:latin typeface="Aptos"/>
              </a:rPr>
              <a:t>root cause, confidence and severity tuning</a:t>
            </a:r>
          </a:p>
        </p:txBody>
      </p:sp>
      <p:sp>
        <p:nvSpPr>
          <p:cNvPr id="21" name="Rectangle 20">
            <a:extLst>
              <a:ext uri="{FF2B5EF4-FFF2-40B4-BE49-F238E27FC236}">
                <a16:creationId xmlns:a16="http://schemas.microsoft.com/office/drawing/2014/main" id="{464B2982-8377-495C-A48F-D5A7EF088A5E}"/>
              </a:ext>
            </a:extLst>
          </p:cNvPr>
          <p:cNvSpPr>
            <a:spLocks noGrp="1"/>
          </p:cNvSpPr>
          <p:nvPr/>
        </p:nvSpPr>
        <p:spPr>
          <a:xfrm>
            <a:off x="6324600" y="3790950"/>
            <a:ext cx="3200400" cy="19050"/>
          </a:xfrm>
          <a:prstGeom prst="rect">
            <a:avLst/>
          </a:prstGeom>
          <a:solidFill>
            <a:srgbClr val="D98C00"/>
          </a:solidFill>
          <a:ln w="0">
            <a:solidFill>
              <a:srgbClr val="000000">
                <a:alpha val="0"/>
              </a:srgbClr>
            </a:solidFill>
            <a:prstDash val="solid"/>
          </a:ln>
        </p:spPr>
        <p:txBody>
          <a:bodyPr/>
          <a:lstStyle/>
          <a:p>
            <a:endParaRPr/>
          </a:p>
        </p:txBody>
      </p:sp>
      <p:sp>
        <p:nvSpPr>
          <p:cNvPr id="22" name="Rounded Rectangle 21">
            <a:extLst>
              <a:ext uri="{FF2B5EF4-FFF2-40B4-BE49-F238E27FC236}">
                <a16:creationId xmlns:a16="http://schemas.microsoft.com/office/drawing/2014/main" id="{5B6F8974-F932-4E22-B4C9-322FA47D884F}"/>
              </a:ext>
            </a:extLst>
          </p:cNvPr>
          <p:cNvSpPr>
            <a:spLocks noGrp="1"/>
          </p:cNvSpPr>
          <p:nvPr/>
        </p:nvSpPr>
        <p:spPr>
          <a:xfrm>
            <a:off x="6134100" y="3581400"/>
            <a:ext cx="304800" cy="304800"/>
          </a:xfrm>
          <a:prstGeom prst="roundRect">
            <a:avLst>
              <a:gd name="adj" fmla="val 25000"/>
            </a:avLst>
          </a:prstGeom>
          <a:solidFill>
            <a:srgbClr val="2B5F9E"/>
          </a:solidFill>
          <a:ln w="0">
            <a:solidFill>
              <a:srgbClr val="000000">
                <a:alpha val="0"/>
              </a:srgbClr>
            </a:solidFill>
            <a:prstDash val="solid"/>
          </a:ln>
        </p:spPr>
        <p:txBody>
          <a:bodyPr/>
          <a:lstStyle/>
          <a:p>
            <a:endParaRPr/>
          </a:p>
        </p:txBody>
      </p:sp>
      <p:sp>
        <p:nvSpPr>
          <p:cNvPr id="23" name="Rectangle 22">
            <a:extLst>
              <a:ext uri="{FF2B5EF4-FFF2-40B4-BE49-F238E27FC236}">
                <a16:creationId xmlns:a16="http://schemas.microsoft.com/office/drawing/2014/main" id="{F80F4A85-EE5E-4008-B52D-A506B44F6456}"/>
              </a:ext>
            </a:extLst>
          </p:cNvPr>
          <p:cNvSpPr>
            <a:spLocks noGrp="1"/>
          </p:cNvSpPr>
          <p:nvPr/>
        </p:nvSpPr>
        <p:spPr>
          <a:xfrm>
            <a:off x="6648450" y="356235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Scaled system</a:t>
            </a:r>
          </a:p>
        </p:txBody>
      </p:sp>
      <p:sp>
        <p:nvSpPr>
          <p:cNvPr id="24" name="Rectangle 23">
            <a:extLst>
              <a:ext uri="{FF2B5EF4-FFF2-40B4-BE49-F238E27FC236}">
                <a16:creationId xmlns:a16="http://schemas.microsoft.com/office/drawing/2014/main" id="{EC473BEE-C648-4AFF-8A67-26B005BBAC4F}"/>
              </a:ext>
            </a:extLst>
          </p:cNvPr>
          <p:cNvSpPr>
            <a:spLocks noGrp="1"/>
          </p:cNvSpPr>
          <p:nvPr/>
        </p:nvSpPr>
        <p:spPr>
          <a:xfrm>
            <a:off x="6648450" y="3810000"/>
            <a:ext cx="34290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C9D5DF"/>
                </a:solidFill>
                <a:latin typeface="Aptos"/>
                <a:ea typeface="Aptos"/>
                <a:cs typeface="Aptos"/>
              </a:defRPr>
            </a:pPr>
            <a:r>
              <a:rPr sz="900">
                <a:latin typeface="Aptos"/>
              </a:rPr>
              <a:t>edge-cloud monitoring + mobile alerts + KPIs</a:t>
            </a:r>
          </a:p>
        </p:txBody>
      </p:sp>
      <p:sp>
        <p:nvSpPr>
          <p:cNvPr id="25" name="Rectangle 24">
            <a:extLst>
              <a:ext uri="{FF2B5EF4-FFF2-40B4-BE49-F238E27FC236}">
                <a16:creationId xmlns:a16="http://schemas.microsoft.com/office/drawing/2014/main" id="{28540D0A-97F7-47D1-B293-E69017B10F86}"/>
              </a:ext>
            </a:extLst>
          </p:cNvPr>
          <p:cNvSpPr>
            <a:spLocks noGrp="1"/>
          </p:cNvSpPr>
          <p:nvPr/>
        </p:nvSpPr>
        <p:spPr>
          <a:xfrm>
            <a:off x="6324600" y="4305300"/>
            <a:ext cx="3200400" cy="19050"/>
          </a:xfrm>
          <a:prstGeom prst="rect">
            <a:avLst/>
          </a:prstGeom>
          <a:solidFill>
            <a:srgbClr val="000000">
              <a:alpha val="0"/>
            </a:srgbClr>
          </a:solidFill>
          <a:ln w="0">
            <a:solidFill>
              <a:srgbClr val="000000">
                <a:alpha val="0"/>
              </a:srgbClr>
            </a:solidFill>
            <a:prstDash val="solid"/>
          </a:ln>
        </p:spPr>
        <p:txBody>
          <a:bodyPr/>
          <a:lstStyle/>
          <a:p>
            <a:endParaRPr/>
          </a:p>
        </p:txBody>
      </p:sp>
      <p:sp>
        <p:nvSpPr>
          <p:cNvPr id="26" name="Rounded Rectangle 25">
            <a:extLst>
              <a:ext uri="{FF2B5EF4-FFF2-40B4-BE49-F238E27FC236}">
                <a16:creationId xmlns:a16="http://schemas.microsoft.com/office/drawing/2014/main" id="{CDA0DA1B-74D2-4457-965B-622D387063C2}"/>
              </a:ext>
            </a:extLst>
          </p:cNvPr>
          <p:cNvSpPr>
            <a:spLocks noGrp="1"/>
          </p:cNvSpPr>
          <p:nvPr/>
        </p:nvSpPr>
        <p:spPr>
          <a:xfrm>
            <a:off x="6134100" y="4171950"/>
            <a:ext cx="304800" cy="304800"/>
          </a:xfrm>
          <a:prstGeom prst="roundRect">
            <a:avLst>
              <a:gd name="adj" fmla="val 25000"/>
            </a:avLst>
          </a:prstGeom>
          <a:solidFill>
            <a:srgbClr val="2E7D4F"/>
          </a:solidFill>
          <a:ln w="0">
            <a:solidFill>
              <a:srgbClr val="000000">
                <a:alpha val="0"/>
              </a:srgbClr>
            </a:solidFill>
            <a:prstDash val="solid"/>
          </a:ln>
        </p:spPr>
        <p:txBody>
          <a:bodyPr/>
          <a:lstStyle/>
          <a:p>
            <a:endParaRPr/>
          </a:p>
        </p:txBody>
      </p:sp>
      <p:sp>
        <p:nvSpPr>
          <p:cNvPr id="27" name="Rectangle 26">
            <a:extLst>
              <a:ext uri="{FF2B5EF4-FFF2-40B4-BE49-F238E27FC236}">
                <a16:creationId xmlns:a16="http://schemas.microsoft.com/office/drawing/2014/main" id="{7C95EEFE-D58F-4B5C-81BA-D278BDA047F0}"/>
              </a:ext>
            </a:extLst>
          </p:cNvPr>
          <p:cNvSpPr>
            <a:spLocks noGrp="1"/>
          </p:cNvSpPr>
          <p:nvPr/>
        </p:nvSpPr>
        <p:spPr>
          <a:xfrm>
            <a:off x="6648450" y="415290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Research</a:t>
            </a:r>
          </a:p>
        </p:txBody>
      </p:sp>
      <p:sp>
        <p:nvSpPr>
          <p:cNvPr id="28" name="Rectangle 27">
            <a:extLst>
              <a:ext uri="{FF2B5EF4-FFF2-40B4-BE49-F238E27FC236}">
                <a16:creationId xmlns:a16="http://schemas.microsoft.com/office/drawing/2014/main" id="{60EF5A68-E545-4648-805C-A939BC461907}"/>
              </a:ext>
            </a:extLst>
          </p:cNvPr>
          <p:cNvSpPr>
            <a:spLocks noGrp="1"/>
          </p:cNvSpPr>
          <p:nvPr/>
        </p:nvSpPr>
        <p:spPr>
          <a:xfrm>
            <a:off x="6648450" y="4400550"/>
            <a:ext cx="34290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975" b="0">
                <a:solidFill>
                  <a:srgbClr val="C9D5DF"/>
                </a:solidFill>
                <a:latin typeface="Aptos"/>
                <a:ea typeface="Aptos"/>
                <a:cs typeface="Aptos"/>
              </a:defRPr>
            </a:pPr>
            <a:r>
              <a:rPr sz="900">
                <a:latin typeface="Aptos"/>
              </a:rPr>
              <a:t>remaining useful life + maintenance workflow integration</a:t>
            </a:r>
          </a:p>
        </p:txBody>
      </p:sp>
      <p:sp>
        <p:nvSpPr>
          <p:cNvPr id="29" name="Rectangle 28">
            <a:extLst>
              <a:ext uri="{FF2B5EF4-FFF2-40B4-BE49-F238E27FC236}">
                <a16:creationId xmlns:a16="http://schemas.microsoft.com/office/drawing/2014/main" id="{661C7132-E2A5-404F-813F-97C6803F0E0B}"/>
              </a:ext>
            </a:extLst>
          </p:cNvPr>
          <p:cNvSpPr>
            <a:spLocks noGrp="1"/>
          </p:cNvSpPr>
          <p:nvPr/>
        </p:nvSpPr>
        <p:spPr>
          <a:xfrm>
            <a:off x="1352550" y="5619750"/>
            <a:ext cx="88201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17212B"/>
                </a:solidFill>
                <a:latin typeface="Aptos"/>
                <a:ea typeface="Aptos"/>
                <a:cs typeface="Aptos"/>
              </a:defRPr>
            </a:pPr>
            <a:r>
              <a:rPr sz="1650" b="1">
                <a:solidFill>
                  <a:srgbClr val="17212B"/>
                </a:solidFill>
                <a:latin typeface="Aptos"/>
                <a:ea typeface="Aptos"/>
                <a:cs typeface="Aptos"/>
              </a:rPr>
              <a:t>Limitation does not weaken the idea; it defines the validation path.</a:t>
            </a:r>
          </a:p>
        </p:txBody>
      </p:sp>
    </p:spTree>
    <p:extLst>
      <p:ext uri="{BB962C8B-B14F-4D97-AF65-F5344CB8AC3E}">
        <p14:creationId xmlns:p14="http://schemas.microsoft.com/office/powerpoint/2010/main" val="4228541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6514BEA4-B06D-46AE-87E3-8675132FCB3E}"/>
              </a:ext>
            </a:extLst>
          </p:cNvPr>
          <p:cNvSpPr>
            <a:spLocks noGrp="1"/>
          </p:cNvSpPr>
          <p:nvPr/>
        </p:nvSpPr>
        <p:spPr>
          <a:xfrm>
            <a:off x="0" y="0"/>
            <a:ext cx="12192000" cy="6858000"/>
          </a:xfrm>
          <a:prstGeom prst="rect">
            <a:avLst/>
          </a:prstGeom>
          <a:solidFill>
            <a:srgbClr val="F7F4EE"/>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F2D7CADF-C17D-4B78-9CBF-A14934BBDC34}"/>
              </a:ext>
            </a:extLst>
          </p:cNvPr>
          <p:cNvSpPr>
            <a:spLocks noGrp="1"/>
          </p:cNvSpPr>
          <p:nvPr/>
        </p:nvSpPr>
        <p:spPr>
          <a:xfrm>
            <a:off x="533400" y="361950"/>
            <a:ext cx="266700" cy="38100"/>
          </a:xfrm>
          <a:prstGeom prst="rect">
            <a:avLst/>
          </a:prstGeom>
          <a:solidFill>
            <a:srgbClr val="0B7A75"/>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6595D8B9-827B-4747-84BE-64BC89AE0242}"/>
              </a:ext>
            </a:extLst>
          </p:cNvPr>
          <p:cNvSpPr>
            <a:spLocks noGrp="1"/>
          </p:cNvSpPr>
          <p:nvPr/>
        </p:nvSpPr>
        <p:spPr>
          <a:xfrm>
            <a:off x="895350" y="247650"/>
            <a:ext cx="3429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57487"/>
                </a:solidFill>
                <a:latin typeface="Aptos"/>
                <a:ea typeface="Aptos"/>
                <a:cs typeface="Aptos"/>
              </a:defRPr>
            </a:pPr>
            <a:r>
              <a:rPr sz="975" b="1">
                <a:solidFill>
                  <a:srgbClr val="657487"/>
                </a:solidFill>
                <a:latin typeface="Aptos"/>
                <a:ea typeface="Aptos"/>
                <a:cs typeface="Aptos"/>
              </a:rPr>
              <a:t>CONCLUSION</a:t>
            </a:r>
          </a:p>
        </p:txBody>
      </p:sp>
      <p:sp>
        <p:nvSpPr>
          <p:cNvPr id="4" name="Rectangle 3">
            <a:extLst>
              <a:ext uri="{FF2B5EF4-FFF2-40B4-BE49-F238E27FC236}">
                <a16:creationId xmlns:a16="http://schemas.microsoft.com/office/drawing/2014/main" id="{234A3EAC-1DA3-4BAE-AB83-CE22B51DFEAA}"/>
              </a:ext>
            </a:extLst>
          </p:cNvPr>
          <p:cNvSpPr>
            <a:spLocks noGrp="1"/>
          </p:cNvSpPr>
          <p:nvPr/>
        </p:nvSpPr>
        <p:spPr>
          <a:xfrm>
            <a:off x="533400" y="590550"/>
            <a:ext cx="7239000" cy="7429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2550" b="1">
                <a:solidFill>
                  <a:srgbClr val="17212B"/>
                </a:solidFill>
                <a:latin typeface="Aptos Display"/>
                <a:ea typeface="Aptos Display"/>
                <a:cs typeface="Aptos Display"/>
              </a:defRPr>
            </a:pPr>
            <a:r>
              <a:rPr sz="2600">
                <a:latin typeface="Aptos"/>
              </a:rPr>
              <a:t>The project demonstrates the full loop from multi-sensor monitoring to maintenance decision support.</a:t>
            </a:r>
          </a:p>
        </p:txBody>
      </p:sp>
      <p:sp>
        <p:nvSpPr>
          <p:cNvPr id="5" name="Rectangle 4">
            <a:extLst>
              <a:ext uri="{FF2B5EF4-FFF2-40B4-BE49-F238E27FC236}">
                <a16:creationId xmlns:a16="http://schemas.microsoft.com/office/drawing/2014/main" id="{FE8BC8CA-F35F-47E7-9C8C-398CD27A0F5A}"/>
              </a:ext>
            </a:extLst>
          </p:cNvPr>
          <p:cNvSpPr>
            <a:spLocks noGrp="1"/>
          </p:cNvSpPr>
          <p:nvPr/>
        </p:nvSpPr>
        <p:spPr>
          <a:xfrm>
            <a:off x="8001000" y="552450"/>
            <a:ext cx="342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200" b="0">
                <a:solidFill>
                  <a:srgbClr val="657487"/>
                </a:solidFill>
                <a:latin typeface="Aptos"/>
                <a:ea typeface="Aptos"/>
                <a:cs typeface="Aptos"/>
              </a:defRPr>
            </a:pPr>
            <a:r>
              <a:rPr sz="1200" b="0">
                <a:solidFill>
                  <a:srgbClr val="657487"/>
                </a:solidFill>
                <a:latin typeface="Aptos"/>
                <a:ea typeface="Aptos"/>
                <a:cs typeface="Aptos"/>
              </a:rPr>
              <a:t>Key takeaways.</a:t>
            </a:r>
          </a:p>
        </p:txBody>
      </p:sp>
      <p:sp>
        <p:nvSpPr>
          <p:cNvPr id="6" name="Rectangle 5">
            <a:extLst>
              <a:ext uri="{FF2B5EF4-FFF2-40B4-BE49-F238E27FC236}">
                <a16:creationId xmlns:a16="http://schemas.microsoft.com/office/drawing/2014/main" id="{E1BEDA3C-6C7D-4A92-A69A-9DCB4FF4397C}"/>
              </a:ext>
            </a:extLst>
          </p:cNvPr>
          <p:cNvSpPr>
            <a:spLocks noGrp="1"/>
          </p:cNvSpPr>
          <p:nvPr/>
        </p:nvSpPr>
        <p:spPr>
          <a:xfrm>
            <a:off x="533400" y="6496050"/>
            <a:ext cx="666750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750" b="0">
                <a:solidFill>
                  <a:srgbClr val="8793A2"/>
                </a:solidFill>
                <a:latin typeface="Aptos"/>
                <a:ea typeface="Aptos"/>
                <a:cs typeface="Aptos"/>
              </a:defRPr>
            </a:pPr>
            <a:r>
              <a:rPr sz="900">
                <a:latin typeface="Aptos"/>
              </a:rPr>
              <a:t>Smart Predictive Maintenance Decision-Support System</a:t>
            </a:r>
          </a:p>
        </p:txBody>
      </p:sp>
      <p:sp>
        <p:nvSpPr>
          <p:cNvPr id="7" name="Rectangle 6">
            <a:extLst>
              <a:ext uri="{FF2B5EF4-FFF2-40B4-BE49-F238E27FC236}">
                <a16:creationId xmlns:a16="http://schemas.microsoft.com/office/drawing/2014/main" id="{56A300E6-7B8E-4865-ACF8-B296155CFEAF}"/>
              </a:ext>
            </a:extLst>
          </p:cNvPr>
          <p:cNvSpPr>
            <a:spLocks noGrp="1"/>
          </p:cNvSpPr>
          <p:nvPr/>
        </p:nvSpPr>
        <p:spPr>
          <a:xfrm>
            <a:off x="11277600" y="6477000"/>
            <a:ext cx="381000" cy="2095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r">
              <a:defRPr sz="900" b="0">
                <a:solidFill>
                  <a:srgbClr val="8793A2"/>
                </a:solidFill>
                <a:latin typeface="Aptos"/>
                <a:ea typeface="Aptos"/>
                <a:cs typeface="Aptos"/>
              </a:defRPr>
            </a:pPr>
            <a:r>
              <a:rPr sz="900">
                <a:latin typeface="Aptos"/>
              </a:rPr>
              <a:t>14</a:t>
            </a:r>
          </a:p>
        </p:txBody>
      </p:sp>
      <p:sp>
        <p:nvSpPr>
          <p:cNvPr id="8" name="Rounded Rectangle 7">
            <a:extLst>
              <a:ext uri="{FF2B5EF4-FFF2-40B4-BE49-F238E27FC236}">
                <a16:creationId xmlns:a16="http://schemas.microsoft.com/office/drawing/2014/main" id="{42678EBD-6EEC-4DE3-8916-C95D6DA8F334}"/>
              </a:ext>
            </a:extLst>
          </p:cNvPr>
          <p:cNvSpPr>
            <a:spLocks noGrp="1"/>
          </p:cNvSpPr>
          <p:nvPr/>
        </p:nvSpPr>
        <p:spPr>
          <a:xfrm>
            <a:off x="1504950" y="2333625"/>
            <a:ext cx="1619250" cy="895350"/>
          </a:xfrm>
          <a:prstGeom prst="roundRect">
            <a:avLst>
              <a:gd name="adj" fmla="val 8511"/>
            </a:avLst>
          </a:prstGeom>
          <a:solidFill>
            <a:srgbClr val="D8F0EC"/>
          </a:solidFill>
          <a:ln w="9525">
            <a:solidFill>
              <a:srgbClr val="0B7A75"/>
            </a:solidFill>
            <a:prstDash val="solid"/>
          </a:ln>
        </p:spPr>
        <p:txBody>
          <a:bodyPr/>
          <a:lstStyle/>
          <a:p>
            <a:endParaRPr/>
          </a:p>
        </p:txBody>
      </p:sp>
      <p:sp>
        <p:nvSpPr>
          <p:cNvPr id="9" name="Rectangle 8">
            <a:extLst>
              <a:ext uri="{FF2B5EF4-FFF2-40B4-BE49-F238E27FC236}">
                <a16:creationId xmlns:a16="http://schemas.microsoft.com/office/drawing/2014/main" id="{3B403243-F254-4F48-9FFA-0D6E12D996E4}"/>
              </a:ext>
            </a:extLst>
          </p:cNvPr>
          <p:cNvSpPr>
            <a:spLocks noGrp="1"/>
          </p:cNvSpPr>
          <p:nvPr/>
        </p:nvSpPr>
        <p:spPr>
          <a:xfrm>
            <a:off x="1504950" y="2333625"/>
            <a:ext cx="57150" cy="895350"/>
          </a:xfrm>
          <a:prstGeom prst="rect">
            <a:avLst/>
          </a:prstGeom>
          <a:solidFill>
            <a:srgbClr val="0B7A75"/>
          </a:solidFill>
          <a:ln w="0">
            <a:solidFill>
              <a:srgbClr val="000000">
                <a:alpha val="0"/>
              </a:srgbClr>
            </a:solidFill>
            <a:prstDash val="solid"/>
          </a:ln>
        </p:spPr>
        <p:txBody>
          <a:bodyPr/>
          <a:lstStyle/>
          <a:p>
            <a:endParaRPr/>
          </a:p>
        </p:txBody>
      </p:sp>
      <p:sp>
        <p:nvSpPr>
          <p:cNvPr id="10" name="Rectangle 9">
            <a:extLst>
              <a:ext uri="{FF2B5EF4-FFF2-40B4-BE49-F238E27FC236}">
                <a16:creationId xmlns:a16="http://schemas.microsoft.com/office/drawing/2014/main" id="{4B8F31CC-3004-4AF6-95A7-38BA52CB6F1E}"/>
              </a:ext>
            </a:extLst>
          </p:cNvPr>
          <p:cNvSpPr>
            <a:spLocks noGrp="1"/>
          </p:cNvSpPr>
          <p:nvPr/>
        </p:nvSpPr>
        <p:spPr>
          <a:xfrm>
            <a:off x="1657350" y="2466975"/>
            <a:ext cx="1314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1650" b="1">
                <a:solidFill>
                  <a:srgbClr val="17212B"/>
                </a:solidFill>
                <a:latin typeface="Aptos"/>
                <a:ea typeface="Aptos"/>
                <a:cs typeface="Aptos"/>
              </a:rPr>
              <a:t>Sense</a:t>
            </a:r>
          </a:p>
        </p:txBody>
      </p:sp>
      <p:sp>
        <p:nvSpPr>
          <p:cNvPr id="11" name="Rectangle 10">
            <a:extLst>
              <a:ext uri="{FF2B5EF4-FFF2-40B4-BE49-F238E27FC236}">
                <a16:creationId xmlns:a16="http://schemas.microsoft.com/office/drawing/2014/main" id="{DFB39CEC-5E5F-439D-8C1B-1F160881F5CA}"/>
              </a:ext>
            </a:extLst>
          </p:cNvPr>
          <p:cNvSpPr>
            <a:spLocks noGrp="1"/>
          </p:cNvSpPr>
          <p:nvPr/>
        </p:nvSpPr>
        <p:spPr>
          <a:xfrm>
            <a:off x="1657350" y="2733675"/>
            <a:ext cx="1314450" cy="4191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050" b="0">
                <a:solidFill>
                  <a:srgbClr val="657487"/>
                </a:solidFill>
                <a:latin typeface="Aptos"/>
                <a:ea typeface="Aptos"/>
                <a:cs typeface="Aptos"/>
              </a:defRPr>
            </a:pPr>
            <a:r>
              <a:rPr sz="1000">
                <a:latin typeface="Aptos"/>
              </a:rPr>
              <a:t>vibration + temp readings</a:t>
            </a:r>
          </a:p>
        </p:txBody>
      </p:sp>
      <p:sp>
        <p:nvSpPr>
          <p:cNvPr id="12" name="Rectangle 11">
            <a:extLst>
              <a:ext uri="{FF2B5EF4-FFF2-40B4-BE49-F238E27FC236}">
                <a16:creationId xmlns:a16="http://schemas.microsoft.com/office/drawing/2014/main" id="{A6EDFC99-082C-4D8D-83F9-F612CCAAB5F7}"/>
              </a:ext>
            </a:extLst>
          </p:cNvPr>
          <p:cNvSpPr>
            <a:spLocks noGrp="1"/>
          </p:cNvSpPr>
          <p:nvPr/>
        </p:nvSpPr>
        <p:spPr>
          <a:xfrm>
            <a:off x="3162300" y="2667000"/>
            <a:ext cx="590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13" name="Rounded Rectangle 12">
            <a:extLst>
              <a:ext uri="{FF2B5EF4-FFF2-40B4-BE49-F238E27FC236}">
                <a16:creationId xmlns:a16="http://schemas.microsoft.com/office/drawing/2014/main" id="{72AC5443-E082-4E57-B7CD-ABDDEEAE1A23}"/>
              </a:ext>
            </a:extLst>
          </p:cNvPr>
          <p:cNvSpPr>
            <a:spLocks noGrp="1"/>
          </p:cNvSpPr>
          <p:nvPr/>
        </p:nvSpPr>
        <p:spPr>
          <a:xfrm>
            <a:off x="4076700" y="2333625"/>
            <a:ext cx="1619250" cy="895350"/>
          </a:xfrm>
          <a:prstGeom prst="roundRect">
            <a:avLst>
              <a:gd name="adj" fmla="val 8511"/>
            </a:avLst>
          </a:prstGeom>
          <a:solidFill>
            <a:srgbClr val="FFF0D2"/>
          </a:solidFill>
          <a:ln w="9525">
            <a:solidFill>
              <a:srgbClr val="D98C00"/>
            </a:solidFill>
            <a:prstDash val="solid"/>
          </a:ln>
        </p:spPr>
        <p:txBody>
          <a:bodyPr/>
          <a:lstStyle/>
          <a:p>
            <a:endParaRPr/>
          </a:p>
        </p:txBody>
      </p:sp>
      <p:sp>
        <p:nvSpPr>
          <p:cNvPr id="14" name="Rectangle 13">
            <a:extLst>
              <a:ext uri="{FF2B5EF4-FFF2-40B4-BE49-F238E27FC236}">
                <a16:creationId xmlns:a16="http://schemas.microsoft.com/office/drawing/2014/main" id="{56D6B808-6410-468C-ACCE-FC44DBBE3AAB}"/>
              </a:ext>
            </a:extLst>
          </p:cNvPr>
          <p:cNvSpPr>
            <a:spLocks noGrp="1"/>
          </p:cNvSpPr>
          <p:nvPr/>
        </p:nvSpPr>
        <p:spPr>
          <a:xfrm>
            <a:off x="4076700" y="2333625"/>
            <a:ext cx="57150" cy="895350"/>
          </a:xfrm>
          <a:prstGeom prst="rect">
            <a:avLst/>
          </a:prstGeom>
          <a:solidFill>
            <a:srgbClr val="D98C00"/>
          </a:solidFill>
          <a:ln w="0">
            <a:solidFill>
              <a:srgbClr val="000000">
                <a:alpha val="0"/>
              </a:srgbClr>
            </a:solidFill>
            <a:prstDash val="solid"/>
          </a:ln>
        </p:spPr>
        <p:txBody>
          <a:bodyPr/>
          <a:lstStyle/>
          <a:p>
            <a:endParaRPr/>
          </a:p>
        </p:txBody>
      </p:sp>
      <p:sp>
        <p:nvSpPr>
          <p:cNvPr id="15" name="Rectangle 14">
            <a:extLst>
              <a:ext uri="{FF2B5EF4-FFF2-40B4-BE49-F238E27FC236}">
                <a16:creationId xmlns:a16="http://schemas.microsoft.com/office/drawing/2014/main" id="{4B16CFC9-8655-497C-93F7-D7BDAA1DA73D}"/>
              </a:ext>
            </a:extLst>
          </p:cNvPr>
          <p:cNvSpPr>
            <a:spLocks noGrp="1"/>
          </p:cNvSpPr>
          <p:nvPr/>
        </p:nvSpPr>
        <p:spPr>
          <a:xfrm>
            <a:off x="4229100" y="2466975"/>
            <a:ext cx="1314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1650" b="1">
                <a:solidFill>
                  <a:srgbClr val="17212B"/>
                </a:solidFill>
                <a:latin typeface="Aptos"/>
                <a:ea typeface="Aptos"/>
                <a:cs typeface="Aptos"/>
              </a:rPr>
              <a:t>Analyze</a:t>
            </a:r>
          </a:p>
        </p:txBody>
      </p:sp>
      <p:sp>
        <p:nvSpPr>
          <p:cNvPr id="16" name="Rectangle 15">
            <a:extLst>
              <a:ext uri="{FF2B5EF4-FFF2-40B4-BE49-F238E27FC236}">
                <a16:creationId xmlns:a16="http://schemas.microsoft.com/office/drawing/2014/main" id="{BF872AE9-DC2A-4187-84A1-9DB7C94E63EB}"/>
              </a:ext>
            </a:extLst>
          </p:cNvPr>
          <p:cNvSpPr>
            <a:spLocks noGrp="1"/>
          </p:cNvSpPr>
          <p:nvPr/>
        </p:nvSpPr>
        <p:spPr>
          <a:xfrm>
            <a:off x="4229100" y="2733675"/>
            <a:ext cx="1314450" cy="4191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050" b="0">
                <a:solidFill>
                  <a:srgbClr val="657487"/>
                </a:solidFill>
                <a:latin typeface="Aptos"/>
                <a:ea typeface="Aptos"/>
                <a:cs typeface="Aptos"/>
              </a:defRPr>
            </a:pPr>
            <a:r>
              <a:rPr sz="1000">
                <a:latin typeface="Aptos"/>
              </a:rPr>
              <a:t>features + model/rules</a:t>
            </a:r>
          </a:p>
        </p:txBody>
      </p:sp>
      <p:sp>
        <p:nvSpPr>
          <p:cNvPr id="17" name="Rectangle 16">
            <a:extLst>
              <a:ext uri="{FF2B5EF4-FFF2-40B4-BE49-F238E27FC236}">
                <a16:creationId xmlns:a16="http://schemas.microsoft.com/office/drawing/2014/main" id="{E27A25D2-61FC-4BC6-AC42-16DB39505267}"/>
              </a:ext>
            </a:extLst>
          </p:cNvPr>
          <p:cNvSpPr>
            <a:spLocks noGrp="1"/>
          </p:cNvSpPr>
          <p:nvPr/>
        </p:nvSpPr>
        <p:spPr>
          <a:xfrm>
            <a:off x="5734050" y="2667000"/>
            <a:ext cx="590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18" name="Rounded Rectangle 17">
            <a:extLst>
              <a:ext uri="{FF2B5EF4-FFF2-40B4-BE49-F238E27FC236}">
                <a16:creationId xmlns:a16="http://schemas.microsoft.com/office/drawing/2014/main" id="{0D9A6155-C01A-40B1-AA62-BE52092F4476}"/>
              </a:ext>
            </a:extLst>
          </p:cNvPr>
          <p:cNvSpPr>
            <a:spLocks noGrp="1"/>
          </p:cNvSpPr>
          <p:nvPr/>
        </p:nvSpPr>
        <p:spPr>
          <a:xfrm>
            <a:off x="6648450" y="2333625"/>
            <a:ext cx="1619250" cy="895350"/>
          </a:xfrm>
          <a:prstGeom prst="roundRect">
            <a:avLst>
              <a:gd name="adj" fmla="val 8511"/>
            </a:avLst>
          </a:prstGeom>
          <a:solidFill>
            <a:srgbClr val="FBE1DE"/>
          </a:solidFill>
          <a:ln w="9525">
            <a:solidFill>
              <a:srgbClr val="C2413B"/>
            </a:solidFill>
            <a:prstDash val="solid"/>
          </a:ln>
        </p:spPr>
        <p:txBody>
          <a:bodyPr/>
          <a:lstStyle/>
          <a:p>
            <a:endParaRPr/>
          </a:p>
        </p:txBody>
      </p:sp>
      <p:sp>
        <p:nvSpPr>
          <p:cNvPr id="19" name="Rectangle 18">
            <a:extLst>
              <a:ext uri="{FF2B5EF4-FFF2-40B4-BE49-F238E27FC236}">
                <a16:creationId xmlns:a16="http://schemas.microsoft.com/office/drawing/2014/main" id="{A4F2311D-26F4-43E5-A23D-D95155FEB1F9}"/>
              </a:ext>
            </a:extLst>
          </p:cNvPr>
          <p:cNvSpPr>
            <a:spLocks noGrp="1"/>
          </p:cNvSpPr>
          <p:nvPr/>
        </p:nvSpPr>
        <p:spPr>
          <a:xfrm>
            <a:off x="6648450" y="2333625"/>
            <a:ext cx="57150" cy="895350"/>
          </a:xfrm>
          <a:prstGeom prst="rect">
            <a:avLst/>
          </a:prstGeom>
          <a:solidFill>
            <a:srgbClr val="C2413B"/>
          </a:solidFill>
          <a:ln w="0">
            <a:solidFill>
              <a:srgbClr val="000000">
                <a:alpha val="0"/>
              </a:srgbClr>
            </a:solidFill>
            <a:prstDash val="solid"/>
          </a:ln>
        </p:spPr>
        <p:txBody>
          <a:bodyPr/>
          <a:lstStyle/>
          <a:p>
            <a:endParaRPr/>
          </a:p>
        </p:txBody>
      </p:sp>
      <p:sp>
        <p:nvSpPr>
          <p:cNvPr id="20" name="Rectangle 19">
            <a:extLst>
              <a:ext uri="{FF2B5EF4-FFF2-40B4-BE49-F238E27FC236}">
                <a16:creationId xmlns:a16="http://schemas.microsoft.com/office/drawing/2014/main" id="{9A552013-9DB7-4016-A94B-C2B6F5188368}"/>
              </a:ext>
            </a:extLst>
          </p:cNvPr>
          <p:cNvSpPr>
            <a:spLocks noGrp="1"/>
          </p:cNvSpPr>
          <p:nvPr/>
        </p:nvSpPr>
        <p:spPr>
          <a:xfrm>
            <a:off x="6800850" y="2466975"/>
            <a:ext cx="1314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1650" b="1">
                <a:solidFill>
                  <a:srgbClr val="17212B"/>
                </a:solidFill>
                <a:latin typeface="Aptos"/>
                <a:ea typeface="Aptos"/>
                <a:cs typeface="Aptos"/>
              </a:rPr>
              <a:t>Alert</a:t>
            </a:r>
          </a:p>
        </p:txBody>
      </p:sp>
      <p:sp>
        <p:nvSpPr>
          <p:cNvPr id="21" name="Rectangle 20">
            <a:extLst>
              <a:ext uri="{FF2B5EF4-FFF2-40B4-BE49-F238E27FC236}">
                <a16:creationId xmlns:a16="http://schemas.microsoft.com/office/drawing/2014/main" id="{15F9F261-BAE5-4D3A-AE2A-2E01DE875C00}"/>
              </a:ext>
            </a:extLst>
          </p:cNvPr>
          <p:cNvSpPr>
            <a:spLocks noGrp="1"/>
          </p:cNvSpPr>
          <p:nvPr/>
        </p:nvSpPr>
        <p:spPr>
          <a:xfrm>
            <a:off x="6800850" y="2733675"/>
            <a:ext cx="1314450" cy="4191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050" b="0">
                <a:solidFill>
                  <a:srgbClr val="657487"/>
                </a:solidFill>
                <a:latin typeface="Aptos"/>
                <a:ea typeface="Aptos"/>
                <a:cs typeface="Aptos"/>
              </a:defRPr>
            </a:pPr>
            <a:r>
              <a:rPr sz="1000">
                <a:latin typeface="Aptos"/>
              </a:rPr>
              <a:t>risk + probable cause</a:t>
            </a:r>
          </a:p>
        </p:txBody>
      </p:sp>
      <p:sp>
        <p:nvSpPr>
          <p:cNvPr id="22" name="Rectangle 21">
            <a:extLst>
              <a:ext uri="{FF2B5EF4-FFF2-40B4-BE49-F238E27FC236}">
                <a16:creationId xmlns:a16="http://schemas.microsoft.com/office/drawing/2014/main" id="{23EBD437-2320-410A-B6C8-FE0E2B60123F}"/>
              </a:ext>
            </a:extLst>
          </p:cNvPr>
          <p:cNvSpPr>
            <a:spLocks noGrp="1"/>
          </p:cNvSpPr>
          <p:nvPr/>
        </p:nvSpPr>
        <p:spPr>
          <a:xfrm>
            <a:off x="8305800" y="2667000"/>
            <a:ext cx="590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657487"/>
                </a:solidFill>
                <a:latin typeface="Aptos"/>
                <a:ea typeface="Aptos"/>
                <a:cs typeface="Aptos"/>
              </a:defRPr>
            </a:pPr>
            <a:r>
              <a:rPr sz="1650" b="1">
                <a:solidFill>
                  <a:srgbClr val="657487"/>
                </a:solidFill>
                <a:latin typeface="Aptos"/>
                <a:ea typeface="Aptos"/>
                <a:cs typeface="Aptos"/>
              </a:rPr>
              <a:t>-&gt;</a:t>
            </a:r>
          </a:p>
        </p:txBody>
      </p:sp>
      <p:sp>
        <p:nvSpPr>
          <p:cNvPr id="23" name="Rounded Rectangle 22">
            <a:extLst>
              <a:ext uri="{FF2B5EF4-FFF2-40B4-BE49-F238E27FC236}">
                <a16:creationId xmlns:a16="http://schemas.microsoft.com/office/drawing/2014/main" id="{1F976A41-6493-4105-84B4-F3D0BEBB144D}"/>
              </a:ext>
            </a:extLst>
          </p:cNvPr>
          <p:cNvSpPr>
            <a:spLocks noGrp="1"/>
          </p:cNvSpPr>
          <p:nvPr/>
        </p:nvSpPr>
        <p:spPr>
          <a:xfrm>
            <a:off x="9220200" y="2333625"/>
            <a:ext cx="1619250" cy="895350"/>
          </a:xfrm>
          <a:prstGeom prst="roundRect">
            <a:avLst>
              <a:gd name="adj" fmla="val 8511"/>
            </a:avLst>
          </a:prstGeom>
          <a:solidFill>
            <a:srgbClr val="DFF2E6"/>
          </a:solidFill>
          <a:ln w="9525">
            <a:solidFill>
              <a:srgbClr val="2E7D4F"/>
            </a:solidFill>
            <a:prstDash val="solid"/>
          </a:ln>
        </p:spPr>
        <p:txBody>
          <a:bodyPr/>
          <a:lstStyle/>
          <a:p>
            <a:endParaRPr/>
          </a:p>
        </p:txBody>
      </p:sp>
      <p:sp>
        <p:nvSpPr>
          <p:cNvPr id="24" name="Rectangle 23">
            <a:extLst>
              <a:ext uri="{FF2B5EF4-FFF2-40B4-BE49-F238E27FC236}">
                <a16:creationId xmlns:a16="http://schemas.microsoft.com/office/drawing/2014/main" id="{E789CA96-E750-4610-BFFC-ACD3BFCF0B93}"/>
              </a:ext>
            </a:extLst>
          </p:cNvPr>
          <p:cNvSpPr>
            <a:spLocks noGrp="1"/>
          </p:cNvSpPr>
          <p:nvPr/>
        </p:nvSpPr>
        <p:spPr>
          <a:xfrm>
            <a:off x="9220200" y="2333625"/>
            <a:ext cx="57150" cy="895350"/>
          </a:xfrm>
          <a:prstGeom prst="rect">
            <a:avLst/>
          </a:prstGeom>
          <a:solidFill>
            <a:srgbClr val="2E7D4F"/>
          </a:solidFill>
          <a:ln w="0">
            <a:solidFill>
              <a:srgbClr val="000000">
                <a:alpha val="0"/>
              </a:srgbClr>
            </a:solidFill>
            <a:prstDash val="solid"/>
          </a:ln>
        </p:spPr>
        <p:txBody>
          <a:bodyPr/>
          <a:lstStyle/>
          <a:p>
            <a:endParaRPr/>
          </a:p>
        </p:txBody>
      </p:sp>
      <p:sp>
        <p:nvSpPr>
          <p:cNvPr id="25" name="Rectangle 24">
            <a:extLst>
              <a:ext uri="{FF2B5EF4-FFF2-40B4-BE49-F238E27FC236}">
                <a16:creationId xmlns:a16="http://schemas.microsoft.com/office/drawing/2014/main" id="{BB619266-AECB-4984-98E3-AD0B508C9032}"/>
              </a:ext>
            </a:extLst>
          </p:cNvPr>
          <p:cNvSpPr>
            <a:spLocks noGrp="1"/>
          </p:cNvSpPr>
          <p:nvPr/>
        </p:nvSpPr>
        <p:spPr>
          <a:xfrm>
            <a:off x="9372600" y="2466975"/>
            <a:ext cx="1314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12B"/>
                </a:solidFill>
                <a:latin typeface="Aptos"/>
                <a:ea typeface="Aptos"/>
                <a:cs typeface="Aptos"/>
              </a:defRPr>
            </a:pPr>
            <a:r>
              <a:rPr sz="1650" b="1">
                <a:solidFill>
                  <a:srgbClr val="17212B"/>
                </a:solidFill>
                <a:latin typeface="Aptos"/>
                <a:ea typeface="Aptos"/>
                <a:cs typeface="Aptos"/>
              </a:rPr>
              <a:t>Decide</a:t>
            </a:r>
          </a:p>
        </p:txBody>
      </p:sp>
      <p:sp>
        <p:nvSpPr>
          <p:cNvPr id="26" name="Rectangle 25">
            <a:extLst>
              <a:ext uri="{FF2B5EF4-FFF2-40B4-BE49-F238E27FC236}">
                <a16:creationId xmlns:a16="http://schemas.microsoft.com/office/drawing/2014/main" id="{1B00E493-636C-435E-BAE4-60078224BA5B}"/>
              </a:ext>
            </a:extLst>
          </p:cNvPr>
          <p:cNvSpPr>
            <a:spLocks noGrp="1"/>
          </p:cNvSpPr>
          <p:nvPr/>
        </p:nvSpPr>
        <p:spPr>
          <a:xfrm>
            <a:off x="9372600" y="2733675"/>
            <a:ext cx="1314450" cy="4191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050" b="0">
                <a:solidFill>
                  <a:srgbClr val="657487"/>
                </a:solidFill>
                <a:latin typeface="Aptos"/>
                <a:ea typeface="Aptos"/>
                <a:cs typeface="Aptos"/>
              </a:defRPr>
            </a:pPr>
            <a:r>
              <a:rPr sz="1000">
                <a:latin typeface="Aptos"/>
              </a:rPr>
              <a:t>planned next action</a:t>
            </a:r>
          </a:p>
        </p:txBody>
      </p:sp>
      <p:sp>
        <p:nvSpPr>
          <p:cNvPr id="27" name="Rounded Rectangle 26">
            <a:extLst>
              <a:ext uri="{FF2B5EF4-FFF2-40B4-BE49-F238E27FC236}">
                <a16:creationId xmlns:a16="http://schemas.microsoft.com/office/drawing/2014/main" id="{494076F4-2082-441A-9D83-8FF4A5586F21}"/>
              </a:ext>
            </a:extLst>
          </p:cNvPr>
          <p:cNvSpPr>
            <a:spLocks noGrp="1"/>
          </p:cNvSpPr>
          <p:nvPr/>
        </p:nvSpPr>
        <p:spPr>
          <a:xfrm>
            <a:off x="1295400" y="4095750"/>
            <a:ext cx="9429750" cy="895350"/>
          </a:xfrm>
          <a:prstGeom prst="roundRect">
            <a:avLst>
              <a:gd name="adj" fmla="val 8511"/>
            </a:avLst>
          </a:prstGeom>
          <a:solidFill>
            <a:srgbClr val="FFFFFF"/>
          </a:solidFill>
          <a:ln w="9525">
            <a:solidFill>
              <a:srgbClr val="D8DEE6"/>
            </a:solidFill>
            <a:prstDash val="solid"/>
          </a:ln>
        </p:spPr>
        <p:txBody>
          <a:bodyPr/>
          <a:lstStyle/>
          <a:p>
            <a:endParaRPr/>
          </a:p>
        </p:txBody>
      </p:sp>
      <p:sp>
        <p:nvSpPr>
          <p:cNvPr id="28" name="Rectangle 27">
            <a:extLst>
              <a:ext uri="{FF2B5EF4-FFF2-40B4-BE49-F238E27FC236}">
                <a16:creationId xmlns:a16="http://schemas.microsoft.com/office/drawing/2014/main" id="{906B0DFA-797F-467D-B89A-DB5D1C469E2E}"/>
              </a:ext>
            </a:extLst>
          </p:cNvPr>
          <p:cNvSpPr>
            <a:spLocks noGrp="1"/>
          </p:cNvSpPr>
          <p:nvPr/>
        </p:nvSpPr>
        <p:spPr>
          <a:xfrm>
            <a:off x="1600200" y="4324350"/>
            <a:ext cx="1905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B7A75"/>
                </a:solidFill>
                <a:latin typeface="Aptos"/>
                <a:ea typeface="Aptos"/>
                <a:cs typeface="Aptos"/>
              </a:defRPr>
            </a:pPr>
            <a:r>
              <a:rPr sz="1200" b="1">
                <a:solidFill>
                  <a:srgbClr val="0B7A75"/>
                </a:solidFill>
                <a:latin typeface="Aptos"/>
                <a:ea typeface="Aptos"/>
                <a:cs typeface="Aptos"/>
              </a:rPr>
              <a:t>Main contribution</a:t>
            </a:r>
          </a:p>
        </p:txBody>
      </p:sp>
      <p:sp>
        <p:nvSpPr>
          <p:cNvPr id="29" name="Rectangle 28">
            <a:extLst>
              <a:ext uri="{FF2B5EF4-FFF2-40B4-BE49-F238E27FC236}">
                <a16:creationId xmlns:a16="http://schemas.microsoft.com/office/drawing/2014/main" id="{0C0C25CD-2DE5-4328-8106-E626BB232B88}"/>
              </a:ext>
            </a:extLst>
          </p:cNvPr>
          <p:cNvSpPr>
            <a:spLocks noGrp="1"/>
          </p:cNvSpPr>
          <p:nvPr/>
        </p:nvSpPr>
        <p:spPr>
          <a:xfrm>
            <a:off x="1600200" y="4610100"/>
            <a:ext cx="8572500" cy="26670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l">
              <a:defRPr sz="1575" b="1">
                <a:solidFill>
                  <a:srgbClr val="17212B"/>
                </a:solidFill>
                <a:latin typeface="Aptos"/>
                <a:ea typeface="Aptos"/>
                <a:cs typeface="Aptos"/>
              </a:defRPr>
            </a:pPr>
            <a:r>
              <a:rPr sz="1000">
                <a:latin typeface="Aptos"/>
              </a:rPr>
              <a:t>A practical academic prototype that connects IoT sensing, signal processing, ML/rule analysis, maintenance history, KPI tracking, dashboard reporting and alerts into one predictive maintenance workflow.</a:t>
            </a:r>
          </a:p>
        </p:txBody>
      </p:sp>
      <p:sp>
        <p:nvSpPr>
          <p:cNvPr id="30" name="Rounded Rectangle 29">
            <a:extLst>
              <a:ext uri="{FF2B5EF4-FFF2-40B4-BE49-F238E27FC236}">
                <a16:creationId xmlns:a16="http://schemas.microsoft.com/office/drawing/2014/main" id="{30E9836E-3DB4-4F7D-A8CE-DDF10B25B970}"/>
              </a:ext>
            </a:extLst>
          </p:cNvPr>
          <p:cNvSpPr>
            <a:spLocks noGrp="1"/>
          </p:cNvSpPr>
          <p:nvPr/>
        </p:nvSpPr>
        <p:spPr>
          <a:xfrm>
            <a:off x="1790700" y="5467350"/>
            <a:ext cx="1714500" cy="323850"/>
          </a:xfrm>
          <a:prstGeom prst="roundRect">
            <a:avLst>
              <a:gd name="adj" fmla="val 23529"/>
            </a:avLst>
          </a:prstGeom>
          <a:solidFill>
            <a:srgbClr val="E4EFFA"/>
          </a:solidFill>
          <a:ln w="9525">
            <a:solidFill>
              <a:srgbClr val="2B5F9E"/>
            </a:solidFill>
            <a:prstDash val="solid"/>
          </a:ln>
        </p:spPr>
        <p:txBody>
          <a:bodyPr/>
          <a:lstStyle/>
          <a:p>
            <a:endParaRPr/>
          </a:p>
        </p:txBody>
      </p:sp>
      <p:sp>
        <p:nvSpPr>
          <p:cNvPr id="31" name="Rectangle 30">
            <a:extLst>
              <a:ext uri="{FF2B5EF4-FFF2-40B4-BE49-F238E27FC236}">
                <a16:creationId xmlns:a16="http://schemas.microsoft.com/office/drawing/2014/main" id="{02E16E7A-71E2-43D4-BC6E-A694082DA60A}"/>
              </a:ext>
            </a:extLst>
          </p:cNvPr>
          <p:cNvSpPr>
            <a:spLocks noGrp="1"/>
          </p:cNvSpPr>
          <p:nvPr/>
        </p:nvSpPr>
        <p:spPr>
          <a:xfrm>
            <a:off x="1885950" y="5543550"/>
            <a:ext cx="1524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2B5F9E"/>
                </a:solidFill>
                <a:latin typeface="Aptos"/>
                <a:ea typeface="Aptos"/>
                <a:cs typeface="Aptos"/>
              </a:defRPr>
            </a:pPr>
            <a:r>
              <a:rPr sz="900" b="1">
                <a:solidFill>
                  <a:srgbClr val="2B5F9E"/>
                </a:solidFill>
                <a:latin typeface="Aptos"/>
                <a:ea typeface="Aptos"/>
                <a:cs typeface="Aptos"/>
              </a:rPr>
              <a:t>real industrial problem</a:t>
            </a:r>
          </a:p>
        </p:txBody>
      </p:sp>
      <p:sp>
        <p:nvSpPr>
          <p:cNvPr id="32" name="Rounded Rectangle 31">
            <a:extLst>
              <a:ext uri="{FF2B5EF4-FFF2-40B4-BE49-F238E27FC236}">
                <a16:creationId xmlns:a16="http://schemas.microsoft.com/office/drawing/2014/main" id="{1B2D0EA9-C2F3-41B4-BEC6-986CAF90FBC3}"/>
              </a:ext>
            </a:extLst>
          </p:cNvPr>
          <p:cNvSpPr>
            <a:spLocks noGrp="1"/>
          </p:cNvSpPr>
          <p:nvPr/>
        </p:nvSpPr>
        <p:spPr>
          <a:xfrm>
            <a:off x="3810000" y="5467350"/>
            <a:ext cx="1428750" cy="323850"/>
          </a:xfrm>
          <a:prstGeom prst="roundRect">
            <a:avLst>
              <a:gd name="adj" fmla="val 23529"/>
            </a:avLst>
          </a:prstGeom>
          <a:solidFill>
            <a:srgbClr val="D8F0EC"/>
          </a:solidFill>
          <a:ln w="9525">
            <a:solidFill>
              <a:srgbClr val="0B7A75"/>
            </a:solidFill>
            <a:prstDash val="solid"/>
          </a:ln>
        </p:spPr>
        <p:txBody>
          <a:bodyPr/>
          <a:lstStyle/>
          <a:p>
            <a:endParaRPr/>
          </a:p>
        </p:txBody>
      </p:sp>
      <p:sp>
        <p:nvSpPr>
          <p:cNvPr id="33" name="Rectangle 32">
            <a:extLst>
              <a:ext uri="{FF2B5EF4-FFF2-40B4-BE49-F238E27FC236}">
                <a16:creationId xmlns:a16="http://schemas.microsoft.com/office/drawing/2014/main" id="{84BDD679-6078-47D9-B3A3-ED01A3684D76}"/>
              </a:ext>
            </a:extLst>
          </p:cNvPr>
          <p:cNvSpPr>
            <a:spLocks noGrp="1"/>
          </p:cNvSpPr>
          <p:nvPr/>
        </p:nvSpPr>
        <p:spPr>
          <a:xfrm>
            <a:off x="3905250" y="5543550"/>
            <a:ext cx="1238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0B7A75"/>
                </a:solidFill>
                <a:latin typeface="Aptos"/>
                <a:ea typeface="Aptos"/>
                <a:cs typeface="Aptos"/>
              </a:defRPr>
            </a:pPr>
            <a:r>
              <a:rPr sz="900" b="1">
                <a:solidFill>
                  <a:srgbClr val="0B7A75"/>
                </a:solidFill>
                <a:latin typeface="Aptos"/>
                <a:ea typeface="Aptos"/>
                <a:cs typeface="Aptos"/>
              </a:rPr>
              <a:t>early warning</a:t>
            </a:r>
          </a:p>
        </p:txBody>
      </p:sp>
      <p:sp>
        <p:nvSpPr>
          <p:cNvPr id="34" name="Rounded Rectangle 33">
            <a:extLst>
              <a:ext uri="{FF2B5EF4-FFF2-40B4-BE49-F238E27FC236}">
                <a16:creationId xmlns:a16="http://schemas.microsoft.com/office/drawing/2014/main" id="{77B552CD-B009-434E-90E7-39A64D818F51}"/>
              </a:ext>
            </a:extLst>
          </p:cNvPr>
          <p:cNvSpPr>
            <a:spLocks noGrp="1"/>
          </p:cNvSpPr>
          <p:nvPr/>
        </p:nvSpPr>
        <p:spPr>
          <a:xfrm>
            <a:off x="5543550" y="5467350"/>
            <a:ext cx="1809750" cy="323850"/>
          </a:xfrm>
          <a:prstGeom prst="roundRect">
            <a:avLst>
              <a:gd name="adj" fmla="val 23529"/>
            </a:avLst>
          </a:prstGeom>
          <a:solidFill>
            <a:srgbClr val="DFF2E6"/>
          </a:solidFill>
          <a:ln w="9525">
            <a:solidFill>
              <a:srgbClr val="2E7D4F"/>
            </a:solidFill>
            <a:prstDash val="solid"/>
          </a:ln>
        </p:spPr>
        <p:txBody>
          <a:bodyPr/>
          <a:lstStyle/>
          <a:p>
            <a:endParaRPr/>
          </a:p>
        </p:txBody>
      </p:sp>
      <p:sp>
        <p:nvSpPr>
          <p:cNvPr id="35" name="Rectangle 34">
            <a:extLst>
              <a:ext uri="{FF2B5EF4-FFF2-40B4-BE49-F238E27FC236}">
                <a16:creationId xmlns:a16="http://schemas.microsoft.com/office/drawing/2014/main" id="{CBC7AB6C-FCFE-46EB-9E2D-7432223449E7}"/>
              </a:ext>
            </a:extLst>
          </p:cNvPr>
          <p:cNvSpPr>
            <a:spLocks noGrp="1"/>
          </p:cNvSpPr>
          <p:nvPr/>
        </p:nvSpPr>
        <p:spPr>
          <a:xfrm>
            <a:off x="5638800" y="5543550"/>
            <a:ext cx="161925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ctr">
              <a:defRPr sz="900" b="1">
                <a:solidFill>
                  <a:srgbClr val="2E7D4F"/>
                </a:solidFill>
                <a:latin typeface="Aptos"/>
                <a:ea typeface="Aptos"/>
                <a:cs typeface="Aptos"/>
              </a:defRPr>
            </a:pPr>
            <a:r>
              <a:rPr sz="900">
                <a:latin typeface="Aptos"/>
              </a:rPr>
              <a:t>root-cause decision</a:t>
            </a:r>
          </a:p>
        </p:txBody>
      </p:sp>
      <p:sp>
        <p:nvSpPr>
          <p:cNvPr id="36" name="Rounded Rectangle 35">
            <a:extLst>
              <a:ext uri="{FF2B5EF4-FFF2-40B4-BE49-F238E27FC236}">
                <a16:creationId xmlns:a16="http://schemas.microsoft.com/office/drawing/2014/main" id="{3D3A0B23-0241-46D1-BBCF-264AA55D34EB}"/>
              </a:ext>
            </a:extLst>
          </p:cNvPr>
          <p:cNvSpPr>
            <a:spLocks noGrp="1"/>
          </p:cNvSpPr>
          <p:nvPr/>
        </p:nvSpPr>
        <p:spPr>
          <a:xfrm>
            <a:off x="7658100" y="5467350"/>
            <a:ext cx="1809750" cy="323850"/>
          </a:xfrm>
          <a:prstGeom prst="roundRect">
            <a:avLst>
              <a:gd name="adj" fmla="val 23529"/>
            </a:avLst>
          </a:prstGeom>
          <a:solidFill>
            <a:srgbClr val="FFF0D2"/>
          </a:solidFill>
          <a:ln w="9525">
            <a:solidFill>
              <a:srgbClr val="D98C00"/>
            </a:solidFill>
            <a:prstDash val="solid"/>
          </a:ln>
        </p:spPr>
        <p:txBody>
          <a:bodyPr/>
          <a:lstStyle/>
          <a:p>
            <a:endParaRPr/>
          </a:p>
        </p:txBody>
      </p:sp>
      <p:sp>
        <p:nvSpPr>
          <p:cNvPr id="37" name="Rectangle 36">
            <a:extLst>
              <a:ext uri="{FF2B5EF4-FFF2-40B4-BE49-F238E27FC236}">
                <a16:creationId xmlns:a16="http://schemas.microsoft.com/office/drawing/2014/main" id="{FC71E0C6-F8F5-4590-AFDE-FCB8E7B090A6}"/>
              </a:ext>
            </a:extLst>
          </p:cNvPr>
          <p:cNvSpPr>
            <a:spLocks noGrp="1"/>
          </p:cNvSpPr>
          <p:nvPr/>
        </p:nvSpPr>
        <p:spPr>
          <a:xfrm>
            <a:off x="7753350" y="5543550"/>
            <a:ext cx="1619250" cy="171450"/>
          </a:xfrm>
          <a:prstGeom prst="rect">
            <a:avLst/>
          </a:prstGeom>
          <a:solidFill>
            <a:srgbClr val="000000">
              <a:alpha val="0"/>
            </a:srgbClr>
          </a:solidFill>
          <a:ln w="0">
            <a:solidFill>
              <a:srgbClr val="000000">
                <a:alpha val="0"/>
              </a:srgbClr>
            </a:solidFill>
            <a:prstDash val="solid"/>
          </a:ln>
        </p:spPr>
        <p:txBody>
          <a:bodyPr wrap="square" lIns="0" tIns="0" rIns="0" bIns="0" anchor="t"/>
          <a:lstStyle/>
          <a:p>
            <a:pPr algn="ctr">
              <a:defRPr sz="900" b="1">
                <a:solidFill>
                  <a:srgbClr val="D98C00"/>
                </a:solidFill>
                <a:latin typeface="Aptos"/>
                <a:ea typeface="Aptos"/>
                <a:cs typeface="Aptos"/>
              </a:defRPr>
            </a:pPr>
            <a:r>
              <a:rPr sz="900">
                <a:latin typeface="Aptos"/>
              </a:rPr>
              <a:t>edge-cloud scalable base</a:t>
            </a:r>
          </a:p>
        </p:txBody>
      </p:sp>
    </p:spTree>
    <p:extLst>
      <p:ext uri="{BB962C8B-B14F-4D97-AF65-F5344CB8AC3E}">
        <p14:creationId xmlns:p14="http://schemas.microsoft.com/office/powerpoint/2010/main" val="16382323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1064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1157</Words>
  <Application>Microsoft Office PowerPoint</Application>
  <DocSecurity>0</DocSecurity>
  <PresentationFormat>Widescreen</PresentationFormat>
  <Paragraphs>202</Paragraphs>
  <Slides>14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LENOVO</cp:lastModifiedBy>
  <cp:revision>9</cp:revision>
  <dcterms:created xsi:type="dcterms:W3CDTF">2026-06-09T08:56:56Z</dcterms:created>
  <dcterms:modified xsi:type="dcterms:W3CDTF">2026-06-11T08:06:20Z</dcterms:modified>
</cp:coreProperties>
</file>